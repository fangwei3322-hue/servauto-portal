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4" r:id="rId5"/>
  </p:sldMasterIdLst>
  <p:notesMasterIdLst>
    <p:notesMasterId r:id="rId12"/>
  </p:notesMasterIdLst>
  <p:sldIdLst>
    <p:sldId id="285" r:id="rId6"/>
    <p:sldId id="286" r:id="rId7"/>
    <p:sldId id="287" r:id="rId8"/>
    <p:sldId id="288" r:id="rId9"/>
    <p:sldId id="289" r:id="rId10"/>
    <p:sldId id="29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/>
          <a:p/>
        </p:txBody>
      </p:sp>
      <p:sp>
        <p:nvSpPr>
          <p:cNvPr id="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servauto.com.my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 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2" name="Image 4" descr=" "/>
          <p:cNvSpPr/>
          <p:nvPr/>
        </p:nvSpPr>
        <p:spPr>
          <a:xfrm>
            <a:off x="1588" y="1066799"/>
            <a:ext cx="1625193" cy="1498600"/>
          </a:xfrm>
          <a:custGeom>
            <a:avLst/>
            <a:gdLst>
              <a:gd name="connsiteX0" fmla="*/ 876081 w 1625193"/>
              <a:gd name="connsiteY0" fmla="*/ 0 h 1498600"/>
              <a:gd name="connsiteX1" fmla="*/ 1625194 w 1625193"/>
              <a:gd name="connsiteY1" fmla="*/ 749300 h 1498600"/>
              <a:gd name="connsiteX2" fmla="*/ 1625194 w 1625193"/>
              <a:gd name="connsiteY2" fmla="*/ 749300 h 1498600"/>
              <a:gd name="connsiteX3" fmla="*/ 876081 w 1625193"/>
              <a:gd name="connsiteY3" fmla="*/ 1498600 h 1498600"/>
              <a:gd name="connsiteX4" fmla="*/ 0 w 1625193"/>
              <a:gd name="connsiteY4" fmla="*/ 1498600 h 1498600"/>
              <a:gd name="connsiteX5" fmla="*/ 0 w 1625193"/>
              <a:gd name="connsiteY5" fmla="*/ 0 h 1498600"/>
              <a:gd name="connsiteX6" fmla="*/ 876081 w 1625193"/>
              <a:gd name="connsiteY6" fmla="*/ 0 h 149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193" h="1498600">
                <a:moveTo>
                  <a:pt x="876081" y="0"/>
                </a:moveTo>
                <a:cubicBezTo>
                  <a:pt x="1289807" y="0"/>
                  <a:pt x="1625194" y="335473"/>
                  <a:pt x="1625194" y="749300"/>
                </a:cubicBezTo>
                <a:lnTo>
                  <a:pt x="1625194" y="749300"/>
                </a:lnTo>
                <a:cubicBezTo>
                  <a:pt x="1625194" y="1163127"/>
                  <a:pt x="1289807" y="1498600"/>
                  <a:pt x="876081" y="1498600"/>
                </a:cubicBezTo>
                <a:lnTo>
                  <a:pt x="0" y="1498600"/>
                </a:lnTo>
                <a:lnTo>
                  <a:pt x="0" y="0"/>
                </a:lnTo>
                <a:lnTo>
                  <a:pt x="876081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73" name="Image 1" descr=" "/>
          <p:cNvSpPr/>
          <p:nvPr/>
        </p:nvSpPr>
        <p:spPr>
          <a:xfrm>
            <a:off x="9321058" y="3111500"/>
            <a:ext cx="2260035" cy="3746500"/>
          </a:xfrm>
          <a:custGeom>
            <a:avLst/>
            <a:gdLst>
              <a:gd name="connsiteX0" fmla="*/ 0 w 2260035"/>
              <a:gd name="connsiteY0" fmla="*/ 1130300 h 3746500"/>
              <a:gd name="connsiteX1" fmla="*/ 1130018 w 2260035"/>
              <a:gd name="connsiteY1" fmla="*/ 0 h 3746500"/>
              <a:gd name="connsiteX2" fmla="*/ 1130018 w 2260035"/>
              <a:gd name="connsiteY2" fmla="*/ 0 h 3746500"/>
              <a:gd name="connsiteX3" fmla="*/ 2260035 w 2260035"/>
              <a:gd name="connsiteY3" fmla="*/ 1130300 h 3746500"/>
              <a:gd name="connsiteX4" fmla="*/ 2260035 w 2260035"/>
              <a:gd name="connsiteY4" fmla="*/ 3746500 h 3746500"/>
              <a:gd name="connsiteX5" fmla="*/ 0 w 2260035"/>
              <a:gd name="connsiteY5" fmla="*/ 3746500 h 3746500"/>
              <a:gd name="connsiteX6" fmla="*/ 0 w 2260035"/>
              <a:gd name="connsiteY6" fmla="*/ 1130300 h 374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60035" h="3746500">
                <a:moveTo>
                  <a:pt x="0" y="1130300"/>
                </a:moveTo>
                <a:cubicBezTo>
                  <a:pt x="0" y="506053"/>
                  <a:pt x="505927" y="0"/>
                  <a:pt x="1130018" y="0"/>
                </a:cubicBezTo>
                <a:lnTo>
                  <a:pt x="1130018" y="0"/>
                </a:lnTo>
                <a:cubicBezTo>
                  <a:pt x="1754105" y="0"/>
                  <a:pt x="2260035" y="506053"/>
                  <a:pt x="2260035" y="1130300"/>
                </a:cubicBezTo>
                <a:lnTo>
                  <a:pt x="2260035" y="3746500"/>
                </a:lnTo>
                <a:lnTo>
                  <a:pt x="0" y="3746500"/>
                </a:lnTo>
                <a:lnTo>
                  <a:pt x="0" y="1130300"/>
                </a:lnTo>
                <a:close/>
              </a:path>
            </a:pathLst>
          </a:custGeom>
          <a:solidFill>
            <a:schemeClr val="accent3"/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" name="Image 2" descr=" "/>
          <p:cNvSpPr/>
          <p:nvPr/>
        </p:nvSpPr>
        <p:spPr>
          <a:xfrm>
            <a:off x="10527256" y="0"/>
            <a:ext cx="1053836" cy="1866900"/>
          </a:xfrm>
          <a:custGeom>
            <a:avLst/>
            <a:gdLst>
              <a:gd name="connsiteX0" fmla="*/ 0 w 1053836"/>
              <a:gd name="connsiteY0" fmla="*/ 0 h 1866900"/>
              <a:gd name="connsiteX1" fmla="*/ 1053836 w 1053836"/>
              <a:gd name="connsiteY1" fmla="*/ 0 h 1866900"/>
              <a:gd name="connsiteX2" fmla="*/ 1053836 w 1053836"/>
              <a:gd name="connsiteY2" fmla="*/ 1339850 h 1866900"/>
              <a:gd name="connsiteX3" fmla="*/ 526918 w 1053836"/>
              <a:gd name="connsiteY3" fmla="*/ 1866900 h 1866900"/>
              <a:gd name="connsiteX4" fmla="*/ 526918 w 1053836"/>
              <a:gd name="connsiteY4" fmla="*/ 1866900 h 1866900"/>
              <a:gd name="connsiteX5" fmla="*/ 0 w 1053836"/>
              <a:gd name="connsiteY5" fmla="*/ 1339850 h 1866900"/>
              <a:gd name="connsiteX6" fmla="*/ 0 w 1053836"/>
              <a:gd name="connsiteY6" fmla="*/ 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3836" h="1866900">
                <a:moveTo>
                  <a:pt x="0" y="0"/>
                </a:moveTo>
                <a:lnTo>
                  <a:pt x="1053836" y="0"/>
                </a:lnTo>
                <a:lnTo>
                  <a:pt x="1053836" y="1339850"/>
                </a:lnTo>
                <a:cubicBezTo>
                  <a:pt x="1053836" y="1630934"/>
                  <a:pt x="817927" y="1866900"/>
                  <a:pt x="526918" y="1866900"/>
                </a:cubicBezTo>
                <a:lnTo>
                  <a:pt x="526918" y="1866900"/>
                </a:lnTo>
                <a:cubicBezTo>
                  <a:pt x="235909" y="1866900"/>
                  <a:pt x="0" y="1630934"/>
                  <a:pt x="0" y="13398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Image 3" descr=" "/>
          <p:cNvSpPr/>
          <p:nvPr/>
        </p:nvSpPr>
        <p:spPr>
          <a:xfrm>
            <a:off x="5270770" y="3759200"/>
            <a:ext cx="1485529" cy="3098800"/>
          </a:xfrm>
          <a:custGeom>
            <a:avLst/>
            <a:gdLst>
              <a:gd name="connsiteX0" fmla="*/ 0 w 1485529"/>
              <a:gd name="connsiteY0" fmla="*/ 742950 h 3098800"/>
              <a:gd name="connsiteX1" fmla="*/ 742765 w 1485529"/>
              <a:gd name="connsiteY1" fmla="*/ 0 h 3098800"/>
              <a:gd name="connsiteX2" fmla="*/ 742765 w 1485529"/>
              <a:gd name="connsiteY2" fmla="*/ 0 h 3098800"/>
              <a:gd name="connsiteX3" fmla="*/ 1485529 w 1485529"/>
              <a:gd name="connsiteY3" fmla="*/ 742950 h 3098800"/>
              <a:gd name="connsiteX4" fmla="*/ 1485529 w 1485529"/>
              <a:gd name="connsiteY4" fmla="*/ 3098800 h 3098800"/>
              <a:gd name="connsiteX5" fmla="*/ 0 w 1485529"/>
              <a:gd name="connsiteY5" fmla="*/ 3098800 h 3098800"/>
              <a:gd name="connsiteX6" fmla="*/ 0 w 1485529"/>
              <a:gd name="connsiteY6" fmla="*/ 742950 h 309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5529" h="3098800">
                <a:moveTo>
                  <a:pt x="0" y="742950"/>
                </a:moveTo>
                <a:cubicBezTo>
                  <a:pt x="0" y="332630"/>
                  <a:pt x="332546" y="0"/>
                  <a:pt x="742765" y="0"/>
                </a:cubicBezTo>
                <a:lnTo>
                  <a:pt x="742765" y="0"/>
                </a:lnTo>
                <a:cubicBezTo>
                  <a:pt x="1152983" y="0"/>
                  <a:pt x="1485529" y="332630"/>
                  <a:pt x="1485529" y="742950"/>
                </a:cubicBezTo>
                <a:lnTo>
                  <a:pt x="1485529" y="3098800"/>
                </a:lnTo>
                <a:lnTo>
                  <a:pt x="0" y="3098800"/>
                </a:lnTo>
                <a:lnTo>
                  <a:pt x="0" y="742950"/>
                </a:lnTo>
                <a:close/>
              </a:path>
            </a:pathLst>
          </a:custGeom>
          <a:solidFill>
            <a:schemeClr val="accent1">
              <a:alpha val="54000"/>
            </a:schemeClr>
          </a:solidFill>
          <a:ln w="126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标题 1"/>
          <p:cNvSpPr>
            <a:spLocks noGrp="1"/>
          </p:cNvSpPr>
          <p:nvPr>
            <p:ph type="ctrTitle"/>
          </p:nvPr>
        </p:nvSpPr>
        <p:spPr>
          <a:xfrm>
            <a:off x="785942" y="916125"/>
            <a:ext cx="5918099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0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785942" y="5645599"/>
            <a:ext cx="4317495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4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3" name="内容占位符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4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Image 0" descr=" "/>
          <p:cNvSpPr/>
          <p:nvPr/>
        </p:nvSpPr>
        <p:spPr>
          <a:xfrm>
            <a:off x="7238778" y="0"/>
            <a:ext cx="2615560" cy="4483100"/>
          </a:xfrm>
          <a:custGeom>
            <a:avLst/>
            <a:gdLst>
              <a:gd name="connsiteX0" fmla="*/ 0 w 2615560"/>
              <a:gd name="connsiteY0" fmla="*/ 0 h 4483100"/>
              <a:gd name="connsiteX1" fmla="*/ 2615561 w 2615560"/>
              <a:gd name="connsiteY1" fmla="*/ 0 h 4483100"/>
              <a:gd name="connsiteX2" fmla="*/ 2615561 w 2615560"/>
              <a:gd name="connsiteY2" fmla="*/ 3171825 h 4483100"/>
              <a:gd name="connsiteX3" fmla="*/ 1307781 w 2615560"/>
              <a:gd name="connsiteY3" fmla="*/ 4483100 h 4483100"/>
              <a:gd name="connsiteX4" fmla="*/ 0 w 2615560"/>
              <a:gd name="connsiteY4" fmla="*/ 3171825 h 4483100"/>
              <a:gd name="connsiteX5" fmla="*/ 0 w 2615560"/>
              <a:gd name="connsiteY5" fmla="*/ 0 h 448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5560" h="4483100">
                <a:moveTo>
                  <a:pt x="0" y="0"/>
                </a:moveTo>
                <a:lnTo>
                  <a:pt x="2615561" y="0"/>
                </a:lnTo>
                <a:lnTo>
                  <a:pt x="2615561" y="3171825"/>
                </a:lnTo>
                <a:cubicBezTo>
                  <a:pt x="2615561" y="3896017"/>
                  <a:pt x="2030043" y="4483100"/>
                  <a:pt x="1307781" y="4483100"/>
                </a:cubicBezTo>
                <a:cubicBezTo>
                  <a:pt x="585513" y="4483100"/>
                  <a:pt x="0" y="3896017"/>
                  <a:pt x="0" y="317182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6000"/>
            </a:schemeClr>
          </a:solidFill>
          <a:ln w="1261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97" name="Image 1" descr=" "/>
          <p:cNvSpPr/>
          <p:nvPr/>
        </p:nvSpPr>
        <p:spPr>
          <a:xfrm>
            <a:off x="1587" y="787323"/>
            <a:ext cx="1777556" cy="1028852"/>
          </a:xfrm>
          <a:custGeom>
            <a:avLst/>
            <a:gdLst>
              <a:gd name="connsiteX0" fmla="*/ 0 w 1777556"/>
              <a:gd name="connsiteY0" fmla="*/ 1028853 h 1028852"/>
              <a:gd name="connsiteX1" fmla="*/ 0 w 1777556"/>
              <a:gd name="connsiteY1" fmla="*/ 0 h 1028852"/>
              <a:gd name="connsiteX2" fmla="*/ 1256986 w 1777556"/>
              <a:gd name="connsiteY2" fmla="*/ 0 h 1028852"/>
              <a:gd name="connsiteX3" fmla="*/ 1777556 w 1777556"/>
              <a:gd name="connsiteY3" fmla="*/ 514426 h 1028852"/>
              <a:gd name="connsiteX4" fmla="*/ 1256986 w 1777556"/>
              <a:gd name="connsiteY4" fmla="*/ 1028853 h 1028852"/>
              <a:gd name="connsiteX5" fmla="*/ 0 w 1777556"/>
              <a:gd name="connsiteY5" fmla="*/ 1028853 h 102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7555" h="1028852">
                <a:moveTo>
                  <a:pt x="0" y="1028853"/>
                </a:moveTo>
                <a:lnTo>
                  <a:pt x="0" y="0"/>
                </a:lnTo>
                <a:lnTo>
                  <a:pt x="1256986" y="0"/>
                </a:lnTo>
                <a:cubicBezTo>
                  <a:pt x="1544493" y="0"/>
                  <a:pt x="1777556" y="230316"/>
                  <a:pt x="1777556" y="514426"/>
                </a:cubicBezTo>
                <a:cubicBezTo>
                  <a:pt x="1777556" y="798537"/>
                  <a:pt x="1544493" y="1028853"/>
                  <a:pt x="1256986" y="1028853"/>
                </a:cubicBezTo>
                <a:lnTo>
                  <a:pt x="0" y="1028853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98" name="Image 2" descr=" "/>
          <p:cNvSpPr/>
          <p:nvPr/>
        </p:nvSpPr>
        <p:spPr>
          <a:xfrm>
            <a:off x="9993971" y="2552700"/>
            <a:ext cx="2196568" cy="4305300"/>
          </a:xfrm>
          <a:custGeom>
            <a:avLst/>
            <a:gdLst>
              <a:gd name="connsiteX0" fmla="*/ 2196569 w 2196568"/>
              <a:gd name="connsiteY0" fmla="*/ 4305300 h 4305300"/>
              <a:gd name="connsiteX1" fmla="*/ 0 w 2196568"/>
              <a:gd name="connsiteY1" fmla="*/ 4305300 h 4305300"/>
              <a:gd name="connsiteX2" fmla="*/ 0 w 2196568"/>
              <a:gd name="connsiteY2" fmla="*/ 1101725 h 4305300"/>
              <a:gd name="connsiteX3" fmla="*/ 1098284 w 2196568"/>
              <a:gd name="connsiteY3" fmla="*/ 0 h 4305300"/>
              <a:gd name="connsiteX4" fmla="*/ 2196569 w 2196568"/>
              <a:gd name="connsiteY4" fmla="*/ 1101725 h 4305300"/>
              <a:gd name="connsiteX5" fmla="*/ 2196569 w 2196568"/>
              <a:gd name="connsiteY5" fmla="*/ 4305300 h 430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568" h="4305300">
                <a:moveTo>
                  <a:pt x="2196569" y="4305300"/>
                </a:moveTo>
                <a:lnTo>
                  <a:pt x="0" y="4305300"/>
                </a:lnTo>
                <a:lnTo>
                  <a:pt x="0" y="1101725"/>
                </a:lnTo>
                <a:cubicBezTo>
                  <a:pt x="0" y="493259"/>
                  <a:pt x="491719" y="0"/>
                  <a:pt x="1098284" y="0"/>
                </a:cubicBezTo>
                <a:cubicBezTo>
                  <a:pt x="1704854" y="0"/>
                  <a:pt x="2196569" y="493259"/>
                  <a:pt x="2196569" y="1101725"/>
                </a:cubicBezTo>
                <a:lnTo>
                  <a:pt x="2196569" y="4305300"/>
                </a:lnTo>
                <a:close/>
              </a:path>
            </a:pathLst>
          </a:custGeom>
          <a:solidFill>
            <a:schemeClr val="accent1"/>
          </a:solidFill>
          <a:ln w="1264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590600"/>
            <a:ext cx="1149279" cy="1081088"/>
          </a:xfrm>
        </p:spPr>
        <p:txBody>
          <a:bodyPr wrap="square" anchor="b">
            <a:normAutofit/>
          </a:bodyPr>
          <a:lstStyle>
            <a:lvl1pPr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0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节标题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 1"/>
          <p:cNvSpPr>
            <a:spLocks noGrp="1"/>
          </p:cNvSpPr>
          <p:nvPr>
            <p:ph type="title"/>
          </p:nvPr>
        </p:nvSpPr>
        <p:spPr>
          <a:xfrm>
            <a:off x="6236360" y="3516350"/>
            <a:ext cx="4544200" cy="2094400"/>
          </a:xfrm>
        </p:spPr>
        <p:txBody>
          <a:bodyPr wrap="square" anchor="t">
            <a:normAutofit/>
          </a:bodyPr>
          <a:lstStyle>
            <a:lvl1pPr algn="ctr"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8" name="Image 1" descr=" "/>
          <p:cNvSpPr/>
          <p:nvPr userDrawn="1"/>
        </p:nvSpPr>
        <p:spPr>
          <a:xfrm>
            <a:off x="2309495" y="0"/>
            <a:ext cx="2240280" cy="3617595"/>
          </a:xfrm>
          <a:custGeom>
            <a:avLst/>
            <a:gdLst>
              <a:gd name="connsiteX0" fmla="*/ 0 w 1612497"/>
              <a:gd name="connsiteY0" fmla="*/ 0 h 2603500"/>
              <a:gd name="connsiteX1" fmla="*/ 1612497 w 1612497"/>
              <a:gd name="connsiteY1" fmla="*/ 0 h 2603500"/>
              <a:gd name="connsiteX2" fmla="*/ 1612497 w 1612497"/>
              <a:gd name="connsiteY2" fmla="*/ 1797050 h 2603500"/>
              <a:gd name="connsiteX3" fmla="*/ 806249 w 1612497"/>
              <a:gd name="connsiteY3" fmla="*/ 2603500 h 2603500"/>
              <a:gd name="connsiteX4" fmla="*/ 806249 w 1612497"/>
              <a:gd name="connsiteY4" fmla="*/ 2603500 h 2603500"/>
              <a:gd name="connsiteX5" fmla="*/ 0 w 1612497"/>
              <a:gd name="connsiteY5" fmla="*/ 1797050 h 2603500"/>
              <a:gd name="connsiteX6" fmla="*/ 0 w 1612497"/>
              <a:gd name="connsiteY6" fmla="*/ 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2497" h="2603500">
                <a:moveTo>
                  <a:pt x="0" y="0"/>
                </a:moveTo>
                <a:lnTo>
                  <a:pt x="1612497" y="0"/>
                </a:lnTo>
                <a:lnTo>
                  <a:pt x="1612497" y="1797050"/>
                </a:lnTo>
                <a:cubicBezTo>
                  <a:pt x="1612497" y="2242439"/>
                  <a:pt x="1251528" y="2603500"/>
                  <a:pt x="806249" y="2603500"/>
                </a:cubicBezTo>
                <a:lnTo>
                  <a:pt x="806249" y="2603500"/>
                </a:lnTo>
                <a:cubicBezTo>
                  <a:pt x="360970" y="2603500"/>
                  <a:pt x="0" y="2242439"/>
                  <a:pt x="0" y="17970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67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Image 2" descr=" "/>
          <p:cNvSpPr/>
          <p:nvPr userDrawn="1"/>
        </p:nvSpPr>
        <p:spPr>
          <a:xfrm>
            <a:off x="1721651" y="4241800"/>
            <a:ext cx="2450487" cy="2616200"/>
          </a:xfrm>
          <a:custGeom>
            <a:avLst/>
            <a:gdLst>
              <a:gd name="connsiteX0" fmla="*/ 0 w 2450487"/>
              <a:gd name="connsiteY0" fmla="*/ 1225550 h 2616200"/>
              <a:gd name="connsiteX1" fmla="*/ 1225244 w 2450487"/>
              <a:gd name="connsiteY1" fmla="*/ 0 h 2616200"/>
              <a:gd name="connsiteX2" fmla="*/ 1225244 w 2450487"/>
              <a:gd name="connsiteY2" fmla="*/ 0 h 2616200"/>
              <a:gd name="connsiteX3" fmla="*/ 2450487 w 2450487"/>
              <a:gd name="connsiteY3" fmla="*/ 1225550 h 2616200"/>
              <a:gd name="connsiteX4" fmla="*/ 2450487 w 2450487"/>
              <a:gd name="connsiteY4" fmla="*/ 2616200 h 2616200"/>
              <a:gd name="connsiteX5" fmla="*/ 0 w 2450487"/>
              <a:gd name="connsiteY5" fmla="*/ 2616200 h 2616200"/>
              <a:gd name="connsiteX6" fmla="*/ 0 w 2450487"/>
              <a:gd name="connsiteY6" fmla="*/ 1225550 h 26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487" h="2616200">
                <a:moveTo>
                  <a:pt x="0" y="1225550"/>
                </a:moveTo>
                <a:cubicBezTo>
                  <a:pt x="0" y="548697"/>
                  <a:pt x="548560" y="0"/>
                  <a:pt x="1225244" y="0"/>
                </a:cubicBezTo>
                <a:lnTo>
                  <a:pt x="1225244" y="0"/>
                </a:lnTo>
                <a:cubicBezTo>
                  <a:pt x="1901921" y="0"/>
                  <a:pt x="2450487" y="548697"/>
                  <a:pt x="2450487" y="1225550"/>
                </a:cubicBezTo>
                <a:lnTo>
                  <a:pt x="2450487" y="2616200"/>
                </a:lnTo>
                <a:lnTo>
                  <a:pt x="0" y="2616200"/>
                </a:lnTo>
                <a:lnTo>
                  <a:pt x="0" y="1225550"/>
                </a:lnTo>
                <a:close/>
              </a:path>
            </a:pathLst>
          </a:custGeom>
          <a:solidFill>
            <a:schemeClr val="accent6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Shape 2"/>
          <p:cNvSpPr/>
          <p:nvPr userDrawn="1"/>
        </p:nvSpPr>
        <p:spPr>
          <a:xfrm>
            <a:off x="8038678" y="2292350"/>
            <a:ext cx="939565" cy="939800"/>
          </a:xfrm>
          <a:prstGeom prst="ellipse">
            <a:avLst/>
          </a:prstGeom>
          <a:solidFill>
            <a:schemeClr val="accent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1" name="节编号 3"/>
          <p:cNvSpPr>
            <a:spLocks noGrp="1"/>
          </p:cNvSpPr>
          <p:nvPr>
            <p:ph type="body" sz="quarter" idx="13" hasCustomPrompt="1"/>
          </p:nvPr>
        </p:nvSpPr>
        <p:spPr>
          <a:xfrm>
            <a:off x="6236360" y="2122450"/>
            <a:ext cx="4544200" cy="1224000"/>
          </a:xfrm>
        </p:spPr>
        <p:txBody>
          <a:bodyPr wrap="square" anchor="ctr">
            <a:normAutofit/>
          </a:bodyPr>
          <a:lstStyle>
            <a:lvl1pPr marL="0" indent="0" algn="ctr">
              <a:buNone/>
              <a:defRPr sz="3000" b="1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4" name="内容占位符 2"/>
          <p:cNvSpPr>
            <a:spLocks noGrp="1"/>
          </p:cNvSpPr>
          <p:nvPr>
            <p:ph sz="half" idx="1"/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5" name="内容占位符 3"/>
          <p:cNvSpPr>
            <a:spLocks noGrp="1"/>
          </p:cNvSpPr>
          <p:nvPr>
            <p:ph sz="half" idx="2"/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6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1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2" name="内容占位符 3"/>
          <p:cNvSpPr>
            <a:spLocks noGrp="1"/>
          </p:cNvSpPr>
          <p:nvPr>
            <p:ph sz="half" idx="2"/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4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5" name="日期占位符 6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7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仅内容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内容占位符 1"/>
          <p:cNvSpPr>
            <a:spLocks noGrp="1"/>
          </p:cNvSpPr>
          <p:nvPr>
            <p:ph idx="1"/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9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副标题"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4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13"/>
          <p:cNvSpPr/>
          <p:nvPr userDrawn="1"/>
        </p:nvSpPr>
        <p:spPr>
          <a:xfrm>
            <a:off x="1200" y="0"/>
            <a:ext cx="12189600" cy="6858000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标题 1"/>
          <p:cNvSpPr>
            <a:spLocks noGrp="1"/>
          </p:cNvSpPr>
          <p:nvPr>
            <p:ph type="ctrTitle"/>
          </p:nvPr>
        </p:nvSpPr>
        <p:spPr>
          <a:xfrm>
            <a:off x="836976" y="1867085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6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3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6976" y="3901761"/>
            <a:ext cx="10515000" cy="50400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  <p:sp>
        <p:nvSpPr>
          <p:cNvPr id="94" name="Image 1" descr=" "/>
          <p:cNvSpPr/>
          <p:nvPr/>
        </p:nvSpPr>
        <p:spPr>
          <a:xfrm>
            <a:off x="0" y="2222500"/>
            <a:ext cx="12188952" cy="2417938"/>
          </a:xfrm>
          <a:custGeom>
            <a:avLst/>
            <a:gdLst>
              <a:gd name="connsiteX0" fmla="*/ 0 w 12188952"/>
              <a:gd name="connsiteY0" fmla="*/ 371489 h 2417938"/>
              <a:gd name="connsiteX1" fmla="*/ 0 w 12188952"/>
              <a:gd name="connsiteY1" fmla="*/ 45621 h 2417938"/>
              <a:gd name="connsiteX2" fmla="*/ 1469023 w 12188952"/>
              <a:gd name="connsiteY2" fmla="*/ 45621 h 2417938"/>
              <a:gd name="connsiteX3" fmla="*/ 1469023 w 12188952"/>
              <a:gd name="connsiteY3" fmla="*/ 371489 h 2417938"/>
              <a:gd name="connsiteX4" fmla="*/ 705461 w 12188952"/>
              <a:gd name="connsiteY4" fmla="*/ 371489 h 2417938"/>
              <a:gd name="connsiteX5" fmla="*/ 705461 w 12188952"/>
              <a:gd name="connsiteY5" fmla="*/ 2372317 h 2417938"/>
              <a:gd name="connsiteX6" fmla="*/ 323680 w 12188952"/>
              <a:gd name="connsiteY6" fmla="*/ 2372317 h 2417938"/>
              <a:gd name="connsiteX7" fmla="*/ 323680 w 12188952"/>
              <a:gd name="connsiteY7" fmla="*/ 371489 h 2417938"/>
              <a:gd name="connsiteX8" fmla="*/ 0 w 12188952"/>
              <a:gd name="connsiteY8" fmla="*/ 371489 h 2417938"/>
              <a:gd name="connsiteX9" fmla="*/ 12188952 w 12188952"/>
              <a:gd name="connsiteY9" fmla="*/ 376820 h 2417938"/>
              <a:gd name="connsiteX10" fmla="*/ 11886628 w 12188952"/>
              <a:gd name="connsiteY10" fmla="*/ 329126 h 2417938"/>
              <a:gd name="connsiteX11" fmla="*/ 11550530 w 12188952"/>
              <a:gd name="connsiteY11" fmla="*/ 391041 h 2417938"/>
              <a:gd name="connsiteX12" fmla="*/ 11406954 w 12188952"/>
              <a:gd name="connsiteY12" fmla="*/ 632183 h 2417938"/>
              <a:gd name="connsiteX13" fmla="*/ 11570109 w 12188952"/>
              <a:gd name="connsiteY13" fmla="*/ 870067 h 2417938"/>
              <a:gd name="connsiteX14" fmla="*/ 11968205 w 12188952"/>
              <a:gd name="connsiteY14" fmla="*/ 1013448 h 2417938"/>
              <a:gd name="connsiteX15" fmla="*/ 12188952 w 12188952"/>
              <a:gd name="connsiteY15" fmla="*/ 1084597 h 2417938"/>
              <a:gd name="connsiteX16" fmla="*/ 12188952 w 12188952"/>
              <a:gd name="connsiteY16" fmla="*/ 1436176 h 2417938"/>
              <a:gd name="connsiteX17" fmla="*/ 11827892 w 12188952"/>
              <a:gd name="connsiteY17" fmla="*/ 1319764 h 2417938"/>
              <a:gd name="connsiteX18" fmla="*/ 11292746 w 12188952"/>
              <a:gd name="connsiteY18" fmla="*/ 1124243 h 2417938"/>
              <a:gd name="connsiteX19" fmla="*/ 11025174 w 12188952"/>
              <a:gd name="connsiteY19" fmla="*/ 654994 h 2417938"/>
              <a:gd name="connsiteX20" fmla="*/ 11286220 w 12188952"/>
              <a:gd name="connsiteY20" fmla="*/ 169451 h 2417938"/>
              <a:gd name="connsiteX21" fmla="*/ 11906207 w 12188952"/>
              <a:gd name="connsiteY21" fmla="*/ 0 h 2417938"/>
              <a:gd name="connsiteX22" fmla="*/ 12188952 w 12188952"/>
              <a:gd name="connsiteY22" fmla="*/ 23422 h 2417938"/>
              <a:gd name="connsiteX23" fmla="*/ 12188952 w 12188952"/>
              <a:gd name="connsiteY23" fmla="*/ 376820 h 2417938"/>
              <a:gd name="connsiteX24" fmla="*/ 12188952 w 12188952"/>
              <a:gd name="connsiteY24" fmla="*/ 2057544 h 2417938"/>
              <a:gd name="connsiteX25" fmla="*/ 12188952 w 12188952"/>
              <a:gd name="connsiteY25" fmla="*/ 2402228 h 2417938"/>
              <a:gd name="connsiteX26" fmla="*/ 11945363 w 12188952"/>
              <a:gd name="connsiteY26" fmla="*/ 2417938 h 2417938"/>
              <a:gd name="connsiteX27" fmla="*/ 11273168 w 12188952"/>
              <a:gd name="connsiteY27" fmla="*/ 2251746 h 2417938"/>
              <a:gd name="connsiteX28" fmla="*/ 10953386 w 12188952"/>
              <a:gd name="connsiteY28" fmla="*/ 1603269 h 2417938"/>
              <a:gd name="connsiteX29" fmla="*/ 11331904 w 12188952"/>
              <a:gd name="connsiteY29" fmla="*/ 1603269 h 2417938"/>
              <a:gd name="connsiteX30" fmla="*/ 11521163 w 12188952"/>
              <a:gd name="connsiteY30" fmla="*/ 1981275 h 2417938"/>
              <a:gd name="connsiteX31" fmla="*/ 11945363 w 12188952"/>
              <a:gd name="connsiteY31" fmla="*/ 2082294 h 2417938"/>
              <a:gd name="connsiteX32" fmla="*/ 12188952 w 12188952"/>
              <a:gd name="connsiteY32" fmla="*/ 2057544 h 2417938"/>
              <a:gd name="connsiteX33" fmla="*/ 2128928 w 12188952"/>
              <a:gd name="connsiteY33" fmla="*/ 45621 h 2417938"/>
              <a:gd name="connsiteX34" fmla="*/ 1747147 w 12188952"/>
              <a:gd name="connsiteY34" fmla="*/ 45621 h 2417938"/>
              <a:gd name="connsiteX35" fmla="*/ 1747147 w 12188952"/>
              <a:gd name="connsiteY35" fmla="*/ 2372317 h 2417938"/>
              <a:gd name="connsiteX36" fmla="*/ 2128928 w 12188952"/>
              <a:gd name="connsiteY36" fmla="*/ 2372317 h 2417938"/>
              <a:gd name="connsiteX37" fmla="*/ 2128928 w 12188952"/>
              <a:gd name="connsiteY37" fmla="*/ 1342575 h 2417938"/>
              <a:gd name="connsiteX38" fmla="*/ 3310164 w 12188952"/>
              <a:gd name="connsiteY38" fmla="*/ 1342575 h 2417938"/>
              <a:gd name="connsiteX39" fmla="*/ 3310164 w 12188952"/>
              <a:gd name="connsiteY39" fmla="*/ 2372317 h 2417938"/>
              <a:gd name="connsiteX40" fmla="*/ 3691945 w 12188952"/>
              <a:gd name="connsiteY40" fmla="*/ 2372317 h 2417938"/>
              <a:gd name="connsiteX41" fmla="*/ 3691945 w 12188952"/>
              <a:gd name="connsiteY41" fmla="*/ 45621 h 2417938"/>
              <a:gd name="connsiteX42" fmla="*/ 3310164 w 12188952"/>
              <a:gd name="connsiteY42" fmla="*/ 45621 h 2417938"/>
              <a:gd name="connsiteX43" fmla="*/ 3310164 w 12188952"/>
              <a:gd name="connsiteY43" fmla="*/ 1016707 h 2417938"/>
              <a:gd name="connsiteX44" fmla="*/ 2128928 w 12188952"/>
              <a:gd name="connsiteY44" fmla="*/ 1016707 h 2417938"/>
              <a:gd name="connsiteX45" fmla="*/ 2128928 w 12188952"/>
              <a:gd name="connsiteY45" fmla="*/ 45621 h 2417938"/>
              <a:gd name="connsiteX46" fmla="*/ 4812262 w 12188952"/>
              <a:gd name="connsiteY46" fmla="*/ 45621 h 2417938"/>
              <a:gd name="connsiteX47" fmla="*/ 5246252 w 12188952"/>
              <a:gd name="connsiteY47" fmla="*/ 45621 h 2417938"/>
              <a:gd name="connsiteX48" fmla="*/ 6137074 w 12188952"/>
              <a:gd name="connsiteY48" fmla="*/ 2372317 h 2417938"/>
              <a:gd name="connsiteX49" fmla="*/ 5729189 w 12188952"/>
              <a:gd name="connsiteY49" fmla="*/ 2372317 h 2417938"/>
              <a:gd name="connsiteX50" fmla="*/ 5517088 w 12188952"/>
              <a:gd name="connsiteY50" fmla="*/ 1789014 h 2417938"/>
              <a:gd name="connsiteX51" fmla="*/ 4541426 w 12188952"/>
              <a:gd name="connsiteY51" fmla="*/ 1789014 h 2417938"/>
              <a:gd name="connsiteX52" fmla="*/ 4329325 w 12188952"/>
              <a:gd name="connsiteY52" fmla="*/ 2372317 h 2417938"/>
              <a:gd name="connsiteX53" fmla="*/ 3921440 w 12188952"/>
              <a:gd name="connsiteY53" fmla="*/ 2372317 h 2417938"/>
              <a:gd name="connsiteX54" fmla="*/ 4812262 w 12188952"/>
              <a:gd name="connsiteY54" fmla="*/ 45621 h 2417938"/>
              <a:gd name="connsiteX55" fmla="*/ 4655634 w 12188952"/>
              <a:gd name="connsiteY55" fmla="*/ 1476181 h 2417938"/>
              <a:gd name="connsiteX56" fmla="*/ 5402880 w 12188952"/>
              <a:gd name="connsiteY56" fmla="*/ 1476181 h 2417938"/>
              <a:gd name="connsiteX57" fmla="*/ 5037415 w 12188952"/>
              <a:gd name="connsiteY57" fmla="*/ 456215 h 2417938"/>
              <a:gd name="connsiteX58" fmla="*/ 5024362 w 12188952"/>
              <a:gd name="connsiteY58" fmla="*/ 456215 h 2417938"/>
              <a:gd name="connsiteX59" fmla="*/ 4655634 w 12188952"/>
              <a:gd name="connsiteY59" fmla="*/ 1476181 h 2417938"/>
              <a:gd name="connsiteX60" fmla="*/ 6746318 w 12188952"/>
              <a:gd name="connsiteY60" fmla="*/ 45621 h 2417938"/>
              <a:gd name="connsiteX61" fmla="*/ 6364538 w 12188952"/>
              <a:gd name="connsiteY61" fmla="*/ 45621 h 2417938"/>
              <a:gd name="connsiteX62" fmla="*/ 6364538 w 12188952"/>
              <a:gd name="connsiteY62" fmla="*/ 2372317 h 2417938"/>
              <a:gd name="connsiteX63" fmla="*/ 6746318 w 12188952"/>
              <a:gd name="connsiteY63" fmla="*/ 2372317 h 2417938"/>
              <a:gd name="connsiteX64" fmla="*/ 6746318 w 12188952"/>
              <a:gd name="connsiteY64" fmla="*/ 671287 h 2417938"/>
              <a:gd name="connsiteX65" fmla="*/ 6759371 w 12188952"/>
              <a:gd name="connsiteY65" fmla="*/ 671287 h 2417938"/>
              <a:gd name="connsiteX66" fmla="*/ 7924292 w 12188952"/>
              <a:gd name="connsiteY66" fmla="*/ 2372317 h 2417938"/>
              <a:gd name="connsiteX67" fmla="*/ 8296283 w 12188952"/>
              <a:gd name="connsiteY67" fmla="*/ 2372317 h 2417938"/>
              <a:gd name="connsiteX68" fmla="*/ 8296283 w 12188952"/>
              <a:gd name="connsiteY68" fmla="*/ 45621 h 2417938"/>
              <a:gd name="connsiteX69" fmla="*/ 7911240 w 12188952"/>
              <a:gd name="connsiteY69" fmla="*/ 45621 h 2417938"/>
              <a:gd name="connsiteX70" fmla="*/ 7911240 w 12188952"/>
              <a:gd name="connsiteY70" fmla="*/ 1723840 h 2417938"/>
              <a:gd name="connsiteX71" fmla="*/ 7898187 w 12188952"/>
              <a:gd name="connsiteY71" fmla="*/ 1723840 h 2417938"/>
              <a:gd name="connsiteX72" fmla="*/ 6746318 w 12188952"/>
              <a:gd name="connsiteY72" fmla="*/ 45621 h 2417938"/>
              <a:gd name="connsiteX73" fmla="*/ 10219624 w 12188952"/>
              <a:gd name="connsiteY73" fmla="*/ 45621 h 2417938"/>
              <a:gd name="connsiteX74" fmla="*/ 10702560 w 12188952"/>
              <a:gd name="connsiteY74" fmla="*/ 45621 h 2417938"/>
              <a:gd name="connsiteX75" fmla="*/ 9677952 w 12188952"/>
              <a:gd name="connsiteY75" fmla="*/ 1042777 h 2417938"/>
              <a:gd name="connsiteX76" fmla="*/ 10855925 w 12188952"/>
              <a:gd name="connsiteY76" fmla="*/ 2372317 h 2417938"/>
              <a:gd name="connsiteX77" fmla="*/ 10340358 w 12188952"/>
              <a:gd name="connsiteY77" fmla="*/ 2372317 h 2417938"/>
              <a:gd name="connsiteX78" fmla="*/ 9420168 w 12188952"/>
              <a:gd name="connsiteY78" fmla="*/ 1293695 h 2417938"/>
              <a:gd name="connsiteX79" fmla="*/ 9136280 w 12188952"/>
              <a:gd name="connsiteY79" fmla="*/ 1570682 h 2417938"/>
              <a:gd name="connsiteX80" fmla="*/ 9136280 w 12188952"/>
              <a:gd name="connsiteY80" fmla="*/ 2372317 h 2417938"/>
              <a:gd name="connsiteX81" fmla="*/ 8754499 w 12188952"/>
              <a:gd name="connsiteY81" fmla="*/ 2372317 h 2417938"/>
              <a:gd name="connsiteX82" fmla="*/ 8754499 w 12188952"/>
              <a:gd name="connsiteY82" fmla="*/ 45621 h 2417938"/>
              <a:gd name="connsiteX83" fmla="*/ 9136280 w 12188952"/>
              <a:gd name="connsiteY83" fmla="*/ 45621 h 2417938"/>
              <a:gd name="connsiteX84" fmla="*/ 9136280 w 12188952"/>
              <a:gd name="connsiteY84" fmla="*/ 1143796 h 2417938"/>
              <a:gd name="connsiteX85" fmla="*/ 10219624 w 12188952"/>
              <a:gd name="connsiteY85" fmla="*/ 45621 h 241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2188952" h="2417938">
                <a:moveTo>
                  <a:pt x="0" y="371489"/>
                </a:moveTo>
                <a:lnTo>
                  <a:pt x="0" y="45621"/>
                </a:lnTo>
                <a:lnTo>
                  <a:pt x="1469023" y="45621"/>
                </a:lnTo>
                <a:lnTo>
                  <a:pt x="1469023" y="371489"/>
                </a:lnTo>
                <a:lnTo>
                  <a:pt x="705461" y="371489"/>
                </a:lnTo>
                <a:lnTo>
                  <a:pt x="705461" y="2372317"/>
                </a:lnTo>
                <a:lnTo>
                  <a:pt x="323680" y="2372317"/>
                </a:lnTo>
                <a:lnTo>
                  <a:pt x="323680" y="371489"/>
                </a:lnTo>
                <a:lnTo>
                  <a:pt x="0" y="371489"/>
                </a:lnTo>
                <a:close/>
                <a:moveTo>
                  <a:pt x="12188952" y="376820"/>
                </a:moveTo>
                <a:cubicBezTo>
                  <a:pt x="12109939" y="344221"/>
                  <a:pt x="12008352" y="329126"/>
                  <a:pt x="11886628" y="329126"/>
                </a:cubicBezTo>
                <a:cubicBezTo>
                  <a:pt x="11739789" y="329126"/>
                  <a:pt x="11628844" y="348678"/>
                  <a:pt x="11550530" y="391041"/>
                </a:cubicBezTo>
                <a:cubicBezTo>
                  <a:pt x="11452638" y="439921"/>
                  <a:pt x="11406954" y="521388"/>
                  <a:pt x="11406954" y="632183"/>
                </a:cubicBezTo>
                <a:cubicBezTo>
                  <a:pt x="11406954" y="729944"/>
                  <a:pt x="11459164" y="811410"/>
                  <a:pt x="11570109" y="870067"/>
                </a:cubicBezTo>
                <a:cubicBezTo>
                  <a:pt x="11619055" y="896136"/>
                  <a:pt x="11752841" y="945016"/>
                  <a:pt x="11968205" y="1013448"/>
                </a:cubicBezTo>
                <a:cubicBezTo>
                  <a:pt x="12049249" y="1038483"/>
                  <a:pt x="12122827" y="1062236"/>
                  <a:pt x="12188952" y="1084597"/>
                </a:cubicBezTo>
                <a:lnTo>
                  <a:pt x="12188952" y="1436176"/>
                </a:lnTo>
                <a:cubicBezTo>
                  <a:pt x="12111247" y="1408382"/>
                  <a:pt x="11991161" y="1369304"/>
                  <a:pt x="11827892" y="1319764"/>
                </a:cubicBezTo>
                <a:cubicBezTo>
                  <a:pt x="11540741" y="1228521"/>
                  <a:pt x="11361272" y="1163348"/>
                  <a:pt x="11292746" y="1124243"/>
                </a:cubicBezTo>
                <a:cubicBezTo>
                  <a:pt x="11113277" y="1016707"/>
                  <a:pt x="11025174" y="860291"/>
                  <a:pt x="11025174" y="654994"/>
                </a:cubicBezTo>
                <a:cubicBezTo>
                  <a:pt x="11025174" y="449697"/>
                  <a:pt x="11110014" y="286764"/>
                  <a:pt x="11286220" y="169451"/>
                </a:cubicBezTo>
                <a:cubicBezTo>
                  <a:pt x="11449362" y="55398"/>
                  <a:pt x="11654949" y="0"/>
                  <a:pt x="11906207" y="0"/>
                </a:cubicBezTo>
                <a:cubicBezTo>
                  <a:pt x="12008720" y="0"/>
                  <a:pt x="12103032" y="7751"/>
                  <a:pt x="12188952" y="23422"/>
                </a:cubicBezTo>
                <a:lnTo>
                  <a:pt x="12188952" y="376820"/>
                </a:lnTo>
                <a:close/>
                <a:moveTo>
                  <a:pt x="12188952" y="2057544"/>
                </a:moveTo>
                <a:lnTo>
                  <a:pt x="12188952" y="2402228"/>
                </a:lnTo>
                <a:cubicBezTo>
                  <a:pt x="12113380" y="2412651"/>
                  <a:pt x="12032159" y="2417938"/>
                  <a:pt x="11945363" y="2417938"/>
                </a:cubicBezTo>
                <a:cubicBezTo>
                  <a:pt x="11658212" y="2417938"/>
                  <a:pt x="11433059" y="2362541"/>
                  <a:pt x="11273168" y="2251746"/>
                </a:cubicBezTo>
                <a:cubicBezTo>
                  <a:pt x="11077383" y="2114881"/>
                  <a:pt x="10969689" y="1899808"/>
                  <a:pt x="10953386" y="1603269"/>
                </a:cubicBezTo>
                <a:lnTo>
                  <a:pt x="11331904" y="1603269"/>
                </a:lnTo>
                <a:cubicBezTo>
                  <a:pt x="11358008" y="1779238"/>
                  <a:pt x="11420007" y="1906326"/>
                  <a:pt x="11521163" y="1981275"/>
                </a:cubicBezTo>
                <a:cubicBezTo>
                  <a:pt x="11612529" y="2046449"/>
                  <a:pt x="11752841" y="2082294"/>
                  <a:pt x="11945363" y="2082294"/>
                </a:cubicBezTo>
                <a:cubicBezTo>
                  <a:pt x="12036260" y="2082294"/>
                  <a:pt x="12117787" y="2073875"/>
                  <a:pt x="12188952" y="2057544"/>
                </a:cubicBezTo>
                <a:close/>
                <a:moveTo>
                  <a:pt x="2128928" y="45621"/>
                </a:moveTo>
                <a:lnTo>
                  <a:pt x="1747147" y="45621"/>
                </a:lnTo>
                <a:lnTo>
                  <a:pt x="1747147" y="2372317"/>
                </a:lnTo>
                <a:lnTo>
                  <a:pt x="2128928" y="2372317"/>
                </a:lnTo>
                <a:lnTo>
                  <a:pt x="2128928" y="1342575"/>
                </a:lnTo>
                <a:lnTo>
                  <a:pt x="3310164" y="1342575"/>
                </a:lnTo>
                <a:lnTo>
                  <a:pt x="3310164" y="2372317"/>
                </a:lnTo>
                <a:lnTo>
                  <a:pt x="3691945" y="2372317"/>
                </a:lnTo>
                <a:lnTo>
                  <a:pt x="3691945" y="45621"/>
                </a:lnTo>
                <a:lnTo>
                  <a:pt x="3310164" y="45621"/>
                </a:lnTo>
                <a:lnTo>
                  <a:pt x="3310164" y="1016707"/>
                </a:lnTo>
                <a:lnTo>
                  <a:pt x="2128928" y="1016707"/>
                </a:lnTo>
                <a:lnTo>
                  <a:pt x="2128928" y="45621"/>
                </a:lnTo>
                <a:close/>
                <a:moveTo>
                  <a:pt x="4812262" y="45621"/>
                </a:moveTo>
                <a:lnTo>
                  <a:pt x="5246252" y="45621"/>
                </a:lnTo>
                <a:lnTo>
                  <a:pt x="6137074" y="2372317"/>
                </a:lnTo>
                <a:lnTo>
                  <a:pt x="5729189" y="2372317"/>
                </a:lnTo>
                <a:lnTo>
                  <a:pt x="5517088" y="1789014"/>
                </a:lnTo>
                <a:lnTo>
                  <a:pt x="4541426" y="1789014"/>
                </a:lnTo>
                <a:lnTo>
                  <a:pt x="4329325" y="2372317"/>
                </a:lnTo>
                <a:lnTo>
                  <a:pt x="3921440" y="2372317"/>
                </a:lnTo>
                <a:lnTo>
                  <a:pt x="4812262" y="45621"/>
                </a:lnTo>
                <a:close/>
                <a:moveTo>
                  <a:pt x="4655634" y="1476181"/>
                </a:moveTo>
                <a:lnTo>
                  <a:pt x="5402880" y="1476181"/>
                </a:lnTo>
                <a:lnTo>
                  <a:pt x="5037415" y="456215"/>
                </a:lnTo>
                <a:lnTo>
                  <a:pt x="5024362" y="456215"/>
                </a:lnTo>
                <a:lnTo>
                  <a:pt x="4655634" y="1476181"/>
                </a:lnTo>
                <a:close/>
                <a:moveTo>
                  <a:pt x="6746318" y="45621"/>
                </a:moveTo>
                <a:lnTo>
                  <a:pt x="6364538" y="45621"/>
                </a:lnTo>
                <a:lnTo>
                  <a:pt x="6364538" y="2372317"/>
                </a:lnTo>
                <a:lnTo>
                  <a:pt x="6746318" y="2372317"/>
                </a:lnTo>
                <a:lnTo>
                  <a:pt x="6746318" y="671287"/>
                </a:lnTo>
                <a:lnTo>
                  <a:pt x="6759371" y="671287"/>
                </a:lnTo>
                <a:lnTo>
                  <a:pt x="7924292" y="2372317"/>
                </a:lnTo>
                <a:lnTo>
                  <a:pt x="8296283" y="2372317"/>
                </a:lnTo>
                <a:lnTo>
                  <a:pt x="8296283" y="45621"/>
                </a:lnTo>
                <a:lnTo>
                  <a:pt x="7911240" y="45621"/>
                </a:lnTo>
                <a:lnTo>
                  <a:pt x="7911240" y="1723840"/>
                </a:lnTo>
                <a:lnTo>
                  <a:pt x="7898187" y="1723840"/>
                </a:lnTo>
                <a:lnTo>
                  <a:pt x="6746318" y="45621"/>
                </a:lnTo>
                <a:close/>
                <a:moveTo>
                  <a:pt x="10219624" y="45621"/>
                </a:moveTo>
                <a:lnTo>
                  <a:pt x="10702560" y="45621"/>
                </a:lnTo>
                <a:lnTo>
                  <a:pt x="9677952" y="1042777"/>
                </a:lnTo>
                <a:lnTo>
                  <a:pt x="10855925" y="2372317"/>
                </a:lnTo>
                <a:lnTo>
                  <a:pt x="10340358" y="2372317"/>
                </a:lnTo>
                <a:lnTo>
                  <a:pt x="9420168" y="1293695"/>
                </a:lnTo>
                <a:lnTo>
                  <a:pt x="9136280" y="1570682"/>
                </a:lnTo>
                <a:lnTo>
                  <a:pt x="9136280" y="2372317"/>
                </a:lnTo>
                <a:lnTo>
                  <a:pt x="8754499" y="2372317"/>
                </a:lnTo>
                <a:lnTo>
                  <a:pt x="8754499" y="45621"/>
                </a:lnTo>
                <a:lnTo>
                  <a:pt x="9136280" y="45621"/>
                </a:lnTo>
                <a:lnTo>
                  <a:pt x="9136280" y="1143796"/>
                </a:lnTo>
                <a:lnTo>
                  <a:pt x="10219624" y="45621"/>
                </a:lnTo>
                <a:close/>
              </a:path>
            </a:pathLst>
          </a:custGeom>
          <a:solidFill>
            <a:schemeClr val="accent4">
              <a:alpha val="12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1"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2"/>
          <p:cNvPicPr>
            <a:picLocks noChangeAspect="1"/>
          </p:cNvPicPr>
          <p:nvPr/>
        </p:nvPicPr>
        <p:blipFill>
          <a:blip r:embed="rId2"/>
          <a:srcRect t="5741"/>
          <a:stretch>
            <a:fillRect/>
          </a:stretch>
        </p:blipFill>
        <p:spPr>
          <a:xfrm>
            <a:off x="-6639" y="0"/>
            <a:ext cx="12205279" cy="6505811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155" name="AutoShape 3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AutoShape 4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pic>
        <p:nvPicPr>
          <p:cNvPr id="157" name="Picture 5"/>
          <p:cNvPicPr>
            <a:picLocks noChangeAspect="1"/>
          </p:cNvPicPr>
          <p:nvPr/>
        </p:nvPicPr>
        <p:blipFill>
          <a:blip r:embed="rId3"/>
          <a:srcRect t="34862" b="34862"/>
          <a:stretch>
            <a:fillRect/>
          </a:stretch>
        </p:blipFill>
        <p:spPr>
          <a:xfrm>
            <a:off x="665034" y="651515"/>
            <a:ext cx="3830070" cy="1159551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58" name="AutoShape 6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AutoShape 7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AutoShape 8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4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4" tooltip="https://www.servauto.com.my/"/>
            </a:endParaRPr>
          </a:p>
        </p:txBody>
      </p:sp>
      <p:sp>
        <p:nvSpPr>
          <p:cNvPr id="161" name="AutoShape 9"/>
          <p:cNvSpPr/>
          <p:nvPr>
            <p:ph type="body" sz="quarter" idx="1"/>
          </p:nvPr>
        </p:nvSpPr>
        <p:spPr>
          <a:xfrm>
            <a:off x="665034" y="2203868"/>
            <a:ext cx="5092700" cy="1701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08000"/>
              </a:lnSpc>
              <a:defRPr sz="5200" b="0" i="0" u="none" strike="noStrike" spc="0">
                <a:solidFill>
                  <a:srgbClr val="005AA9">
                    <a:alpha val="100000"/>
                  </a:srgbClr>
                </a:solidFill>
                <a:latin typeface="Inter 18pt ExtraBold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2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AutoShape 2"/>
          <p:cNvSpPr/>
          <p:nvPr/>
        </p:nvSpPr>
        <p:spPr>
          <a:xfrm>
            <a:off x="0" y="0"/>
            <a:ext cx="8812221" cy="752382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AutoShape 3"/>
          <p:cNvSpPr/>
          <p:nvPr/>
        </p:nvSpPr>
        <p:spPr>
          <a:xfrm>
            <a:off x="8249792" y="0"/>
            <a:ext cx="2762864" cy="752382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AutoShape 4"/>
          <p:cNvSpPr/>
          <p:nvPr/>
        </p:nvSpPr>
        <p:spPr>
          <a:xfrm>
            <a:off x="8588375" y="0"/>
            <a:ext cx="3603625" cy="752382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6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85691"/>
            <a:ext cx="2056810" cy="355600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67" name="AutoShape 6"/>
          <p:cNvSpPr/>
          <p:nvPr>
            <p:ph type="body" sz="quarter" idx="2"/>
          </p:nvPr>
        </p:nvSpPr>
        <p:spPr>
          <a:xfrm>
            <a:off x="665034" y="109491"/>
            <a:ext cx="6502400" cy="533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Inter 18pt SemiBold"/>
              </a:defRPr>
            </a:lvl1pPr>
          </a:lstStyle>
          <a:p>
            <a:pPr algn="l"/>
          </a:p>
        </p:txBody>
      </p:sp>
      <p:sp>
        <p:nvSpPr>
          <p:cNvPr id="168" name="AutoShape 7"/>
          <p:cNvSpPr/>
          <p:nvPr>
            <p:ph type="body" sz="quarter" idx="3"/>
          </p:nvPr>
        </p:nvSpPr>
        <p:spPr>
          <a:xfrm>
            <a:off x="665034" y="1044754"/>
            <a:ext cx="7520490" cy="8509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69" name="AutoShape 8"/>
          <p:cNvSpPr/>
          <p:nvPr>
            <p:ph type="body" sz="quarter" idx="4"/>
          </p:nvPr>
        </p:nvSpPr>
        <p:spPr>
          <a:xfrm>
            <a:off x="665034" y="2136019"/>
            <a:ext cx="6934200" cy="5842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3100" b="0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70" name="AutoShape 9"/>
          <p:cNvSpPr/>
          <p:nvPr>
            <p:ph type="body" sz="quarter" idx="5"/>
          </p:nvPr>
        </p:nvSpPr>
        <p:spPr>
          <a:xfrm>
            <a:off x="665034" y="3012591"/>
            <a:ext cx="3603625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1700" b="0" i="0" u="none" strike="noStrike" spc="0">
                <a:solidFill>
                  <a:srgbClr val="1F2329">
                    <a:alpha val="100000"/>
                  </a:srgbClr>
                </a:solidFill>
                <a:latin typeface="Inter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hyperlink" Target="https://www.servauto.com.my/" TargetMode="Externa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8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1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AutoShape 2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AutoShape 6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3" tooltip="https://www.servauto.com.my/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hyperlink" Target="../media/image4.png" TargetMode="Externa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6.jpe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23.xml"/><Relationship Id="rId22" Type="http://schemas.openxmlformats.org/officeDocument/2006/relationships/hyperlink" Target="../media/image4.png" TargetMode="External"/><Relationship Id="rId21" Type="http://schemas.openxmlformats.org/officeDocument/2006/relationships/image" Target="../media/image4.png"/><Relationship Id="rId20" Type="http://schemas.openxmlformats.org/officeDocument/2006/relationships/image" Target="../media/image9.jpeg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image" Target="../media/image8.jpeg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7.jpe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3.xml"/><Relationship Id="rId6" Type="http://schemas.openxmlformats.org/officeDocument/2006/relationships/hyperlink" Target="../media/image4.pn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openxmlformats.org/officeDocument/2006/relationships/hyperlink" Target="../media/image4.png" TargetMode="External"/><Relationship Id="rId4" Type="http://schemas.openxmlformats.org/officeDocument/2006/relationships/image" Target="../media/image4.pn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" name="Text Placeholder 1"/>
          <p:cNvSpPr>
            <a:spLocks noGrp="1"/>
          </p:cNvSpPr>
          <p:nvPr>
            <p:ph type="body" sz="quarter" idx="1"/>
          </p:nvPr>
        </p:nvSpPr>
        <p:spPr>
          <a:xfrm>
            <a:off x="667512" y="2084831"/>
            <a:ext cx="7315200" cy="3017520"/>
          </a:xfrm>
        </p:spPr>
        <p:txBody>
          <a:bodyPr wrap="square"/>
          <a:lstStyle/>
          <a:p>
            <a:pPr>
              <a:lnSpc>
                <a:spcPts val="51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自营店店长工作内容讲解</a:t>
            </a:r>
            <a:endParaRPr lang="en-US" sz="4000" b="1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20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Store Manager Role Briefing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2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专题二：经营目标达成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15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2: Business Targets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13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适用对象：店长（岗前 / 在岗培训）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11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Audience: Store managers (pre-service &amp; in-service training)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0" name="标题"/>
          <p:cNvSpPr>
            <a:spLocks noGrp="1"/>
          </p:cNvSpPr>
          <p:nvPr>
            <p:ph type="title"/>
          </p:nvPr>
        </p:nvSpPr>
        <p:spPr>
          <a:xfrm>
            <a:off x="5760720" y="3054096"/>
            <a:ext cx="6035040" cy="2926080"/>
          </a:xfrm>
        </p:spPr>
        <p:txBody>
          <a:bodyPr wrap="square" anchor="t">
            <a:normAutofit/>
          </a:bodyPr>
          <a:lstStyle/>
          <a:p>
            <a:pPr>
              <a:lnSpc>
                <a:spcPts val="537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Business Targets</a:t>
            </a:r>
            <a:endParaRPr lang="en-US" altLang="en-US" sz="4200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750"/>
              </a:lnSpc>
              <a:spcBef>
                <a:spcPts val="400"/>
              </a:spcBef>
              <a:spcAft>
                <a:spcPts val="0"/>
              </a:spcAft>
            </a:pPr>
            <a:r>
              <a:rPr lang="zh-CN" altLang="en-US" sz="1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经营目标达成</a:t>
            </a:r>
            <a:endParaRPr lang="zh-CN" altLang="en-US" sz="3000">
              <a:solidFill>
                <a:srgbClr val="6E8299"/>
              </a:solidFill>
            </a:endParaRPr>
          </a:p>
          <a:p>
            <a:pPr>
              <a:lnSpc>
                <a:spcPts val="3750"/>
              </a:lnSpc>
              <a:spcBef>
                <a:spcPts val="70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把数字拆成动作，把动作落到人</a:t>
            </a:r>
            <a:endParaRPr lang="zh-CN" altLang="en-US" sz="3000">
              <a:solidFill>
                <a:srgbClr val="6E8299"/>
              </a:solidFill>
            </a:endParaRPr>
          </a:p>
          <a:p>
            <a:pPr>
              <a:lnSpc>
                <a:spcPts val="375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numbers into actions, actions into people</a:t>
            </a:r>
            <a:endParaRPr lang="zh-CN" altLang="en-US" sz="3000">
              <a:solidFill>
                <a:srgbClr val="6E8299"/>
              </a:solidFill>
            </a:endParaRPr>
          </a:p>
        </p:txBody>
      </p:sp>
      <p:sp>
        <p:nvSpPr>
          <p:cNvPr id="521" name="节编号"/>
          <p:cNvSpPr>
            <a:spLocks noGrp="1"/>
          </p:cNvSpPr>
          <p:nvPr>
            <p:ph type="body" sz="quarter" idx="13"/>
          </p:nvPr>
        </p:nvSpPr>
        <p:spPr>
          <a:xfrm>
            <a:off x="6236360" y="2128520"/>
            <a:ext cx="4544200" cy="1005840"/>
          </a:xfrm>
        </p:spPr>
        <p:txBody>
          <a:bodyPr wrap="square">
            <a:norm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zh-CN" altLang="en-US"/>
          </a:p>
        </p:txBody>
      </p:sp>
      <p:sp>
        <p:nvSpPr>
          <p:cNvPr id="522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3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4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25" name="Picture 5"/>
          <p:cNvPicPr>
            <a:picLocks noChangeAspect="1"/>
          </p:cNvPicPr>
          <p:nvPr/>
        </p:nvPicPr>
        <p:blipFill>
          <a:blip r:embed="rId1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526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7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528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9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0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2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2" tooltip="https://www.servauto.com.my/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07408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月度营收达成率 ≥ 100%；看进店量 × 平均客单。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Monthly attainment &gt;= 100%; read as work orders x average ticket.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3977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Revenue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收入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成本可控，返工与损耗环比不上升。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Cost line controlled; rework and loss not rising month on month.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个月内复购率 ≥ 30%；看回访执行率与保养到期提醒。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3-month repurchase rate &gt;= 30%; read follow-up execution and service-due reminders.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平均客单价稳定或上升；看套餐组合与 upsell 渗透率。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Average ticket stable or rising; read package mix and upsell penetration.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毛利率不低于门店基准线；看材料成本。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Margin rate not below the store benchmark; read material and labour cost ratio.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3931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Ticket size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客单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3954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Gross margin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毛利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3908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Repurchase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复购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3885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Cost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Business Results Are Read Through Five Dimensions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经营结果看五个维度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: 圆角 2"/>
          <p:cNvSpPr/>
          <p:nvPr>
            <p:custDataLst>
              <p:tags r:id="rId1"/>
            </p:custDataLst>
          </p:nvPr>
        </p:nvSpPr>
        <p:spPr>
          <a:xfrm>
            <a:off x="69246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8"/>
          <p:cNvSpPr/>
          <p:nvPr>
            <p:custDataLst>
              <p:tags r:id="rId2"/>
            </p:custDataLst>
          </p:nvPr>
        </p:nvSpPr>
        <p:spPr>
          <a:xfrm>
            <a:off x="764540" y="4827270"/>
            <a:ext cx="2383790" cy="161861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拆到周、拆到人、拆到项目，3 个工作日内完成并公示。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Into weeks, people and service items; published within 3 working days.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" name="矩形 9"/>
          <p:cNvSpPr/>
          <p:nvPr>
            <p:custDataLst>
              <p:tags r:id="rId3"/>
            </p:custDataLst>
          </p:nvPr>
        </p:nvSpPr>
        <p:spPr>
          <a:xfrm>
            <a:off x="764265" y="3785615"/>
            <a:ext cx="2239693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down targets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月初拆目标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18" name="图片 17" descr="/data/temp/336c6cc7-a9fe-11f0-a9b7-3692c9aabca4.jpg@base@tag=imgScale&amp;m=1&amp;w=514&amp;h=514&amp;q=95336c6cc7-a9fe-11f0-a9b7-3692c9aabca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6678" r="16678"/>
          <a:stretch>
            <a:fillRect/>
          </a:stretch>
        </p:blipFill>
        <p:spPr>
          <a:xfrm>
            <a:off x="958215" y="1964055"/>
            <a:ext cx="1851660" cy="1635125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19" name="矩形: 圆角 1"/>
          <p:cNvSpPr/>
          <p:nvPr>
            <p:custDataLst>
              <p:tags r:id="rId6"/>
            </p:custDataLst>
          </p:nvPr>
        </p:nvSpPr>
        <p:spPr>
          <a:xfrm>
            <a:off x="349827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23"/>
          <p:cNvSpPr/>
          <p:nvPr>
            <p:custDataLst>
              <p:tags r:id="rId7"/>
            </p:custDataLst>
          </p:nvPr>
        </p:nvSpPr>
        <p:spPr>
          <a:xfrm>
            <a:off x="3570709" y="4854941"/>
            <a:ext cx="2239692" cy="1618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收入、工单、预约、异常四项必看并记录。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Revenue, work orders, appointments, issues.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1" name="矩形 24"/>
          <p:cNvSpPr/>
          <p:nvPr>
            <p:custDataLst>
              <p:tags r:id="rId8"/>
            </p:custDataLst>
          </p:nvPr>
        </p:nvSpPr>
        <p:spPr>
          <a:xfrm>
            <a:off x="3570074" y="3785615"/>
            <a:ext cx="2239693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Daily dashboard (manager, before opening)</a:t>
            </a:r>
            <a:endParaRPr kumimoji="1" lang="en-US" altLang="en-US" sz="10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每日看板（店长，开店前）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2" name="图片 25" descr="/data/temp/336c6d5c-a9fe-11f0-a9b7-3692c9aabca4.jpg@base@tag=imgScale&amp;m=1&amp;w=514&amp;h=514&amp;q=95336c6d5c-a9fe-11f0-a9b7-3692c9aabca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16635" r="16635"/>
          <a:stretch>
            <a:fillRect/>
          </a:stretch>
        </p:blipFill>
        <p:spPr>
          <a:xfrm>
            <a:off x="3764280" y="1964055"/>
            <a:ext cx="1851660" cy="1635125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3" name="矩形: 圆角 3"/>
          <p:cNvSpPr/>
          <p:nvPr>
            <p:custDataLst>
              <p:tags r:id="rId11"/>
            </p:custDataLst>
          </p:nvPr>
        </p:nvSpPr>
        <p:spPr>
          <a:xfrm>
            <a:off x="630408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7"/>
          <p:cNvSpPr/>
          <p:nvPr>
            <p:custDataLst>
              <p:tags r:id="rId12"/>
            </p:custDataLst>
          </p:nvPr>
        </p:nvSpPr>
        <p:spPr>
          <a:xfrm>
            <a:off x="6375884" y="4827636"/>
            <a:ext cx="2239692" cy="16170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差距归因后调整动作，而不是只调数字。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Adjust actions after root-cause review.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5" name="矩形 28"/>
          <p:cNvSpPr/>
          <p:nvPr>
            <p:custDataLst>
              <p:tags r:id="rId13"/>
            </p:custDataLst>
          </p:nvPr>
        </p:nvSpPr>
        <p:spPr>
          <a:xfrm>
            <a:off x="6375884" y="3785615"/>
            <a:ext cx="2239692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Weekly correction (manager, weekly meeting)</a:t>
            </a:r>
            <a:endParaRPr kumimoji="1" lang="en-US" altLang="en-US" sz="9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每周纠偏（店长，周会）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6" name="图片 29" descr="/data/temp/336c6cab-a9fe-11f0-a9b7-3692c9aabca4.jpg@base@tag=imgScale&amp;m=1&amp;w=514&amp;h=514&amp;q=95336c6cab-a9fe-11f0-a9b7-3692c9aabca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l="16678" r="16678"/>
          <a:stretch>
            <a:fillRect/>
          </a:stretch>
        </p:blipFill>
        <p:spPr>
          <a:xfrm>
            <a:off x="6569710" y="1964690"/>
            <a:ext cx="1851660" cy="1646555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7" name="矩形: 圆角 3"/>
          <p:cNvSpPr/>
          <p:nvPr>
            <p:custDataLst>
              <p:tags r:id="rId16"/>
            </p:custDataLst>
          </p:nvPr>
        </p:nvSpPr>
        <p:spPr>
          <a:xfrm>
            <a:off x="910989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31"/>
          <p:cNvSpPr/>
          <p:nvPr>
            <p:custDataLst>
              <p:tags r:id="rId17"/>
            </p:custDataLst>
          </p:nvPr>
        </p:nvSpPr>
        <p:spPr>
          <a:xfrm>
            <a:off x="9181694" y="4827636"/>
            <a:ext cx="2239692" cy="16170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达成率、毛利结构、客户结构一起看。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Attainment, margin mix and customer mix.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9" name="矩形 32"/>
          <p:cNvSpPr/>
          <p:nvPr>
            <p:custDataLst>
              <p:tags r:id="rId18"/>
            </p:custDataLst>
          </p:nvPr>
        </p:nvSpPr>
        <p:spPr>
          <a:xfrm>
            <a:off x="9181694" y="3785615"/>
            <a:ext cx="2239693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Month-end review (manager + regional manager)</a:t>
            </a:r>
            <a:endParaRPr kumimoji="1" lang="en-US" altLang="en-US" sz="9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月底复盘（店长 + 区域经理）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30" name="图片 33" descr="/data/temp/336c6bee-a9fe-11f0-a9b7-3692c9aabca4.jpg@base@tag=imgScale&amp;m=1&amp;w=514&amp;h=514&amp;q=95336c6bee-a9fe-11f0-a9b7-3692c9aabca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 l="17" r="17"/>
          <a:stretch>
            <a:fillRect/>
          </a:stretch>
        </p:blipFill>
        <p:spPr>
          <a:xfrm>
            <a:off x="9375775" y="1964690"/>
            <a:ext cx="1851660" cy="1635125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31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" name="Picture 5"/>
          <p:cNvPicPr>
            <a:picLocks noChangeAspect="1"/>
          </p:cNvPicPr>
          <p:nvPr/>
        </p:nvPicPr>
        <p:blipFill>
          <a:blip r:embed="rId21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35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37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22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22" tooltip="https://www.servauto.com.my/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Management: Break Down, Track, Correct, Review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目标管理：拆解、跟进、纠偏、复盘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" name="图片 9" descr="/data/temp/3368e2b7-a9fe-11f0-b8a9-86e63497536f.jpg@base@tag=imgScale&amp;m=1&amp;w=662&amp;h=706&amp;q=953368e2b7-a9fe-11f0-b8a9-86e63497536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235" y="1978821"/>
            <a:ext cx="2385831" cy="2543787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4" name="矩形 10"/>
          <p:cNvSpPr/>
          <p:nvPr/>
        </p:nvSpPr>
        <p:spPr>
          <a:xfrm>
            <a:off x="1049343" y="5169024"/>
            <a:ext cx="2160245" cy="10883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按项目、渠道、人员三个维度对比，找出最大缺口。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Compare by service item, channel and staff to find the biggest gap.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65" name="矩形 12"/>
          <p:cNvSpPr/>
          <p:nvPr/>
        </p:nvSpPr>
        <p:spPr>
          <a:xfrm>
            <a:off x="1049343" y="4712465"/>
            <a:ext cx="2160245" cy="421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2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is revenue short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9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收入差在哪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6" name="图片 13" descr="/data/temp/3368e345-a9fe-11f0-b8a9-86e63497536f.jpg@base@tag=imgScale&amp;m=1&amp;w=662&amp;h=706&amp;q=953368e345-a9fe-11f0-b8a9-86e63497536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45" y="1978821"/>
            <a:ext cx="2385831" cy="2543787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7" name="矩形 14"/>
          <p:cNvSpPr/>
          <p:nvPr/>
        </p:nvSpPr>
        <p:spPr>
          <a:xfrm>
            <a:off x="3693453" y="5169024"/>
            <a:ext cx="2160245" cy="10883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线索到店、到店成交两步分开看，定位瓶颈环节。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Measure lead-to-visit and visit-to-close separately.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68" name="矩形 15"/>
          <p:cNvSpPr/>
          <p:nvPr/>
        </p:nvSpPr>
        <p:spPr>
          <a:xfrm>
            <a:off x="3693453" y="4712465"/>
            <a:ext cx="2160245" cy="421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2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does conversion stall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9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转化卡在哪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9" name="图片 16" descr="/data/temp/3368e549-a9fe-11f0-b8a9-86e63497536f.jpg@base@tag=imgScale&amp;m=1&amp;w=662&amp;h=706&amp;q=953368e549-a9fe-11f0-b8a9-86e63497536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455" y="1978821"/>
            <a:ext cx="2385831" cy="2543787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0" name="矩形 20"/>
          <p:cNvSpPr/>
          <p:nvPr/>
        </p:nvSpPr>
        <p:spPr>
          <a:xfrm>
            <a:off x="6337300" y="5168900"/>
            <a:ext cx="2407285" cy="10877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工时、材料、返工各占多少，找出异常项。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Split labour hours, materials and rework to find the outlier.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1" name="矩形 21"/>
          <p:cNvSpPr/>
          <p:nvPr/>
        </p:nvSpPr>
        <p:spPr>
          <a:xfrm>
            <a:off x="6337563" y="4712465"/>
            <a:ext cx="2160245" cy="421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2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does cost leak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9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成本漏在哪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72" name="图片 22" descr="/data/temp/3368e341-a9fe-11f0-b8a9-86e63497536f.jpg@base@tag=imgScale&amp;m=1&amp;w=662&amp;h=706&amp;q=953368e341-a9fe-11f0-b8a9-86e63497536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279" y="1978821"/>
            <a:ext cx="2386096" cy="2543787"/>
          </a:xfrm>
          <a:custGeom>
            <a:avLst/>
            <a:gdLst>
              <a:gd name="connsiteX0" fmla="*/ 1193060 w 2386123"/>
              <a:gd name="connsiteY0" fmla="*/ 1 h 2543816"/>
              <a:gd name="connsiteX1" fmla="*/ 1272583 w 2386123"/>
              <a:gd name="connsiteY1" fmla="*/ 19128 h 2543816"/>
              <a:gd name="connsiteX2" fmla="*/ 2287836 w 2386123"/>
              <a:gd name="connsiteY2" fmla="*/ 526755 h 2543816"/>
              <a:gd name="connsiteX3" fmla="*/ 2386123 w 2386123"/>
              <a:gd name="connsiteY3" fmla="*/ 685784 h 2543816"/>
              <a:gd name="connsiteX4" fmla="*/ 2386123 w 2386123"/>
              <a:gd name="connsiteY4" fmla="*/ 1858059 h 2543816"/>
              <a:gd name="connsiteX5" fmla="*/ 2287838 w 2386123"/>
              <a:gd name="connsiteY5" fmla="*/ 2017061 h 2543816"/>
              <a:gd name="connsiteX6" fmla="*/ 1272585 w 2386123"/>
              <a:gd name="connsiteY6" fmla="*/ 2524688 h 2543816"/>
              <a:gd name="connsiteX7" fmla="*/ 1113539 w 2386123"/>
              <a:gd name="connsiteY7" fmla="*/ 2524689 h 2543816"/>
              <a:gd name="connsiteX8" fmla="*/ 98286 w 2386123"/>
              <a:gd name="connsiteY8" fmla="*/ 2017062 h 2543816"/>
              <a:gd name="connsiteX9" fmla="*/ 0 w 2386123"/>
              <a:gd name="connsiteY9" fmla="*/ 1858034 h 2543816"/>
              <a:gd name="connsiteX10" fmla="*/ 0 w 2386123"/>
              <a:gd name="connsiteY10" fmla="*/ 685758 h 2543816"/>
              <a:gd name="connsiteX11" fmla="*/ 98285 w 2386123"/>
              <a:gd name="connsiteY11" fmla="*/ 526756 h 2543816"/>
              <a:gd name="connsiteX12" fmla="*/ 1113537 w 2386123"/>
              <a:gd name="connsiteY12" fmla="*/ 19129 h 2543816"/>
              <a:gd name="connsiteX13" fmla="*/ 1193060 w 2386123"/>
              <a:gd name="connsiteY13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6123" h="2543816">
                <a:moveTo>
                  <a:pt x="1193060" y="1"/>
                </a:moveTo>
                <a:cubicBezTo>
                  <a:pt x="1220070" y="0"/>
                  <a:pt x="1247079" y="6376"/>
                  <a:pt x="1272583" y="19128"/>
                </a:cubicBezTo>
                <a:cubicBezTo>
                  <a:pt x="1323590" y="44631"/>
                  <a:pt x="2225936" y="495804"/>
                  <a:pt x="2287836" y="526755"/>
                </a:cubicBezTo>
                <a:cubicBezTo>
                  <a:pt x="2349737" y="557705"/>
                  <a:pt x="2386124" y="616577"/>
                  <a:pt x="2386123" y="685784"/>
                </a:cubicBezTo>
                <a:cubicBezTo>
                  <a:pt x="2386124" y="754990"/>
                  <a:pt x="2386124" y="1788853"/>
                  <a:pt x="2386123" y="1858059"/>
                </a:cubicBezTo>
                <a:cubicBezTo>
                  <a:pt x="2386124" y="1927266"/>
                  <a:pt x="2349740" y="1986111"/>
                  <a:pt x="2287838" y="2017061"/>
                </a:cubicBezTo>
                <a:cubicBezTo>
                  <a:pt x="2225939" y="2048011"/>
                  <a:pt x="1323593" y="2499184"/>
                  <a:pt x="1272585" y="2524688"/>
                </a:cubicBezTo>
                <a:cubicBezTo>
                  <a:pt x="1221579" y="2550192"/>
                  <a:pt x="1164547" y="2550193"/>
                  <a:pt x="1113539" y="2524689"/>
                </a:cubicBezTo>
                <a:cubicBezTo>
                  <a:pt x="1062533" y="2499185"/>
                  <a:pt x="160188" y="2048013"/>
                  <a:pt x="98286" y="2017062"/>
                </a:cubicBezTo>
                <a:cubicBezTo>
                  <a:pt x="36387" y="1986112"/>
                  <a:pt x="1" y="1927241"/>
                  <a:pt x="0" y="1858034"/>
                </a:cubicBezTo>
                <a:cubicBezTo>
                  <a:pt x="1" y="1788827"/>
                  <a:pt x="1" y="754964"/>
                  <a:pt x="0" y="685758"/>
                </a:cubicBezTo>
                <a:cubicBezTo>
                  <a:pt x="1" y="616551"/>
                  <a:pt x="36385" y="557706"/>
                  <a:pt x="98285" y="526756"/>
                </a:cubicBezTo>
                <a:cubicBezTo>
                  <a:pt x="160186" y="495805"/>
                  <a:pt x="1062531" y="44632"/>
                  <a:pt x="1113537" y="19129"/>
                </a:cubicBezTo>
                <a:cubicBezTo>
                  <a:pt x="1139042" y="6377"/>
                  <a:pt x="1166051" y="1"/>
                  <a:pt x="119306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3" name="矩形 23"/>
          <p:cNvSpPr/>
          <p:nvPr/>
        </p:nvSpPr>
        <p:spPr>
          <a:xfrm>
            <a:off x="8868410" y="5168900"/>
            <a:ext cx="2386965" cy="10883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每个差距对应一个具体动作和一个责任人，写进周会纪要。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 action and one named owner per gap, minuted in the review.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4" name="矩形 24"/>
          <p:cNvSpPr/>
          <p:nvPr/>
        </p:nvSpPr>
        <p:spPr>
          <a:xfrm>
            <a:off x="8981673" y="4712465"/>
            <a:ext cx="2160246" cy="421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2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 happens next week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9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下周做什么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75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6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7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8" name="Picture 5"/>
          <p:cNvPicPr>
            <a:picLocks noChangeAspect="1"/>
          </p:cNvPicPr>
          <p:nvPr/>
        </p:nvPicPr>
        <p:blipFill>
          <a:blip r:embed="rId5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79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181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6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6" tooltip="https://www.servauto.com.my/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Weekly Business Review: Four Questions to Answer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经营复盘：每周一次，盯住四个问题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" name="图片 9" descr="/data/temp/3368e2b7-a9fe-11f0-b8a9-86e63497536f.jpg@base@tag=imgScale&amp;m=1&amp;w=662&amp;h=706&amp;q=953368e2b7-a9fe-11f0-b8a9-86e63497536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4" name="矩形 10"/>
          <p:cNvSpPr/>
          <p:nvPr/>
        </p:nvSpPr>
        <p:spPr>
          <a:xfrm>
            <a:off x="64008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把月度目标拆到周、拆到人、拆到项目，并公示到工位。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the monthly target into weeks, people and service items, and post it at the workstation.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65" name="矩形 12"/>
          <p:cNvSpPr/>
          <p:nvPr/>
        </p:nvSpPr>
        <p:spPr>
          <a:xfrm>
            <a:off x="64008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down the target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目标拆解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6" name="图片 13" descr="/data/temp/3368e345-a9fe-11f0-b8a9-86e63497536f.jpg@base@tag=imgScale&amp;m=1&amp;w=662&amp;h=706&amp;q=953368e345-a9fe-11f0-b8a9-86e63497536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7" name="矩形 14"/>
          <p:cNvSpPr/>
          <p:nvPr/>
        </p:nvSpPr>
        <p:spPr>
          <a:xfrm>
            <a:off x="448056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建立每日四项看板：收入、工单、预约、异常。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 up the daily four-item dashboard: revenue, work orders, appointments, issues.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68" name="矩形 15"/>
          <p:cNvSpPr/>
          <p:nvPr/>
        </p:nvSpPr>
        <p:spPr>
          <a:xfrm>
            <a:off x="448056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Daily dashboard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每日看板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9" name="图片 16" descr="/data/temp/3368e549-a9fe-11f0-b8a9-86e63497536f.jpg@base@tag=imgScale&amp;m=1&amp;w=662&amp;h=706&amp;q=953368e549-a9fe-11f0-b8a9-86e63497536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0" name="矩形 20"/>
          <p:cNvSpPr/>
          <p:nvPr/>
        </p:nvSpPr>
        <p:spPr>
          <a:xfrm>
            <a:off x="832104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固定周会复盘四个问题，每个差距落到一个责任人。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the weekly review against the four questions, with a named owner for every gap.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1" name="矩形 21"/>
          <p:cNvSpPr/>
          <p:nvPr/>
        </p:nvSpPr>
        <p:spPr>
          <a:xfrm>
            <a:off x="832104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Weekly review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周会复盘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75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6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7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8" name="Picture 5"/>
          <p:cNvPicPr>
            <a:picLocks noChangeAspect="1"/>
          </p:cNvPicPr>
          <p:nvPr/>
        </p:nvPicPr>
        <p:blipFill>
          <a:blip r:embed="rId4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79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181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5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5" tooltip="https://www.servauto.com.my/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Business Targets: From Numbers to Actions to Owners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经营目标达成：数字拆到动作，动作拆到人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12648" y="139903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本周落地动作  |  This week's actions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612648" y="576072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12648" y="5760720"/>
            <a:ext cx="50292" cy="566928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13816" y="5824728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月初拆到周和人，每日看板盯四项，每周归因调动作，月底一起看结构。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down monthly, watch four numbers daily, reallocate actions weekly, review monthly.</a:t>
            </a:r>
            <a:endParaRPr sz="9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2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3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4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5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6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7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8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9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10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11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12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13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14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15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ags/tag16.xml><?xml version="1.0" encoding="utf-8"?>
<p:tagLst xmlns:p="http://schemas.openxmlformats.org/presentationml/2006/main">
  <p:tag name="KSO_WM_DIAGRAM_VIRTUALLY_FRAME" val="{&quot;height&quot;:355.10755905511814,&quot;left&quot;:54.52496062992126,&quot;top&quot;:154.64622047244094,&quot;width&quot;:850.4500787401576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2951</Words>
  <Application>WPS 演示</Application>
  <PresentationFormat/>
  <Paragraphs>159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Arial</vt:lpstr>
      <vt:lpstr>Inter 18pt SemiBold</vt:lpstr>
      <vt:lpstr>Segoe Print</vt:lpstr>
      <vt:lpstr>Inter 18pt ExtraBold</vt:lpstr>
      <vt:lpstr>Inter 18pt Medium</vt:lpstr>
      <vt:lpstr>Inter</vt:lpstr>
      <vt:lpstr>微软雅黑</vt:lpstr>
      <vt:lpstr>Arial Unicode MS</vt:lpstr>
      <vt:lpstr>Office 主题</vt:lpstr>
      <vt:lpstr>Office 主题​​</vt:lpstr>
      <vt:lpstr>1_Office 主题​​</vt:lpstr>
      <vt:lpstr>自定义主题</vt:lpstr>
      <vt:lpstr>PowerPoint 演示文稿</vt:lpstr>
      <vt:lpstr>Break numbers into actions, actions into people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房吉伟</cp:lastModifiedBy>
  <cp:revision>10</cp:revision>
  <dcterms:created xsi:type="dcterms:W3CDTF">2026-10-12T03:31:00Z</dcterms:created>
  <dcterms:modified xsi:type="dcterms:W3CDTF">2026-10-18T06:19:22Z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6b6e2dac51814862bae57b148d8df064_21</vt:lpwstr>
  </property>
  <property fmtid="{D5CDD505-2E9C-101B-9397-08002B2CF9AE}" pid="3" name="KSOProductBuildVer">
    <vt:lpwstr>2052-12.1.0.28505</vt:lpwstr>
  </property>
</Properties>
</file>