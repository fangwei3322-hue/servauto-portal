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74" r:id="rId5"/>
  </p:sldMasterIdLst>
  <p:notesMasterIdLst>
    <p:notesMasterId r:id="rId10"/>
  </p:notesMasterIdLst>
  <p:sldIdLst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10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ableStyles" Target="tableStyles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/>
          <a:p/>
        </p:txBody>
      </p:sp>
      <p:sp>
        <p:nvSpPr>
          <p:cNvPr id="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www.servauto.com.my/" TargetMode="Externa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9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垂直排列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标题幻灯片"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Image 0" descr=" 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72" name="Image 4" descr=" "/>
          <p:cNvSpPr/>
          <p:nvPr/>
        </p:nvSpPr>
        <p:spPr>
          <a:xfrm>
            <a:off x="1588" y="1066799"/>
            <a:ext cx="1625193" cy="1498600"/>
          </a:xfrm>
          <a:custGeom>
            <a:avLst/>
            <a:gdLst>
              <a:gd name="connsiteX0" fmla="*/ 876081 w 1625193"/>
              <a:gd name="connsiteY0" fmla="*/ 0 h 1498600"/>
              <a:gd name="connsiteX1" fmla="*/ 1625194 w 1625193"/>
              <a:gd name="connsiteY1" fmla="*/ 749300 h 1498600"/>
              <a:gd name="connsiteX2" fmla="*/ 1625194 w 1625193"/>
              <a:gd name="connsiteY2" fmla="*/ 749300 h 1498600"/>
              <a:gd name="connsiteX3" fmla="*/ 876081 w 1625193"/>
              <a:gd name="connsiteY3" fmla="*/ 1498600 h 1498600"/>
              <a:gd name="connsiteX4" fmla="*/ 0 w 1625193"/>
              <a:gd name="connsiteY4" fmla="*/ 1498600 h 1498600"/>
              <a:gd name="connsiteX5" fmla="*/ 0 w 1625193"/>
              <a:gd name="connsiteY5" fmla="*/ 0 h 1498600"/>
              <a:gd name="connsiteX6" fmla="*/ 876081 w 1625193"/>
              <a:gd name="connsiteY6" fmla="*/ 0 h 149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25193" h="1498600">
                <a:moveTo>
                  <a:pt x="876081" y="0"/>
                </a:moveTo>
                <a:cubicBezTo>
                  <a:pt x="1289807" y="0"/>
                  <a:pt x="1625194" y="335473"/>
                  <a:pt x="1625194" y="749300"/>
                </a:cubicBezTo>
                <a:lnTo>
                  <a:pt x="1625194" y="749300"/>
                </a:lnTo>
                <a:cubicBezTo>
                  <a:pt x="1625194" y="1163127"/>
                  <a:pt x="1289807" y="1498600"/>
                  <a:pt x="876081" y="1498600"/>
                </a:cubicBezTo>
                <a:lnTo>
                  <a:pt x="0" y="1498600"/>
                </a:lnTo>
                <a:lnTo>
                  <a:pt x="0" y="0"/>
                </a:lnTo>
                <a:lnTo>
                  <a:pt x="876081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73" name="Image 1" descr=" "/>
          <p:cNvSpPr/>
          <p:nvPr/>
        </p:nvSpPr>
        <p:spPr>
          <a:xfrm>
            <a:off x="9321058" y="3111500"/>
            <a:ext cx="2260035" cy="3746500"/>
          </a:xfrm>
          <a:custGeom>
            <a:avLst/>
            <a:gdLst>
              <a:gd name="connsiteX0" fmla="*/ 0 w 2260035"/>
              <a:gd name="connsiteY0" fmla="*/ 1130300 h 3746500"/>
              <a:gd name="connsiteX1" fmla="*/ 1130018 w 2260035"/>
              <a:gd name="connsiteY1" fmla="*/ 0 h 3746500"/>
              <a:gd name="connsiteX2" fmla="*/ 1130018 w 2260035"/>
              <a:gd name="connsiteY2" fmla="*/ 0 h 3746500"/>
              <a:gd name="connsiteX3" fmla="*/ 2260035 w 2260035"/>
              <a:gd name="connsiteY3" fmla="*/ 1130300 h 3746500"/>
              <a:gd name="connsiteX4" fmla="*/ 2260035 w 2260035"/>
              <a:gd name="connsiteY4" fmla="*/ 3746500 h 3746500"/>
              <a:gd name="connsiteX5" fmla="*/ 0 w 2260035"/>
              <a:gd name="connsiteY5" fmla="*/ 3746500 h 3746500"/>
              <a:gd name="connsiteX6" fmla="*/ 0 w 2260035"/>
              <a:gd name="connsiteY6" fmla="*/ 1130300 h 374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60035" h="3746500">
                <a:moveTo>
                  <a:pt x="0" y="1130300"/>
                </a:moveTo>
                <a:cubicBezTo>
                  <a:pt x="0" y="506053"/>
                  <a:pt x="505927" y="0"/>
                  <a:pt x="1130018" y="0"/>
                </a:cubicBezTo>
                <a:lnTo>
                  <a:pt x="1130018" y="0"/>
                </a:lnTo>
                <a:cubicBezTo>
                  <a:pt x="1754105" y="0"/>
                  <a:pt x="2260035" y="506053"/>
                  <a:pt x="2260035" y="1130300"/>
                </a:cubicBezTo>
                <a:lnTo>
                  <a:pt x="2260035" y="3746500"/>
                </a:lnTo>
                <a:lnTo>
                  <a:pt x="0" y="3746500"/>
                </a:lnTo>
                <a:lnTo>
                  <a:pt x="0" y="1130300"/>
                </a:lnTo>
                <a:close/>
              </a:path>
            </a:pathLst>
          </a:custGeom>
          <a:solidFill>
            <a:schemeClr val="accent3"/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4" name="Image 2" descr=" "/>
          <p:cNvSpPr/>
          <p:nvPr/>
        </p:nvSpPr>
        <p:spPr>
          <a:xfrm>
            <a:off x="10527256" y="0"/>
            <a:ext cx="1053836" cy="1866900"/>
          </a:xfrm>
          <a:custGeom>
            <a:avLst/>
            <a:gdLst>
              <a:gd name="connsiteX0" fmla="*/ 0 w 1053836"/>
              <a:gd name="connsiteY0" fmla="*/ 0 h 1866900"/>
              <a:gd name="connsiteX1" fmla="*/ 1053836 w 1053836"/>
              <a:gd name="connsiteY1" fmla="*/ 0 h 1866900"/>
              <a:gd name="connsiteX2" fmla="*/ 1053836 w 1053836"/>
              <a:gd name="connsiteY2" fmla="*/ 1339850 h 1866900"/>
              <a:gd name="connsiteX3" fmla="*/ 526918 w 1053836"/>
              <a:gd name="connsiteY3" fmla="*/ 1866900 h 1866900"/>
              <a:gd name="connsiteX4" fmla="*/ 526918 w 1053836"/>
              <a:gd name="connsiteY4" fmla="*/ 1866900 h 1866900"/>
              <a:gd name="connsiteX5" fmla="*/ 0 w 1053836"/>
              <a:gd name="connsiteY5" fmla="*/ 1339850 h 1866900"/>
              <a:gd name="connsiteX6" fmla="*/ 0 w 1053836"/>
              <a:gd name="connsiteY6" fmla="*/ 0 h 1866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53836" h="1866900">
                <a:moveTo>
                  <a:pt x="0" y="0"/>
                </a:moveTo>
                <a:lnTo>
                  <a:pt x="1053836" y="0"/>
                </a:lnTo>
                <a:lnTo>
                  <a:pt x="1053836" y="1339850"/>
                </a:lnTo>
                <a:cubicBezTo>
                  <a:pt x="1053836" y="1630934"/>
                  <a:pt x="817927" y="1866900"/>
                  <a:pt x="526918" y="1866900"/>
                </a:cubicBezTo>
                <a:lnTo>
                  <a:pt x="526918" y="1866900"/>
                </a:lnTo>
                <a:cubicBezTo>
                  <a:pt x="235909" y="1866900"/>
                  <a:pt x="0" y="1630934"/>
                  <a:pt x="0" y="133985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 w="1262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5" name="Image 3" descr=" "/>
          <p:cNvSpPr/>
          <p:nvPr/>
        </p:nvSpPr>
        <p:spPr>
          <a:xfrm>
            <a:off x="5270770" y="3759200"/>
            <a:ext cx="1485529" cy="3098800"/>
          </a:xfrm>
          <a:custGeom>
            <a:avLst/>
            <a:gdLst>
              <a:gd name="connsiteX0" fmla="*/ 0 w 1485529"/>
              <a:gd name="connsiteY0" fmla="*/ 742950 h 3098800"/>
              <a:gd name="connsiteX1" fmla="*/ 742765 w 1485529"/>
              <a:gd name="connsiteY1" fmla="*/ 0 h 3098800"/>
              <a:gd name="connsiteX2" fmla="*/ 742765 w 1485529"/>
              <a:gd name="connsiteY2" fmla="*/ 0 h 3098800"/>
              <a:gd name="connsiteX3" fmla="*/ 1485529 w 1485529"/>
              <a:gd name="connsiteY3" fmla="*/ 742950 h 3098800"/>
              <a:gd name="connsiteX4" fmla="*/ 1485529 w 1485529"/>
              <a:gd name="connsiteY4" fmla="*/ 3098800 h 3098800"/>
              <a:gd name="connsiteX5" fmla="*/ 0 w 1485529"/>
              <a:gd name="connsiteY5" fmla="*/ 3098800 h 3098800"/>
              <a:gd name="connsiteX6" fmla="*/ 0 w 1485529"/>
              <a:gd name="connsiteY6" fmla="*/ 742950 h 309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85529" h="3098800">
                <a:moveTo>
                  <a:pt x="0" y="742950"/>
                </a:moveTo>
                <a:cubicBezTo>
                  <a:pt x="0" y="332630"/>
                  <a:pt x="332546" y="0"/>
                  <a:pt x="742765" y="0"/>
                </a:cubicBezTo>
                <a:lnTo>
                  <a:pt x="742765" y="0"/>
                </a:lnTo>
                <a:cubicBezTo>
                  <a:pt x="1152983" y="0"/>
                  <a:pt x="1485529" y="332630"/>
                  <a:pt x="1485529" y="742950"/>
                </a:cubicBezTo>
                <a:lnTo>
                  <a:pt x="1485529" y="3098800"/>
                </a:lnTo>
                <a:lnTo>
                  <a:pt x="0" y="3098800"/>
                </a:lnTo>
                <a:lnTo>
                  <a:pt x="0" y="742950"/>
                </a:lnTo>
                <a:close/>
              </a:path>
            </a:pathLst>
          </a:custGeom>
          <a:solidFill>
            <a:schemeClr val="accent1">
              <a:alpha val="54000"/>
            </a:schemeClr>
          </a:solidFill>
          <a:ln w="126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6" name="标题 1"/>
          <p:cNvSpPr>
            <a:spLocks noGrp="1"/>
          </p:cNvSpPr>
          <p:nvPr>
            <p:ph type="ctrTitle"/>
          </p:nvPr>
        </p:nvSpPr>
        <p:spPr>
          <a:xfrm>
            <a:off x="785942" y="916125"/>
            <a:ext cx="5918099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accent4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7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78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7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0" name="署名占位符 10"/>
          <p:cNvSpPr>
            <a:spLocks noGrp="1"/>
          </p:cNvSpPr>
          <p:nvPr>
            <p:ph type="body" sz="quarter" idx="17" hasCustomPrompt="1"/>
          </p:nvPr>
        </p:nvSpPr>
        <p:spPr>
          <a:xfrm>
            <a:off x="785942" y="5645599"/>
            <a:ext cx="4317495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4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 1"/>
          <p:cNvSpPr>
            <a:spLocks noGrp="1"/>
          </p:cNvSpPr>
          <p:nvPr>
            <p:ph type="title"/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3" name="内容占位符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84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目录"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Image 0" descr=" "/>
          <p:cNvSpPr/>
          <p:nvPr/>
        </p:nvSpPr>
        <p:spPr>
          <a:xfrm>
            <a:off x="7238778" y="0"/>
            <a:ext cx="2615560" cy="4483100"/>
          </a:xfrm>
          <a:custGeom>
            <a:avLst/>
            <a:gdLst>
              <a:gd name="connsiteX0" fmla="*/ 0 w 2615560"/>
              <a:gd name="connsiteY0" fmla="*/ 0 h 4483100"/>
              <a:gd name="connsiteX1" fmla="*/ 2615561 w 2615560"/>
              <a:gd name="connsiteY1" fmla="*/ 0 h 4483100"/>
              <a:gd name="connsiteX2" fmla="*/ 2615561 w 2615560"/>
              <a:gd name="connsiteY2" fmla="*/ 3171825 h 4483100"/>
              <a:gd name="connsiteX3" fmla="*/ 1307781 w 2615560"/>
              <a:gd name="connsiteY3" fmla="*/ 4483100 h 4483100"/>
              <a:gd name="connsiteX4" fmla="*/ 0 w 2615560"/>
              <a:gd name="connsiteY4" fmla="*/ 3171825 h 4483100"/>
              <a:gd name="connsiteX5" fmla="*/ 0 w 2615560"/>
              <a:gd name="connsiteY5" fmla="*/ 0 h 4483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5560" h="4483100">
                <a:moveTo>
                  <a:pt x="0" y="0"/>
                </a:moveTo>
                <a:lnTo>
                  <a:pt x="2615561" y="0"/>
                </a:lnTo>
                <a:lnTo>
                  <a:pt x="2615561" y="3171825"/>
                </a:lnTo>
                <a:cubicBezTo>
                  <a:pt x="2615561" y="3896017"/>
                  <a:pt x="2030043" y="4483100"/>
                  <a:pt x="1307781" y="4483100"/>
                </a:cubicBezTo>
                <a:cubicBezTo>
                  <a:pt x="585513" y="4483100"/>
                  <a:pt x="0" y="3896017"/>
                  <a:pt x="0" y="3171825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6000"/>
            </a:schemeClr>
          </a:solidFill>
          <a:ln w="1261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/>
          </a:p>
        </p:txBody>
      </p:sp>
      <p:sp>
        <p:nvSpPr>
          <p:cNvPr id="97" name="Image 1" descr=" "/>
          <p:cNvSpPr/>
          <p:nvPr/>
        </p:nvSpPr>
        <p:spPr>
          <a:xfrm>
            <a:off x="1587" y="787323"/>
            <a:ext cx="1777556" cy="1028852"/>
          </a:xfrm>
          <a:custGeom>
            <a:avLst/>
            <a:gdLst>
              <a:gd name="connsiteX0" fmla="*/ 0 w 1777556"/>
              <a:gd name="connsiteY0" fmla="*/ 1028853 h 1028852"/>
              <a:gd name="connsiteX1" fmla="*/ 0 w 1777556"/>
              <a:gd name="connsiteY1" fmla="*/ 0 h 1028852"/>
              <a:gd name="connsiteX2" fmla="*/ 1256986 w 1777556"/>
              <a:gd name="connsiteY2" fmla="*/ 0 h 1028852"/>
              <a:gd name="connsiteX3" fmla="*/ 1777556 w 1777556"/>
              <a:gd name="connsiteY3" fmla="*/ 514426 h 1028852"/>
              <a:gd name="connsiteX4" fmla="*/ 1256986 w 1777556"/>
              <a:gd name="connsiteY4" fmla="*/ 1028853 h 1028852"/>
              <a:gd name="connsiteX5" fmla="*/ 0 w 1777556"/>
              <a:gd name="connsiteY5" fmla="*/ 1028853 h 1028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77555" h="1028852">
                <a:moveTo>
                  <a:pt x="0" y="1028853"/>
                </a:moveTo>
                <a:lnTo>
                  <a:pt x="0" y="0"/>
                </a:lnTo>
                <a:lnTo>
                  <a:pt x="1256986" y="0"/>
                </a:lnTo>
                <a:cubicBezTo>
                  <a:pt x="1544493" y="0"/>
                  <a:pt x="1777556" y="230316"/>
                  <a:pt x="1777556" y="514426"/>
                </a:cubicBezTo>
                <a:cubicBezTo>
                  <a:pt x="1777556" y="798537"/>
                  <a:pt x="1544493" y="1028853"/>
                  <a:pt x="1256986" y="1028853"/>
                </a:cubicBezTo>
                <a:lnTo>
                  <a:pt x="0" y="1028853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98" name="Image 2" descr=" "/>
          <p:cNvSpPr/>
          <p:nvPr/>
        </p:nvSpPr>
        <p:spPr>
          <a:xfrm>
            <a:off x="9993971" y="2552700"/>
            <a:ext cx="2196568" cy="4305300"/>
          </a:xfrm>
          <a:custGeom>
            <a:avLst/>
            <a:gdLst>
              <a:gd name="connsiteX0" fmla="*/ 2196569 w 2196568"/>
              <a:gd name="connsiteY0" fmla="*/ 4305300 h 4305300"/>
              <a:gd name="connsiteX1" fmla="*/ 0 w 2196568"/>
              <a:gd name="connsiteY1" fmla="*/ 4305300 h 4305300"/>
              <a:gd name="connsiteX2" fmla="*/ 0 w 2196568"/>
              <a:gd name="connsiteY2" fmla="*/ 1101725 h 4305300"/>
              <a:gd name="connsiteX3" fmla="*/ 1098284 w 2196568"/>
              <a:gd name="connsiteY3" fmla="*/ 0 h 4305300"/>
              <a:gd name="connsiteX4" fmla="*/ 2196569 w 2196568"/>
              <a:gd name="connsiteY4" fmla="*/ 1101725 h 4305300"/>
              <a:gd name="connsiteX5" fmla="*/ 2196569 w 2196568"/>
              <a:gd name="connsiteY5" fmla="*/ 4305300 h 430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568" h="4305300">
                <a:moveTo>
                  <a:pt x="2196569" y="4305300"/>
                </a:moveTo>
                <a:lnTo>
                  <a:pt x="0" y="4305300"/>
                </a:lnTo>
                <a:lnTo>
                  <a:pt x="0" y="1101725"/>
                </a:lnTo>
                <a:cubicBezTo>
                  <a:pt x="0" y="493259"/>
                  <a:pt x="491719" y="0"/>
                  <a:pt x="1098284" y="0"/>
                </a:cubicBezTo>
                <a:cubicBezTo>
                  <a:pt x="1704854" y="0"/>
                  <a:pt x="2196569" y="493259"/>
                  <a:pt x="2196569" y="1101725"/>
                </a:cubicBezTo>
                <a:lnTo>
                  <a:pt x="2196569" y="4305300"/>
                </a:lnTo>
                <a:close/>
              </a:path>
            </a:pathLst>
          </a:custGeom>
          <a:solidFill>
            <a:schemeClr val="accent1"/>
          </a:solidFill>
          <a:ln w="1264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9" name="标题 1"/>
          <p:cNvSpPr>
            <a:spLocks noGrp="1"/>
          </p:cNvSpPr>
          <p:nvPr>
            <p:ph type="title" hasCustomPrompt="1"/>
          </p:nvPr>
        </p:nvSpPr>
        <p:spPr>
          <a:xfrm>
            <a:off x="839788" y="590600"/>
            <a:ext cx="1149279" cy="1081088"/>
          </a:xfrm>
        </p:spPr>
        <p:txBody>
          <a:bodyPr wrap="square" anchor="b">
            <a:normAutofit/>
          </a:bodyPr>
          <a:lstStyle>
            <a:lvl1pPr>
              <a:defRPr sz="4200">
                <a:solidFill>
                  <a:schemeClr val="accent4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100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节标题"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标题 1"/>
          <p:cNvSpPr>
            <a:spLocks noGrp="1"/>
          </p:cNvSpPr>
          <p:nvPr>
            <p:ph type="title"/>
          </p:nvPr>
        </p:nvSpPr>
        <p:spPr>
          <a:xfrm>
            <a:off x="6236360" y="3516350"/>
            <a:ext cx="4544200" cy="2094400"/>
          </a:xfrm>
        </p:spPr>
        <p:txBody>
          <a:bodyPr wrap="square" anchor="t">
            <a:normAutofit/>
          </a:bodyPr>
          <a:lstStyle>
            <a:lvl1pPr algn="ctr">
              <a:defRPr sz="4200">
                <a:solidFill>
                  <a:schemeClr val="accent4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" name="日期占位符 4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8" name="Image 1" descr=" "/>
          <p:cNvSpPr/>
          <p:nvPr userDrawn="1"/>
        </p:nvSpPr>
        <p:spPr>
          <a:xfrm>
            <a:off x="2309495" y="0"/>
            <a:ext cx="2240280" cy="3617595"/>
          </a:xfrm>
          <a:custGeom>
            <a:avLst/>
            <a:gdLst>
              <a:gd name="connsiteX0" fmla="*/ 0 w 1612497"/>
              <a:gd name="connsiteY0" fmla="*/ 0 h 2603500"/>
              <a:gd name="connsiteX1" fmla="*/ 1612497 w 1612497"/>
              <a:gd name="connsiteY1" fmla="*/ 0 h 2603500"/>
              <a:gd name="connsiteX2" fmla="*/ 1612497 w 1612497"/>
              <a:gd name="connsiteY2" fmla="*/ 1797050 h 2603500"/>
              <a:gd name="connsiteX3" fmla="*/ 806249 w 1612497"/>
              <a:gd name="connsiteY3" fmla="*/ 2603500 h 2603500"/>
              <a:gd name="connsiteX4" fmla="*/ 806249 w 1612497"/>
              <a:gd name="connsiteY4" fmla="*/ 2603500 h 2603500"/>
              <a:gd name="connsiteX5" fmla="*/ 0 w 1612497"/>
              <a:gd name="connsiteY5" fmla="*/ 1797050 h 2603500"/>
              <a:gd name="connsiteX6" fmla="*/ 0 w 1612497"/>
              <a:gd name="connsiteY6" fmla="*/ 0 h 260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12497" h="2603500">
                <a:moveTo>
                  <a:pt x="0" y="0"/>
                </a:moveTo>
                <a:lnTo>
                  <a:pt x="1612497" y="0"/>
                </a:lnTo>
                <a:lnTo>
                  <a:pt x="1612497" y="1797050"/>
                </a:lnTo>
                <a:cubicBezTo>
                  <a:pt x="1612497" y="2242439"/>
                  <a:pt x="1251528" y="2603500"/>
                  <a:pt x="806249" y="2603500"/>
                </a:cubicBezTo>
                <a:lnTo>
                  <a:pt x="806249" y="2603500"/>
                </a:lnTo>
                <a:cubicBezTo>
                  <a:pt x="360970" y="2603500"/>
                  <a:pt x="0" y="2242439"/>
                  <a:pt x="0" y="179705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67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9" name="Image 2" descr=" "/>
          <p:cNvSpPr/>
          <p:nvPr userDrawn="1"/>
        </p:nvSpPr>
        <p:spPr>
          <a:xfrm>
            <a:off x="1721651" y="4241800"/>
            <a:ext cx="2450487" cy="2616200"/>
          </a:xfrm>
          <a:custGeom>
            <a:avLst/>
            <a:gdLst>
              <a:gd name="connsiteX0" fmla="*/ 0 w 2450487"/>
              <a:gd name="connsiteY0" fmla="*/ 1225550 h 2616200"/>
              <a:gd name="connsiteX1" fmla="*/ 1225244 w 2450487"/>
              <a:gd name="connsiteY1" fmla="*/ 0 h 2616200"/>
              <a:gd name="connsiteX2" fmla="*/ 1225244 w 2450487"/>
              <a:gd name="connsiteY2" fmla="*/ 0 h 2616200"/>
              <a:gd name="connsiteX3" fmla="*/ 2450487 w 2450487"/>
              <a:gd name="connsiteY3" fmla="*/ 1225550 h 2616200"/>
              <a:gd name="connsiteX4" fmla="*/ 2450487 w 2450487"/>
              <a:gd name="connsiteY4" fmla="*/ 2616200 h 2616200"/>
              <a:gd name="connsiteX5" fmla="*/ 0 w 2450487"/>
              <a:gd name="connsiteY5" fmla="*/ 2616200 h 2616200"/>
              <a:gd name="connsiteX6" fmla="*/ 0 w 2450487"/>
              <a:gd name="connsiteY6" fmla="*/ 1225550 h 261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50487" h="2616200">
                <a:moveTo>
                  <a:pt x="0" y="1225550"/>
                </a:moveTo>
                <a:cubicBezTo>
                  <a:pt x="0" y="548697"/>
                  <a:pt x="548560" y="0"/>
                  <a:pt x="1225244" y="0"/>
                </a:cubicBezTo>
                <a:lnTo>
                  <a:pt x="1225244" y="0"/>
                </a:lnTo>
                <a:cubicBezTo>
                  <a:pt x="1901921" y="0"/>
                  <a:pt x="2450487" y="548697"/>
                  <a:pt x="2450487" y="1225550"/>
                </a:cubicBezTo>
                <a:lnTo>
                  <a:pt x="2450487" y="2616200"/>
                </a:lnTo>
                <a:lnTo>
                  <a:pt x="0" y="2616200"/>
                </a:lnTo>
                <a:lnTo>
                  <a:pt x="0" y="1225550"/>
                </a:lnTo>
                <a:close/>
              </a:path>
            </a:pathLst>
          </a:custGeom>
          <a:solidFill>
            <a:schemeClr val="accent6"/>
          </a:solidFill>
          <a:ln w="1268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0" name="Shape 2"/>
          <p:cNvSpPr/>
          <p:nvPr userDrawn="1"/>
        </p:nvSpPr>
        <p:spPr>
          <a:xfrm>
            <a:off x="8038678" y="2292350"/>
            <a:ext cx="939565" cy="939800"/>
          </a:xfrm>
          <a:prstGeom prst="ellipse">
            <a:avLst/>
          </a:prstGeom>
          <a:solidFill>
            <a:schemeClr val="accent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1" name="节编号 3"/>
          <p:cNvSpPr>
            <a:spLocks noGrp="1"/>
          </p:cNvSpPr>
          <p:nvPr>
            <p:ph type="body" sz="quarter" idx="13" hasCustomPrompt="1"/>
          </p:nvPr>
        </p:nvSpPr>
        <p:spPr>
          <a:xfrm>
            <a:off x="6236360" y="2122450"/>
            <a:ext cx="4544200" cy="1224000"/>
          </a:xfrm>
        </p:spPr>
        <p:txBody>
          <a:bodyPr wrap="square" anchor="ctr">
            <a:normAutofit/>
          </a:bodyPr>
          <a:lstStyle>
            <a:lvl1pPr marL="0" indent="0" algn="ctr">
              <a:buNone/>
              <a:defRPr sz="3000" b="1">
                <a:solidFill>
                  <a:schemeClr val="lt1">
                    <a:lumMod val="100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标题 1"/>
          <p:cNvSpPr>
            <a:spLocks noGrp="1"/>
          </p:cNvSpPr>
          <p:nvPr>
            <p:ph type="title"/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4" name="内容占位符 2"/>
          <p:cNvSpPr>
            <a:spLocks noGrp="1"/>
          </p:cNvSpPr>
          <p:nvPr>
            <p:ph sz="half" idx="1"/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5" name="内容占位符 3"/>
          <p:cNvSpPr>
            <a:spLocks noGrp="1"/>
          </p:cNvSpPr>
          <p:nvPr>
            <p:ph sz="half" idx="2"/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6" name="日期占位符 4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标题 1"/>
          <p:cNvSpPr>
            <a:spLocks noGrp="1"/>
          </p:cNvSpPr>
          <p:nvPr>
            <p:ph type="title"/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21" name="文本占位符 2"/>
          <p:cNvSpPr>
            <a:spLocks noGrp="1"/>
          </p:cNvSpPr>
          <p:nvPr>
            <p:ph type="body" idx="1"/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22" name="内容占位符 3"/>
          <p:cNvSpPr>
            <a:spLocks noGrp="1"/>
          </p:cNvSpPr>
          <p:nvPr>
            <p:ph sz="half" idx="2"/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23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24" name="内容占位符 5"/>
          <p:cNvSpPr>
            <a:spLocks noGrp="1"/>
          </p:cNvSpPr>
          <p:nvPr>
            <p:ph sz="quarter" idx="4"/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25" name="日期占位符 6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6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7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标题 1"/>
          <p:cNvSpPr>
            <a:spLocks noGrp="1"/>
          </p:cNvSpPr>
          <p:nvPr>
            <p:ph type="title"/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30" name="日期占位符 2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空白">
    <p:spTree>
      <p:nvGrpSpPr>
        <p:cNvPr id="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日期占位符 1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仅内容"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内容占位符 1"/>
          <p:cNvSpPr>
            <a:spLocks noGrp="1"/>
          </p:cNvSpPr>
          <p:nvPr>
            <p:ph idx="1"/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39" name="日期占位符 2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副标题">
    <p:spTree>
      <p:nvGrpSpPr>
        <p:cNvPr id="1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标题 1"/>
          <p:cNvSpPr>
            <a:spLocks noGrp="1"/>
          </p:cNvSpPr>
          <p:nvPr>
            <p:ph type="title"/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44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145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末尾幻灯片"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矩形 13"/>
          <p:cNvSpPr/>
          <p:nvPr userDrawn="1"/>
        </p:nvSpPr>
        <p:spPr>
          <a:xfrm>
            <a:off x="1200" y="0"/>
            <a:ext cx="12189600" cy="6858000"/>
          </a:xfrm>
          <a:prstGeom prst="rect">
            <a:avLst/>
          </a:prstGeom>
          <a:solidFill>
            <a:schemeClr val="accent2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标题 1"/>
          <p:cNvSpPr>
            <a:spLocks noGrp="1"/>
          </p:cNvSpPr>
          <p:nvPr>
            <p:ph type="ctrTitle"/>
          </p:nvPr>
        </p:nvSpPr>
        <p:spPr>
          <a:xfrm>
            <a:off x="836976" y="1867085"/>
            <a:ext cx="10515000" cy="1800000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5600">
                <a:solidFill>
                  <a:schemeClr val="accent4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0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3" name="署名占位符 10"/>
          <p:cNvSpPr>
            <a:spLocks noGrp="1"/>
          </p:cNvSpPr>
          <p:nvPr>
            <p:ph type="body" sz="quarter" idx="17" hasCustomPrompt="1"/>
          </p:nvPr>
        </p:nvSpPr>
        <p:spPr>
          <a:xfrm>
            <a:off x="836976" y="3901761"/>
            <a:ext cx="10515000" cy="504000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/>
          </a:p>
        </p:txBody>
      </p:sp>
      <p:sp>
        <p:nvSpPr>
          <p:cNvPr id="94" name="Image 1" descr=" "/>
          <p:cNvSpPr/>
          <p:nvPr/>
        </p:nvSpPr>
        <p:spPr>
          <a:xfrm>
            <a:off x="0" y="2222500"/>
            <a:ext cx="12188952" cy="2417938"/>
          </a:xfrm>
          <a:custGeom>
            <a:avLst/>
            <a:gdLst>
              <a:gd name="connsiteX0" fmla="*/ 0 w 12188952"/>
              <a:gd name="connsiteY0" fmla="*/ 371489 h 2417938"/>
              <a:gd name="connsiteX1" fmla="*/ 0 w 12188952"/>
              <a:gd name="connsiteY1" fmla="*/ 45621 h 2417938"/>
              <a:gd name="connsiteX2" fmla="*/ 1469023 w 12188952"/>
              <a:gd name="connsiteY2" fmla="*/ 45621 h 2417938"/>
              <a:gd name="connsiteX3" fmla="*/ 1469023 w 12188952"/>
              <a:gd name="connsiteY3" fmla="*/ 371489 h 2417938"/>
              <a:gd name="connsiteX4" fmla="*/ 705461 w 12188952"/>
              <a:gd name="connsiteY4" fmla="*/ 371489 h 2417938"/>
              <a:gd name="connsiteX5" fmla="*/ 705461 w 12188952"/>
              <a:gd name="connsiteY5" fmla="*/ 2372317 h 2417938"/>
              <a:gd name="connsiteX6" fmla="*/ 323680 w 12188952"/>
              <a:gd name="connsiteY6" fmla="*/ 2372317 h 2417938"/>
              <a:gd name="connsiteX7" fmla="*/ 323680 w 12188952"/>
              <a:gd name="connsiteY7" fmla="*/ 371489 h 2417938"/>
              <a:gd name="connsiteX8" fmla="*/ 0 w 12188952"/>
              <a:gd name="connsiteY8" fmla="*/ 371489 h 2417938"/>
              <a:gd name="connsiteX9" fmla="*/ 12188952 w 12188952"/>
              <a:gd name="connsiteY9" fmla="*/ 376820 h 2417938"/>
              <a:gd name="connsiteX10" fmla="*/ 11886628 w 12188952"/>
              <a:gd name="connsiteY10" fmla="*/ 329126 h 2417938"/>
              <a:gd name="connsiteX11" fmla="*/ 11550530 w 12188952"/>
              <a:gd name="connsiteY11" fmla="*/ 391041 h 2417938"/>
              <a:gd name="connsiteX12" fmla="*/ 11406954 w 12188952"/>
              <a:gd name="connsiteY12" fmla="*/ 632183 h 2417938"/>
              <a:gd name="connsiteX13" fmla="*/ 11570109 w 12188952"/>
              <a:gd name="connsiteY13" fmla="*/ 870067 h 2417938"/>
              <a:gd name="connsiteX14" fmla="*/ 11968205 w 12188952"/>
              <a:gd name="connsiteY14" fmla="*/ 1013448 h 2417938"/>
              <a:gd name="connsiteX15" fmla="*/ 12188952 w 12188952"/>
              <a:gd name="connsiteY15" fmla="*/ 1084597 h 2417938"/>
              <a:gd name="connsiteX16" fmla="*/ 12188952 w 12188952"/>
              <a:gd name="connsiteY16" fmla="*/ 1436176 h 2417938"/>
              <a:gd name="connsiteX17" fmla="*/ 11827892 w 12188952"/>
              <a:gd name="connsiteY17" fmla="*/ 1319764 h 2417938"/>
              <a:gd name="connsiteX18" fmla="*/ 11292746 w 12188952"/>
              <a:gd name="connsiteY18" fmla="*/ 1124243 h 2417938"/>
              <a:gd name="connsiteX19" fmla="*/ 11025174 w 12188952"/>
              <a:gd name="connsiteY19" fmla="*/ 654994 h 2417938"/>
              <a:gd name="connsiteX20" fmla="*/ 11286220 w 12188952"/>
              <a:gd name="connsiteY20" fmla="*/ 169451 h 2417938"/>
              <a:gd name="connsiteX21" fmla="*/ 11906207 w 12188952"/>
              <a:gd name="connsiteY21" fmla="*/ 0 h 2417938"/>
              <a:gd name="connsiteX22" fmla="*/ 12188952 w 12188952"/>
              <a:gd name="connsiteY22" fmla="*/ 23422 h 2417938"/>
              <a:gd name="connsiteX23" fmla="*/ 12188952 w 12188952"/>
              <a:gd name="connsiteY23" fmla="*/ 376820 h 2417938"/>
              <a:gd name="connsiteX24" fmla="*/ 12188952 w 12188952"/>
              <a:gd name="connsiteY24" fmla="*/ 2057544 h 2417938"/>
              <a:gd name="connsiteX25" fmla="*/ 12188952 w 12188952"/>
              <a:gd name="connsiteY25" fmla="*/ 2402228 h 2417938"/>
              <a:gd name="connsiteX26" fmla="*/ 11945363 w 12188952"/>
              <a:gd name="connsiteY26" fmla="*/ 2417938 h 2417938"/>
              <a:gd name="connsiteX27" fmla="*/ 11273168 w 12188952"/>
              <a:gd name="connsiteY27" fmla="*/ 2251746 h 2417938"/>
              <a:gd name="connsiteX28" fmla="*/ 10953386 w 12188952"/>
              <a:gd name="connsiteY28" fmla="*/ 1603269 h 2417938"/>
              <a:gd name="connsiteX29" fmla="*/ 11331904 w 12188952"/>
              <a:gd name="connsiteY29" fmla="*/ 1603269 h 2417938"/>
              <a:gd name="connsiteX30" fmla="*/ 11521163 w 12188952"/>
              <a:gd name="connsiteY30" fmla="*/ 1981275 h 2417938"/>
              <a:gd name="connsiteX31" fmla="*/ 11945363 w 12188952"/>
              <a:gd name="connsiteY31" fmla="*/ 2082294 h 2417938"/>
              <a:gd name="connsiteX32" fmla="*/ 12188952 w 12188952"/>
              <a:gd name="connsiteY32" fmla="*/ 2057544 h 2417938"/>
              <a:gd name="connsiteX33" fmla="*/ 2128928 w 12188952"/>
              <a:gd name="connsiteY33" fmla="*/ 45621 h 2417938"/>
              <a:gd name="connsiteX34" fmla="*/ 1747147 w 12188952"/>
              <a:gd name="connsiteY34" fmla="*/ 45621 h 2417938"/>
              <a:gd name="connsiteX35" fmla="*/ 1747147 w 12188952"/>
              <a:gd name="connsiteY35" fmla="*/ 2372317 h 2417938"/>
              <a:gd name="connsiteX36" fmla="*/ 2128928 w 12188952"/>
              <a:gd name="connsiteY36" fmla="*/ 2372317 h 2417938"/>
              <a:gd name="connsiteX37" fmla="*/ 2128928 w 12188952"/>
              <a:gd name="connsiteY37" fmla="*/ 1342575 h 2417938"/>
              <a:gd name="connsiteX38" fmla="*/ 3310164 w 12188952"/>
              <a:gd name="connsiteY38" fmla="*/ 1342575 h 2417938"/>
              <a:gd name="connsiteX39" fmla="*/ 3310164 w 12188952"/>
              <a:gd name="connsiteY39" fmla="*/ 2372317 h 2417938"/>
              <a:gd name="connsiteX40" fmla="*/ 3691945 w 12188952"/>
              <a:gd name="connsiteY40" fmla="*/ 2372317 h 2417938"/>
              <a:gd name="connsiteX41" fmla="*/ 3691945 w 12188952"/>
              <a:gd name="connsiteY41" fmla="*/ 45621 h 2417938"/>
              <a:gd name="connsiteX42" fmla="*/ 3310164 w 12188952"/>
              <a:gd name="connsiteY42" fmla="*/ 45621 h 2417938"/>
              <a:gd name="connsiteX43" fmla="*/ 3310164 w 12188952"/>
              <a:gd name="connsiteY43" fmla="*/ 1016707 h 2417938"/>
              <a:gd name="connsiteX44" fmla="*/ 2128928 w 12188952"/>
              <a:gd name="connsiteY44" fmla="*/ 1016707 h 2417938"/>
              <a:gd name="connsiteX45" fmla="*/ 2128928 w 12188952"/>
              <a:gd name="connsiteY45" fmla="*/ 45621 h 2417938"/>
              <a:gd name="connsiteX46" fmla="*/ 4812262 w 12188952"/>
              <a:gd name="connsiteY46" fmla="*/ 45621 h 2417938"/>
              <a:gd name="connsiteX47" fmla="*/ 5246252 w 12188952"/>
              <a:gd name="connsiteY47" fmla="*/ 45621 h 2417938"/>
              <a:gd name="connsiteX48" fmla="*/ 6137074 w 12188952"/>
              <a:gd name="connsiteY48" fmla="*/ 2372317 h 2417938"/>
              <a:gd name="connsiteX49" fmla="*/ 5729189 w 12188952"/>
              <a:gd name="connsiteY49" fmla="*/ 2372317 h 2417938"/>
              <a:gd name="connsiteX50" fmla="*/ 5517088 w 12188952"/>
              <a:gd name="connsiteY50" fmla="*/ 1789014 h 2417938"/>
              <a:gd name="connsiteX51" fmla="*/ 4541426 w 12188952"/>
              <a:gd name="connsiteY51" fmla="*/ 1789014 h 2417938"/>
              <a:gd name="connsiteX52" fmla="*/ 4329325 w 12188952"/>
              <a:gd name="connsiteY52" fmla="*/ 2372317 h 2417938"/>
              <a:gd name="connsiteX53" fmla="*/ 3921440 w 12188952"/>
              <a:gd name="connsiteY53" fmla="*/ 2372317 h 2417938"/>
              <a:gd name="connsiteX54" fmla="*/ 4812262 w 12188952"/>
              <a:gd name="connsiteY54" fmla="*/ 45621 h 2417938"/>
              <a:gd name="connsiteX55" fmla="*/ 4655634 w 12188952"/>
              <a:gd name="connsiteY55" fmla="*/ 1476181 h 2417938"/>
              <a:gd name="connsiteX56" fmla="*/ 5402880 w 12188952"/>
              <a:gd name="connsiteY56" fmla="*/ 1476181 h 2417938"/>
              <a:gd name="connsiteX57" fmla="*/ 5037415 w 12188952"/>
              <a:gd name="connsiteY57" fmla="*/ 456215 h 2417938"/>
              <a:gd name="connsiteX58" fmla="*/ 5024362 w 12188952"/>
              <a:gd name="connsiteY58" fmla="*/ 456215 h 2417938"/>
              <a:gd name="connsiteX59" fmla="*/ 4655634 w 12188952"/>
              <a:gd name="connsiteY59" fmla="*/ 1476181 h 2417938"/>
              <a:gd name="connsiteX60" fmla="*/ 6746318 w 12188952"/>
              <a:gd name="connsiteY60" fmla="*/ 45621 h 2417938"/>
              <a:gd name="connsiteX61" fmla="*/ 6364538 w 12188952"/>
              <a:gd name="connsiteY61" fmla="*/ 45621 h 2417938"/>
              <a:gd name="connsiteX62" fmla="*/ 6364538 w 12188952"/>
              <a:gd name="connsiteY62" fmla="*/ 2372317 h 2417938"/>
              <a:gd name="connsiteX63" fmla="*/ 6746318 w 12188952"/>
              <a:gd name="connsiteY63" fmla="*/ 2372317 h 2417938"/>
              <a:gd name="connsiteX64" fmla="*/ 6746318 w 12188952"/>
              <a:gd name="connsiteY64" fmla="*/ 671287 h 2417938"/>
              <a:gd name="connsiteX65" fmla="*/ 6759371 w 12188952"/>
              <a:gd name="connsiteY65" fmla="*/ 671287 h 2417938"/>
              <a:gd name="connsiteX66" fmla="*/ 7924292 w 12188952"/>
              <a:gd name="connsiteY66" fmla="*/ 2372317 h 2417938"/>
              <a:gd name="connsiteX67" fmla="*/ 8296283 w 12188952"/>
              <a:gd name="connsiteY67" fmla="*/ 2372317 h 2417938"/>
              <a:gd name="connsiteX68" fmla="*/ 8296283 w 12188952"/>
              <a:gd name="connsiteY68" fmla="*/ 45621 h 2417938"/>
              <a:gd name="connsiteX69" fmla="*/ 7911240 w 12188952"/>
              <a:gd name="connsiteY69" fmla="*/ 45621 h 2417938"/>
              <a:gd name="connsiteX70" fmla="*/ 7911240 w 12188952"/>
              <a:gd name="connsiteY70" fmla="*/ 1723840 h 2417938"/>
              <a:gd name="connsiteX71" fmla="*/ 7898187 w 12188952"/>
              <a:gd name="connsiteY71" fmla="*/ 1723840 h 2417938"/>
              <a:gd name="connsiteX72" fmla="*/ 6746318 w 12188952"/>
              <a:gd name="connsiteY72" fmla="*/ 45621 h 2417938"/>
              <a:gd name="connsiteX73" fmla="*/ 10219624 w 12188952"/>
              <a:gd name="connsiteY73" fmla="*/ 45621 h 2417938"/>
              <a:gd name="connsiteX74" fmla="*/ 10702560 w 12188952"/>
              <a:gd name="connsiteY74" fmla="*/ 45621 h 2417938"/>
              <a:gd name="connsiteX75" fmla="*/ 9677952 w 12188952"/>
              <a:gd name="connsiteY75" fmla="*/ 1042777 h 2417938"/>
              <a:gd name="connsiteX76" fmla="*/ 10855925 w 12188952"/>
              <a:gd name="connsiteY76" fmla="*/ 2372317 h 2417938"/>
              <a:gd name="connsiteX77" fmla="*/ 10340358 w 12188952"/>
              <a:gd name="connsiteY77" fmla="*/ 2372317 h 2417938"/>
              <a:gd name="connsiteX78" fmla="*/ 9420168 w 12188952"/>
              <a:gd name="connsiteY78" fmla="*/ 1293695 h 2417938"/>
              <a:gd name="connsiteX79" fmla="*/ 9136280 w 12188952"/>
              <a:gd name="connsiteY79" fmla="*/ 1570682 h 2417938"/>
              <a:gd name="connsiteX80" fmla="*/ 9136280 w 12188952"/>
              <a:gd name="connsiteY80" fmla="*/ 2372317 h 2417938"/>
              <a:gd name="connsiteX81" fmla="*/ 8754499 w 12188952"/>
              <a:gd name="connsiteY81" fmla="*/ 2372317 h 2417938"/>
              <a:gd name="connsiteX82" fmla="*/ 8754499 w 12188952"/>
              <a:gd name="connsiteY82" fmla="*/ 45621 h 2417938"/>
              <a:gd name="connsiteX83" fmla="*/ 9136280 w 12188952"/>
              <a:gd name="connsiteY83" fmla="*/ 45621 h 2417938"/>
              <a:gd name="connsiteX84" fmla="*/ 9136280 w 12188952"/>
              <a:gd name="connsiteY84" fmla="*/ 1143796 h 2417938"/>
              <a:gd name="connsiteX85" fmla="*/ 10219624 w 12188952"/>
              <a:gd name="connsiteY85" fmla="*/ 45621 h 2417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12188952" h="2417938">
                <a:moveTo>
                  <a:pt x="0" y="371489"/>
                </a:moveTo>
                <a:lnTo>
                  <a:pt x="0" y="45621"/>
                </a:lnTo>
                <a:lnTo>
                  <a:pt x="1469023" y="45621"/>
                </a:lnTo>
                <a:lnTo>
                  <a:pt x="1469023" y="371489"/>
                </a:lnTo>
                <a:lnTo>
                  <a:pt x="705461" y="371489"/>
                </a:lnTo>
                <a:lnTo>
                  <a:pt x="705461" y="2372317"/>
                </a:lnTo>
                <a:lnTo>
                  <a:pt x="323680" y="2372317"/>
                </a:lnTo>
                <a:lnTo>
                  <a:pt x="323680" y="371489"/>
                </a:lnTo>
                <a:lnTo>
                  <a:pt x="0" y="371489"/>
                </a:lnTo>
                <a:close/>
                <a:moveTo>
                  <a:pt x="12188952" y="376820"/>
                </a:moveTo>
                <a:cubicBezTo>
                  <a:pt x="12109939" y="344221"/>
                  <a:pt x="12008352" y="329126"/>
                  <a:pt x="11886628" y="329126"/>
                </a:cubicBezTo>
                <a:cubicBezTo>
                  <a:pt x="11739789" y="329126"/>
                  <a:pt x="11628844" y="348678"/>
                  <a:pt x="11550530" y="391041"/>
                </a:cubicBezTo>
                <a:cubicBezTo>
                  <a:pt x="11452638" y="439921"/>
                  <a:pt x="11406954" y="521388"/>
                  <a:pt x="11406954" y="632183"/>
                </a:cubicBezTo>
                <a:cubicBezTo>
                  <a:pt x="11406954" y="729944"/>
                  <a:pt x="11459164" y="811410"/>
                  <a:pt x="11570109" y="870067"/>
                </a:cubicBezTo>
                <a:cubicBezTo>
                  <a:pt x="11619055" y="896136"/>
                  <a:pt x="11752841" y="945016"/>
                  <a:pt x="11968205" y="1013448"/>
                </a:cubicBezTo>
                <a:cubicBezTo>
                  <a:pt x="12049249" y="1038483"/>
                  <a:pt x="12122827" y="1062236"/>
                  <a:pt x="12188952" y="1084597"/>
                </a:cubicBezTo>
                <a:lnTo>
                  <a:pt x="12188952" y="1436176"/>
                </a:lnTo>
                <a:cubicBezTo>
                  <a:pt x="12111247" y="1408382"/>
                  <a:pt x="11991161" y="1369304"/>
                  <a:pt x="11827892" y="1319764"/>
                </a:cubicBezTo>
                <a:cubicBezTo>
                  <a:pt x="11540741" y="1228521"/>
                  <a:pt x="11361272" y="1163348"/>
                  <a:pt x="11292746" y="1124243"/>
                </a:cubicBezTo>
                <a:cubicBezTo>
                  <a:pt x="11113277" y="1016707"/>
                  <a:pt x="11025174" y="860291"/>
                  <a:pt x="11025174" y="654994"/>
                </a:cubicBezTo>
                <a:cubicBezTo>
                  <a:pt x="11025174" y="449697"/>
                  <a:pt x="11110014" y="286764"/>
                  <a:pt x="11286220" y="169451"/>
                </a:cubicBezTo>
                <a:cubicBezTo>
                  <a:pt x="11449362" y="55398"/>
                  <a:pt x="11654949" y="0"/>
                  <a:pt x="11906207" y="0"/>
                </a:cubicBezTo>
                <a:cubicBezTo>
                  <a:pt x="12008720" y="0"/>
                  <a:pt x="12103032" y="7751"/>
                  <a:pt x="12188952" y="23422"/>
                </a:cubicBezTo>
                <a:lnTo>
                  <a:pt x="12188952" y="376820"/>
                </a:lnTo>
                <a:close/>
                <a:moveTo>
                  <a:pt x="12188952" y="2057544"/>
                </a:moveTo>
                <a:lnTo>
                  <a:pt x="12188952" y="2402228"/>
                </a:lnTo>
                <a:cubicBezTo>
                  <a:pt x="12113380" y="2412651"/>
                  <a:pt x="12032159" y="2417938"/>
                  <a:pt x="11945363" y="2417938"/>
                </a:cubicBezTo>
                <a:cubicBezTo>
                  <a:pt x="11658212" y="2417938"/>
                  <a:pt x="11433059" y="2362541"/>
                  <a:pt x="11273168" y="2251746"/>
                </a:cubicBezTo>
                <a:cubicBezTo>
                  <a:pt x="11077383" y="2114881"/>
                  <a:pt x="10969689" y="1899808"/>
                  <a:pt x="10953386" y="1603269"/>
                </a:cubicBezTo>
                <a:lnTo>
                  <a:pt x="11331904" y="1603269"/>
                </a:lnTo>
                <a:cubicBezTo>
                  <a:pt x="11358008" y="1779238"/>
                  <a:pt x="11420007" y="1906326"/>
                  <a:pt x="11521163" y="1981275"/>
                </a:cubicBezTo>
                <a:cubicBezTo>
                  <a:pt x="11612529" y="2046449"/>
                  <a:pt x="11752841" y="2082294"/>
                  <a:pt x="11945363" y="2082294"/>
                </a:cubicBezTo>
                <a:cubicBezTo>
                  <a:pt x="12036260" y="2082294"/>
                  <a:pt x="12117787" y="2073875"/>
                  <a:pt x="12188952" y="2057544"/>
                </a:cubicBezTo>
                <a:close/>
                <a:moveTo>
                  <a:pt x="2128928" y="45621"/>
                </a:moveTo>
                <a:lnTo>
                  <a:pt x="1747147" y="45621"/>
                </a:lnTo>
                <a:lnTo>
                  <a:pt x="1747147" y="2372317"/>
                </a:lnTo>
                <a:lnTo>
                  <a:pt x="2128928" y="2372317"/>
                </a:lnTo>
                <a:lnTo>
                  <a:pt x="2128928" y="1342575"/>
                </a:lnTo>
                <a:lnTo>
                  <a:pt x="3310164" y="1342575"/>
                </a:lnTo>
                <a:lnTo>
                  <a:pt x="3310164" y="2372317"/>
                </a:lnTo>
                <a:lnTo>
                  <a:pt x="3691945" y="2372317"/>
                </a:lnTo>
                <a:lnTo>
                  <a:pt x="3691945" y="45621"/>
                </a:lnTo>
                <a:lnTo>
                  <a:pt x="3310164" y="45621"/>
                </a:lnTo>
                <a:lnTo>
                  <a:pt x="3310164" y="1016707"/>
                </a:lnTo>
                <a:lnTo>
                  <a:pt x="2128928" y="1016707"/>
                </a:lnTo>
                <a:lnTo>
                  <a:pt x="2128928" y="45621"/>
                </a:lnTo>
                <a:close/>
                <a:moveTo>
                  <a:pt x="4812262" y="45621"/>
                </a:moveTo>
                <a:lnTo>
                  <a:pt x="5246252" y="45621"/>
                </a:lnTo>
                <a:lnTo>
                  <a:pt x="6137074" y="2372317"/>
                </a:lnTo>
                <a:lnTo>
                  <a:pt x="5729189" y="2372317"/>
                </a:lnTo>
                <a:lnTo>
                  <a:pt x="5517088" y="1789014"/>
                </a:lnTo>
                <a:lnTo>
                  <a:pt x="4541426" y="1789014"/>
                </a:lnTo>
                <a:lnTo>
                  <a:pt x="4329325" y="2372317"/>
                </a:lnTo>
                <a:lnTo>
                  <a:pt x="3921440" y="2372317"/>
                </a:lnTo>
                <a:lnTo>
                  <a:pt x="4812262" y="45621"/>
                </a:lnTo>
                <a:close/>
                <a:moveTo>
                  <a:pt x="4655634" y="1476181"/>
                </a:moveTo>
                <a:lnTo>
                  <a:pt x="5402880" y="1476181"/>
                </a:lnTo>
                <a:lnTo>
                  <a:pt x="5037415" y="456215"/>
                </a:lnTo>
                <a:lnTo>
                  <a:pt x="5024362" y="456215"/>
                </a:lnTo>
                <a:lnTo>
                  <a:pt x="4655634" y="1476181"/>
                </a:lnTo>
                <a:close/>
                <a:moveTo>
                  <a:pt x="6746318" y="45621"/>
                </a:moveTo>
                <a:lnTo>
                  <a:pt x="6364538" y="45621"/>
                </a:lnTo>
                <a:lnTo>
                  <a:pt x="6364538" y="2372317"/>
                </a:lnTo>
                <a:lnTo>
                  <a:pt x="6746318" y="2372317"/>
                </a:lnTo>
                <a:lnTo>
                  <a:pt x="6746318" y="671287"/>
                </a:lnTo>
                <a:lnTo>
                  <a:pt x="6759371" y="671287"/>
                </a:lnTo>
                <a:lnTo>
                  <a:pt x="7924292" y="2372317"/>
                </a:lnTo>
                <a:lnTo>
                  <a:pt x="8296283" y="2372317"/>
                </a:lnTo>
                <a:lnTo>
                  <a:pt x="8296283" y="45621"/>
                </a:lnTo>
                <a:lnTo>
                  <a:pt x="7911240" y="45621"/>
                </a:lnTo>
                <a:lnTo>
                  <a:pt x="7911240" y="1723840"/>
                </a:lnTo>
                <a:lnTo>
                  <a:pt x="7898187" y="1723840"/>
                </a:lnTo>
                <a:lnTo>
                  <a:pt x="6746318" y="45621"/>
                </a:lnTo>
                <a:close/>
                <a:moveTo>
                  <a:pt x="10219624" y="45621"/>
                </a:moveTo>
                <a:lnTo>
                  <a:pt x="10702560" y="45621"/>
                </a:lnTo>
                <a:lnTo>
                  <a:pt x="9677952" y="1042777"/>
                </a:lnTo>
                <a:lnTo>
                  <a:pt x="10855925" y="2372317"/>
                </a:lnTo>
                <a:lnTo>
                  <a:pt x="10340358" y="2372317"/>
                </a:lnTo>
                <a:lnTo>
                  <a:pt x="9420168" y="1293695"/>
                </a:lnTo>
                <a:lnTo>
                  <a:pt x="9136280" y="1570682"/>
                </a:lnTo>
                <a:lnTo>
                  <a:pt x="9136280" y="2372317"/>
                </a:lnTo>
                <a:lnTo>
                  <a:pt x="8754499" y="2372317"/>
                </a:lnTo>
                <a:lnTo>
                  <a:pt x="8754499" y="45621"/>
                </a:lnTo>
                <a:lnTo>
                  <a:pt x="9136280" y="45621"/>
                </a:lnTo>
                <a:lnTo>
                  <a:pt x="9136280" y="1143796"/>
                </a:lnTo>
                <a:lnTo>
                  <a:pt x="10219624" y="45621"/>
                </a:lnTo>
                <a:close/>
              </a:path>
            </a:pathLst>
          </a:custGeom>
          <a:solidFill>
            <a:schemeClr val="accent4">
              <a:alpha val="12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标题 1"/>
          <p:cNvSpPr>
            <a:spLocks noGrp="1"/>
          </p:cNvSpPr>
          <p:nvPr>
            <p:ph type="title"/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0" name="日期占位符 2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Custom layout - 1">
    <p:spTree>
      <p:nvGrpSpPr>
        <p:cNvPr id="1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Picture 2"/>
          <p:cNvPicPr>
            <a:picLocks noChangeAspect="1"/>
          </p:cNvPicPr>
          <p:nvPr/>
        </p:nvPicPr>
        <p:blipFill>
          <a:blip r:embed="rId2"/>
          <a:srcRect t="5741"/>
          <a:stretch>
            <a:fillRect/>
          </a:stretch>
        </p:blipFill>
        <p:spPr>
          <a:xfrm>
            <a:off x="-6639" y="0"/>
            <a:ext cx="12205279" cy="6505811"/>
          </a:xfrm>
          <a:prstGeom prst="roundRect">
            <a:avLst>
              <a:gd name="adj" fmla="val 0"/>
            </a:avLst>
          </a:prstGeom>
          <a:ln w="12700">
            <a:noFill/>
            <a:prstDash val="solid"/>
          </a:ln>
        </p:spPr>
      </p:pic>
      <p:sp>
        <p:nvSpPr>
          <p:cNvPr id="155" name="AutoShape 3"/>
          <p:cNvSpPr/>
          <p:nvPr/>
        </p:nvSpPr>
        <p:spPr>
          <a:xfrm>
            <a:off x="0" y="6326859"/>
            <a:ext cx="8812221" cy="531141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6" name="AutoShape 4"/>
          <p:cNvSpPr/>
          <p:nvPr/>
        </p:nvSpPr>
        <p:spPr>
          <a:xfrm>
            <a:off x="665034" y="6459080"/>
            <a:ext cx="47498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0" i="0" u="none" strike="noStrike" kern="0">
                <a:solidFill>
                  <a:srgbClr val="FFFFFF"/>
                </a:solidFill>
                <a:latin typeface="Inter 18pt SemiBold"/>
                <a:ea typeface="Inter 18pt SemiBold"/>
                <a:cs typeface="Inter 18pt SemiBold"/>
                <a:sym typeface="Inter 18pt SemiBold"/>
              </a:rPr>
              <a:t>Your Neighbourhood Auto Care Expert</a:t>
            </a:r>
            <a:endParaRPr lang="en-US" sz="1700" b="0" i="0" u="none" strike="noStrike" kern="0">
              <a:solidFill>
                <a:srgbClr val="FFFFFF"/>
              </a:solidFill>
              <a:latin typeface="Inter 18pt SemiBold"/>
              <a:ea typeface="Inter 18pt SemiBold"/>
              <a:cs typeface="Inter 18pt SemiBold"/>
              <a:sym typeface="Inter 18pt SemiBold"/>
            </a:endParaRPr>
          </a:p>
        </p:txBody>
      </p:sp>
      <p:pic>
        <p:nvPicPr>
          <p:cNvPr id="157" name="Picture 5"/>
          <p:cNvPicPr>
            <a:picLocks noChangeAspect="1"/>
          </p:cNvPicPr>
          <p:nvPr/>
        </p:nvPicPr>
        <p:blipFill>
          <a:blip r:embed="rId3"/>
          <a:srcRect t="34862" b="34862"/>
          <a:stretch>
            <a:fillRect/>
          </a:stretch>
        </p:blipFill>
        <p:spPr>
          <a:xfrm>
            <a:off x="665034" y="651515"/>
            <a:ext cx="3830070" cy="1159551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158" name="AutoShape 6"/>
          <p:cNvSpPr/>
          <p:nvPr/>
        </p:nvSpPr>
        <p:spPr>
          <a:xfrm>
            <a:off x="8249792" y="6326859"/>
            <a:ext cx="2762864" cy="531141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9" name="AutoShape 7"/>
          <p:cNvSpPr/>
          <p:nvPr/>
        </p:nvSpPr>
        <p:spPr>
          <a:xfrm>
            <a:off x="8588375" y="6326859"/>
            <a:ext cx="3603625" cy="531141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0" name="AutoShape 8"/>
          <p:cNvSpPr/>
          <p:nvPr/>
        </p:nvSpPr>
        <p:spPr>
          <a:xfrm>
            <a:off x="8936037" y="6459080"/>
            <a:ext cx="29083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0" i="0" u="none" strike="noStrike" kern="0">
                <a:solidFill>
                  <a:srgbClr val="FFFFFF"/>
                </a:solidFill>
                <a:latin typeface="Inter 18pt SemiBold"/>
                <a:ea typeface="Inter 18pt SemiBold"/>
                <a:cs typeface="Inter 18pt SemiBold"/>
                <a:sym typeface="Inter 18pt SemiBold"/>
                <a:hlinkClick r:id="rId4" tooltip="https://www.servauto.com.my/"/>
              </a:rPr>
              <a:t>www.servauto.com.my</a:t>
            </a:r>
            <a:endParaRPr lang="en-US" sz="1700" b="0" i="0" u="none" strike="noStrike" kern="0">
              <a:solidFill>
                <a:srgbClr val="FFFFFF"/>
              </a:solidFill>
              <a:latin typeface="Inter 18pt SemiBold"/>
              <a:ea typeface="Inter 18pt SemiBold"/>
              <a:cs typeface="Inter 18pt SemiBold"/>
              <a:sym typeface="Inter 18pt SemiBold"/>
              <a:hlinkClick r:id="rId4" tooltip="https://www.servauto.com.my/"/>
            </a:endParaRPr>
          </a:p>
        </p:txBody>
      </p:sp>
      <p:sp>
        <p:nvSpPr>
          <p:cNvPr id="161" name="AutoShape 9"/>
          <p:cNvSpPr/>
          <p:nvPr>
            <p:ph type="body" sz="quarter" idx="1"/>
          </p:nvPr>
        </p:nvSpPr>
        <p:spPr>
          <a:xfrm>
            <a:off x="665034" y="2203868"/>
            <a:ext cx="5092700" cy="1701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/>
          <a:lstStyle>
            <a:lvl1pPr algn="l">
              <a:lnSpc>
                <a:spcPct val="108000"/>
              </a:lnSpc>
              <a:defRPr sz="5200" b="0" i="0" u="none" strike="noStrike" spc="0">
                <a:solidFill>
                  <a:srgbClr val="005AA9">
                    <a:alpha val="100000"/>
                  </a:srgbClr>
                </a:solidFill>
                <a:latin typeface="Inter 18pt ExtraBold"/>
              </a:defRPr>
            </a:lvl1pPr>
          </a:lstStyle>
          <a:p>
            <a:pPr algn="l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Custom layout - 2">
    <p:spTree>
      <p:nvGrpSpPr>
        <p:cNvPr id="1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AutoShape 2"/>
          <p:cNvSpPr/>
          <p:nvPr/>
        </p:nvSpPr>
        <p:spPr>
          <a:xfrm>
            <a:off x="0" y="0"/>
            <a:ext cx="8812221" cy="752382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4" name="AutoShape 3"/>
          <p:cNvSpPr/>
          <p:nvPr/>
        </p:nvSpPr>
        <p:spPr>
          <a:xfrm>
            <a:off x="8249792" y="0"/>
            <a:ext cx="2762864" cy="752382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5" name="AutoShape 4"/>
          <p:cNvSpPr/>
          <p:nvPr/>
        </p:nvSpPr>
        <p:spPr>
          <a:xfrm>
            <a:off x="8588375" y="0"/>
            <a:ext cx="3603625" cy="752382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66" name="Picture 5"/>
          <p:cNvPicPr>
            <a:picLocks noChangeAspect="1"/>
          </p:cNvPicPr>
          <p:nvPr/>
        </p:nvPicPr>
        <p:blipFill>
          <a:blip r:embed="rId2"/>
          <a:srcRect t="36978" b="45732"/>
          <a:stretch>
            <a:fillRect/>
          </a:stretch>
        </p:blipFill>
        <p:spPr>
          <a:xfrm>
            <a:off x="9364524" y="185691"/>
            <a:ext cx="2056810" cy="355600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167" name="AutoShape 6"/>
          <p:cNvSpPr/>
          <p:nvPr>
            <p:ph type="body" sz="quarter" idx="2"/>
          </p:nvPr>
        </p:nvSpPr>
        <p:spPr>
          <a:xfrm>
            <a:off x="665034" y="109491"/>
            <a:ext cx="6502400" cy="533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/>
          <a:lstStyle>
            <a:lvl1pPr algn="l">
              <a:lnSpc>
                <a:spcPct val="125000"/>
              </a:lnSpc>
              <a:defRPr sz="2800" b="1" i="0" u="none" strike="noStrike" spc="0">
                <a:solidFill>
                  <a:srgbClr val="FFFFFF">
                    <a:alpha val="100000"/>
                  </a:srgbClr>
                </a:solidFill>
                <a:latin typeface="Inter 18pt SemiBold"/>
              </a:defRPr>
            </a:lvl1pPr>
          </a:lstStyle>
          <a:p>
            <a:pPr algn="l"/>
          </a:p>
        </p:txBody>
      </p:sp>
      <p:sp>
        <p:nvSpPr>
          <p:cNvPr id="168" name="AutoShape 7"/>
          <p:cNvSpPr/>
          <p:nvPr>
            <p:ph type="body" sz="quarter" idx="3"/>
          </p:nvPr>
        </p:nvSpPr>
        <p:spPr>
          <a:xfrm>
            <a:off x="665034" y="1044754"/>
            <a:ext cx="7520490" cy="8509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/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005AA9">
                    <a:alpha val="100000"/>
                  </a:srgbClr>
                </a:solidFill>
                <a:latin typeface="Inter 18pt Medium"/>
              </a:defRPr>
            </a:lvl1pPr>
          </a:lstStyle>
          <a:p>
            <a:pPr algn="l"/>
          </a:p>
        </p:txBody>
      </p:sp>
      <p:sp>
        <p:nvSpPr>
          <p:cNvPr id="169" name="AutoShape 8"/>
          <p:cNvSpPr/>
          <p:nvPr>
            <p:ph type="body" sz="quarter" idx="4"/>
          </p:nvPr>
        </p:nvSpPr>
        <p:spPr>
          <a:xfrm>
            <a:off x="665034" y="2136019"/>
            <a:ext cx="6934200" cy="5842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/>
          <a:lstStyle>
            <a:lvl1pPr algn="l">
              <a:lnSpc>
                <a:spcPct val="125000"/>
              </a:lnSpc>
              <a:defRPr sz="3100" b="0" i="0" u="none" strike="noStrike" spc="0">
                <a:solidFill>
                  <a:srgbClr val="005AA9">
                    <a:alpha val="100000"/>
                  </a:srgbClr>
                </a:solidFill>
                <a:latin typeface="Inter 18pt Medium"/>
              </a:defRPr>
            </a:lvl1pPr>
          </a:lstStyle>
          <a:p>
            <a:pPr algn="l"/>
          </a:p>
        </p:txBody>
      </p:sp>
      <p:sp>
        <p:nvSpPr>
          <p:cNvPr id="170" name="AutoShape 9"/>
          <p:cNvSpPr/>
          <p:nvPr>
            <p:ph type="body" sz="quarter" idx="5"/>
          </p:nvPr>
        </p:nvSpPr>
        <p:spPr>
          <a:xfrm>
            <a:off x="665034" y="3012591"/>
            <a:ext cx="3603625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/>
          <a:lstStyle>
            <a:lvl1pPr algn="l">
              <a:lnSpc>
                <a:spcPct val="125000"/>
              </a:lnSpc>
              <a:defRPr sz="1700" b="0" i="0" u="none" strike="noStrike" spc="0">
                <a:solidFill>
                  <a:srgbClr val="1F2329">
                    <a:alpha val="100000"/>
                  </a:srgbClr>
                </a:solidFill>
                <a:latin typeface="Inter"/>
              </a:defRPr>
            </a:lvl1pPr>
          </a:lstStyle>
          <a:p>
            <a:pPr algn="l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hyperlink" Target="https://www.servauto.com.my/" TargetMode="Externa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"/>
          <p:cNvSpPr/>
          <p:nvPr userDrawn="1"/>
        </p:nvSpPr>
        <p:spPr>
          <a:xfrm>
            <a:off x="10641527" y="727732"/>
            <a:ext cx="736416" cy="177800"/>
          </a:xfrm>
          <a:prstGeom prst="rect">
            <a:avLst/>
          </a:prstGeo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3"/>
          <p:cNvSpPr/>
          <p:nvPr userDrawn="1"/>
        </p:nvSpPr>
        <p:spPr>
          <a:xfrm>
            <a:off x="10641527" y="727732"/>
            <a:ext cx="177756" cy="1778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4"/>
          <p:cNvSpPr/>
          <p:nvPr userDrawn="1"/>
        </p:nvSpPr>
        <p:spPr>
          <a:xfrm>
            <a:off x="10920858" y="727732"/>
            <a:ext cx="177756" cy="1778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5"/>
          <p:cNvSpPr/>
          <p:nvPr userDrawn="1"/>
        </p:nvSpPr>
        <p:spPr>
          <a:xfrm>
            <a:off x="11200188" y="727732"/>
            <a:ext cx="177756" cy="177800"/>
          </a:xfrm>
          <a:prstGeom prst="ellipse">
            <a:avLst/>
          </a:prstGeom>
          <a:solidFill>
            <a:schemeClr val="accent4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3" name="文本占位符 2"/>
          <p:cNvSpPr>
            <a:spLocks noGrp="1"/>
          </p:cNvSpPr>
          <p:nvPr>
            <p:ph type="body" idx="1"/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4" name="日期占位符 3"/>
          <p:cNvSpPr>
            <a:spLocks noGrp="1"/>
          </p:cNvSpPr>
          <p:nvPr>
            <p:ph type="dt" sz="half" idx="2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7" name="KSO_TEMPLATE" hidden="1"/>
          <p:cNvSpPr/>
          <p:nvPr userDrawn="1"/>
        </p:nvSpPr>
        <p:spPr>
          <a:xfrm flipH="1"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6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4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2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2"/>
          <p:cNvSpPr/>
          <p:nvPr userDrawn="1"/>
        </p:nvSpPr>
        <p:spPr>
          <a:xfrm>
            <a:off x="10641527" y="727732"/>
            <a:ext cx="736416" cy="177800"/>
          </a:xfrm>
          <a:prstGeom prst="rect">
            <a:avLst/>
          </a:prstGeo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3"/>
          <p:cNvSpPr/>
          <p:nvPr userDrawn="1"/>
        </p:nvSpPr>
        <p:spPr>
          <a:xfrm>
            <a:off x="10641527" y="727732"/>
            <a:ext cx="177756" cy="1778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4"/>
          <p:cNvSpPr/>
          <p:nvPr userDrawn="1"/>
        </p:nvSpPr>
        <p:spPr>
          <a:xfrm>
            <a:off x="10920858" y="727732"/>
            <a:ext cx="177756" cy="1778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5"/>
          <p:cNvSpPr/>
          <p:nvPr userDrawn="1"/>
        </p:nvSpPr>
        <p:spPr>
          <a:xfrm>
            <a:off x="11200188" y="727732"/>
            <a:ext cx="177756" cy="177800"/>
          </a:xfrm>
          <a:prstGeom prst="ellipse">
            <a:avLst/>
          </a:prstGeom>
          <a:solidFill>
            <a:schemeClr val="accent4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3" name="标题占位符 1"/>
          <p:cNvSpPr>
            <a:spLocks noGrp="1"/>
          </p:cNvSpPr>
          <p:nvPr>
            <p:ph type="title"/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4" name="文本占位符 2"/>
          <p:cNvSpPr>
            <a:spLocks noGrp="1"/>
          </p:cNvSpPr>
          <p:nvPr>
            <p:ph type="body" idx="1"/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5" name="日期占位符 3"/>
          <p:cNvSpPr>
            <a:spLocks noGrp="1"/>
          </p:cNvSpPr>
          <p:nvPr>
            <p:ph type="dt" sz="half" idx="2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2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8" name="KSO_TEMPLATE" hidden="1"/>
          <p:cNvSpPr/>
          <p:nvPr userDrawn="1"/>
        </p:nvSpPr>
        <p:spPr>
          <a:xfrm flipH="1"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ransition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6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4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2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AutoShape 1"/>
          <p:cNvSpPr/>
          <p:nvPr/>
        </p:nvSpPr>
        <p:spPr>
          <a:xfrm>
            <a:off x="0" y="6326859"/>
            <a:ext cx="8812221" cy="531141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" name="AutoShape 2"/>
          <p:cNvSpPr/>
          <p:nvPr/>
        </p:nvSpPr>
        <p:spPr>
          <a:xfrm>
            <a:off x="665034" y="6459080"/>
            <a:ext cx="47498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0" i="0" u="none" strike="noStrike" kern="0">
                <a:solidFill>
                  <a:srgbClr val="FFFFFF"/>
                </a:solidFill>
                <a:latin typeface="Inter 18pt SemiBold"/>
                <a:ea typeface="Inter 18pt SemiBold"/>
                <a:cs typeface="Inter 18pt SemiBold"/>
                <a:sym typeface="Inter 18pt SemiBold"/>
              </a:rPr>
              <a:t>Your Neighbourhood Auto Care Expert</a:t>
            </a:r>
            <a:endParaRPr lang="en-US" sz="1700" b="0" i="0" u="none" strike="noStrike" kern="0">
              <a:solidFill>
                <a:srgbClr val="FFFFFF"/>
              </a:solidFill>
              <a:latin typeface="Inter 18pt SemiBold"/>
              <a:ea typeface="Inter 18pt SemiBold"/>
              <a:cs typeface="Inter 18pt SemiBold"/>
              <a:sym typeface="Inter 18pt SemiBold"/>
            </a:endParaRPr>
          </a:p>
        </p:txBody>
      </p:sp>
      <p:sp>
        <p:nvSpPr>
          <p:cNvPr id="32" name="AutoShape 3"/>
          <p:cNvSpPr/>
          <p:nvPr/>
        </p:nvSpPr>
        <p:spPr>
          <a:xfrm>
            <a:off x="8249792" y="6326859"/>
            <a:ext cx="2762864" cy="531141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3" name="AutoShape 4"/>
          <p:cNvSpPr/>
          <p:nvPr/>
        </p:nvSpPr>
        <p:spPr>
          <a:xfrm>
            <a:off x="8588375" y="6326859"/>
            <a:ext cx="3603625" cy="531141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4" name="AutoShape 6"/>
          <p:cNvSpPr/>
          <p:nvPr/>
        </p:nvSpPr>
        <p:spPr>
          <a:xfrm>
            <a:off x="8936037" y="6459080"/>
            <a:ext cx="29083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0" i="0" u="none" strike="noStrike" kern="0">
                <a:solidFill>
                  <a:srgbClr val="FFFFFF"/>
                </a:solidFill>
                <a:latin typeface="Inter 18pt SemiBold"/>
                <a:ea typeface="Inter 18pt SemiBold"/>
                <a:cs typeface="Inter 18pt SemiBold"/>
                <a:sym typeface="Inter 18pt SemiBold"/>
                <a:hlinkClick r:id="rId3" tooltip="https://www.servauto.com.my/"/>
              </a:rPr>
              <a:t>www.servauto.com.my</a:t>
            </a:r>
            <a:endParaRPr lang="en-US" sz="1700" b="0" i="0" u="none" strike="noStrike" kern="0">
              <a:solidFill>
                <a:srgbClr val="FFFFFF"/>
              </a:solidFill>
              <a:latin typeface="Inter 18pt SemiBold"/>
              <a:ea typeface="Inter 18pt SemiBold"/>
              <a:cs typeface="Inter 18pt SemiBold"/>
              <a:sym typeface="Inter 18pt SemiBold"/>
              <a:hlinkClick r:id="rId3" tooltip="https://www.servauto.com.my/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6.jpeg"/><Relationship Id="rId3" Type="http://schemas.openxmlformats.org/officeDocument/2006/relationships/image" Target="../media/image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6.jpeg"/><Relationship Id="rId3" Type="http://schemas.openxmlformats.org/officeDocument/2006/relationships/image" Target="../media/image4.png"/><Relationship Id="rId4" Type="http://schemas.openxmlformats.org/officeDocument/2006/relationships/image" Target="../media/image37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6.jpeg"/><Relationship Id="rId3" Type="http://schemas.openxmlformats.org/officeDocument/2006/relationships/image" Target="../media/image4.png"/><Relationship Id="rId4" Type="http://schemas.openxmlformats.org/officeDocument/2006/relationships/image" Target="../media/image38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6.jpeg"/><Relationship Id="rId3" Type="http://schemas.openxmlformats.org/officeDocument/2006/relationships/image" Target="../media/image4.png"/><Relationship Id="rId4" Type="http://schemas.openxmlformats.org/officeDocument/2006/relationships/image" Target="../media/image39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6.jpeg"/><Relationship Id="rId3" Type="http://schemas.openxmlformats.org/officeDocument/2006/relationships/image" Target="../media/image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6.jpeg"/><Relationship Id="rId3" Type="http://schemas.openxmlformats.org/officeDocument/2006/relationships/image" Target="../media/image4.png"/><Relationship Id="rId4" Type="http://schemas.openxmlformats.org/officeDocument/2006/relationships/image" Target="../media/image40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6.jpeg"/><Relationship Id="rId3" Type="http://schemas.openxmlformats.org/officeDocument/2006/relationships/image" Target="../media/image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6.jpeg"/><Relationship Id="rId3" Type="http://schemas.openxmlformats.org/officeDocument/2006/relationships/image" Target="../media/image4.png"/><Relationship Id="rId4" Type="http://schemas.openxmlformats.org/officeDocument/2006/relationships/image" Target="../media/image4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6.jpeg"/><Relationship Id="rId3" Type="http://schemas.openxmlformats.org/officeDocument/2006/relationships/image" Target="../media/image4.png"/><Relationship Id="rId4" Type="http://schemas.openxmlformats.org/officeDocument/2006/relationships/image" Target="../media/image4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6.jpeg"/><Relationship Id="rId3" Type="http://schemas.openxmlformats.org/officeDocument/2006/relationships/image" Target="../media/image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6.jpeg"/><Relationship Id="rId3" Type="http://schemas.openxmlformats.org/officeDocument/2006/relationships/image" Target="../media/image4.png"/><Relationship Id="rId4" Type="http://schemas.openxmlformats.org/officeDocument/2006/relationships/image" Target="../media/image43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6.jpeg"/><Relationship Id="rId3" Type="http://schemas.openxmlformats.org/officeDocument/2006/relationships/image" Target="../media/image4.png"/><Relationship Id="rId4" Type="http://schemas.openxmlformats.org/officeDocument/2006/relationships/image" Target="../media/image44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6.jpeg"/><Relationship Id="rId3" Type="http://schemas.openxmlformats.org/officeDocument/2006/relationships/image" Target="../media/image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6.jpeg"/><Relationship Id="rId3" Type="http://schemas.openxmlformats.org/officeDocument/2006/relationships/image" Target="../media/image4.png"/><Relationship Id="rId4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36.png"/><Relationship Id="rId3" Type="http://schemas.openxmlformats.org/officeDocument/2006/relationships/image" Target="../media/image4.png"/></Relationships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91" name="Text Placeholder 1"/>
          <p:cNvSpPr>
            <a:spLocks noGrp="1"/>
          </p:cNvSpPr>
          <p:nvPr>
            <p:ph type="body" sz="quarter" idx="1"/>
          </p:nvPr>
        </p:nvSpPr>
        <p:spPr>
          <a:xfrm>
            <a:off x="667512" y="1755648"/>
            <a:ext cx="7315200" cy="3383280"/>
          </a:xfrm>
        </p:spPr>
        <p:txBody>
          <a:bodyPr wrap="square"/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00" b="1">
                <a:solidFill>
                  <a:srgbClr val="0B1D35"/>
                </a:solidFill>
                <a:latin typeface="微软雅黑" panose="020B0604020202020204"/>
                <a:ea typeface="微软雅黑" panose="020B0503020204020204" charset="-122"/>
                <a:cs typeface="微软雅黑"/>
              </a:rPr>
              <a:t>ServAuto 服务顾问培训</a:t>
            </a:r>
            <a:endParaRPr lang="en-US" sz="4000" b="1"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sz="1900" b="0">
                <a:solidFill>
                  <a:srgbClr val="6E8299"/>
                </a:solidFill>
                <a:latin typeface="微软雅黑" panose="020B0604020202020204"/>
                <a:ea typeface="微软雅黑" panose="020B0503020204020204" charset="-122"/>
                <a:cs typeface="微软雅黑"/>
              </a:rPr>
              <a:t>Service Advisor Training</a:t>
            </a:r>
            <a:endParaRPr lang="zh-CN" sz="26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sz="2200" b="1">
                <a:solidFill>
                  <a:srgbClr val="ED1C29"/>
                </a:solidFill>
                <a:latin typeface="微软雅黑" panose="020B0604020202020204"/>
                <a:ea typeface="微软雅黑" panose="020B0503020204020204" charset="-122"/>
                <a:cs typeface="微软雅黑"/>
              </a:rPr>
              <a:t>高级班 · 进阶培训</a:t>
            </a:r>
            <a:endParaRPr lang="zh-CN" sz="26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sz="1400" b="0">
                <a:solidFill>
                  <a:srgbClr val="6E8299"/>
                </a:solidFill>
                <a:latin typeface="微软雅黑" panose="020B0604020202020204"/>
                <a:ea typeface="微软雅黑" panose="020B0503020204020204" charset="-122"/>
                <a:cs typeface="微软雅黑"/>
              </a:rPr>
              <a:t>Advanced Course</a:t>
            </a:r>
            <a:endParaRPr lang="zh-CN" sz="26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sz="1150" b="0">
                <a:solidFill>
                  <a:srgbClr val="1F2329"/>
                </a:solidFill>
                <a:latin typeface="微软雅黑" panose="020B0604020202020204"/>
                <a:ea typeface="微软雅黑" panose="020B0503020204020204" charset="-122"/>
                <a:cs typeface="微软雅黑"/>
              </a:rPr>
              <a:t>客户资产 · 回访召回 · 套餐匹配 · 客诉处理 · 内容策划</a:t>
            </a:r>
            <a:endParaRPr lang="zh-CN" sz="26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sz="950" b="0">
                <a:solidFill>
                  <a:srgbClr val="6E8299"/>
                </a:solidFill>
                <a:latin typeface="微软雅黑" panose="020B0604020202020204"/>
                <a:ea typeface="微软雅黑" panose="020B0503020204020204" charset="-122"/>
                <a:cs typeface="微软雅黑"/>
              </a:rPr>
              <a:t>Customer Assets · Follow-up · Package Matching · Complaints · Content Strategy</a:t>
            </a:r>
            <a:endParaRPr lang="zh-CN" sz="26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sz="950" b="0">
                <a:solidFill>
                  <a:srgbClr val="6E8299"/>
                </a:solidFill>
                <a:latin typeface="微软雅黑" panose="020B0604020202020204"/>
                <a:ea typeface="微软雅黑" panose="020B0503020204020204" charset="-122"/>
                <a:cs typeface="微软雅黑"/>
              </a:rPr>
              <a:t>适用对象：已通过初级认证的服务顾问  |  Audience: Certified junior service advisors</a:t>
            </a:r>
            <a:endParaRPr lang="zh-CN" sz="26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93" name="Text Placeholder 1"/>
          <p:cNvSpPr>
            <a:spLocks noGrp="1"/>
          </p:cNvSpPr>
          <p:nvPr>
            <p:ph type="body" sz="quarter" idx="2"/>
          </p:nvPr>
        </p:nvSpPr>
        <p:spPr/>
        <p:txBody>
          <a:bodyPr wrap="square"/>
          <a:lstStyle/>
          <a:p>
            <a:pPr>
              <a:lnSpc>
                <a:spcPts val="281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>
                <a:latin typeface="Arial" panose="020B0604020202020204"/>
                <a:ea typeface="微软雅黑" panose="020B0503020204020204" charset="-122"/>
              </a:rPr>
              <a:t>Overview</a:t>
            </a:r>
            <a:r>
              <a:rPr lang="zh-CN" sz="1800">
                <a:latin typeface="Arial" panose="020B0604020202020204"/>
                <a:ea typeface="微软雅黑" panose="020B0503020204020204" charset="-122"/>
              </a:rPr>
              <a:t> | 内容导航</a:t>
            </a:r>
            <a:endParaRPr lang="zh-CN" sz="1800"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94" name="Text Placeholder 2"/>
          <p:cNvSpPr>
            <a:spLocks noGrp="1"/>
          </p:cNvSpPr>
          <p:nvPr>
            <p:ph type="body" sz="quarter" idx="3"/>
          </p:nvPr>
        </p:nvSpPr>
        <p:spPr>
          <a:xfrm>
            <a:off x="667512" y="1005840"/>
            <a:ext cx="7516368" cy="896112"/>
          </a:xfrm>
        </p:spPr>
        <p:txBody>
          <a:bodyPr wrap="square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b="1">
                <a:solidFill>
                  <a:srgbClr val="0B1D35"/>
                </a:solidFill>
                <a:latin typeface="微软雅黑" panose="020B0604020202020204"/>
                <a:ea typeface="微软雅黑" panose="020B0503020204020204" charset="-122"/>
                <a:cs typeface="微软雅黑"/>
              </a:rPr>
              <a:t>Table of Contents</a:t>
            </a:r>
            <a:endParaRPr lang="en-US" sz="3900" b="1"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04000"/>
              </a:lnSpc>
              <a:spcBef>
                <a:spcPts val="200"/>
              </a:spcBef>
              <a:spcAft>
                <a:spcPts val="0"/>
              </a:spcAft>
            </a:pPr>
            <a:r>
              <a:rPr lang="zh-CN" sz="1600" b="0">
                <a:solidFill>
                  <a:srgbClr val="6E8299"/>
                </a:solidFill>
                <a:latin typeface="微软雅黑" panose="020B0604020202020204"/>
                <a:ea typeface="微软雅黑" panose="020B0503020204020204" charset="-122"/>
                <a:cs typeface="微软雅黑"/>
              </a:rPr>
              <a:t>目录</a:t>
            </a:r>
            <a:endParaRPr lang="zh-CN" sz="255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95" name="Rectangle 3"/>
          <p:cNvSpPr/>
          <p:nvPr/>
        </p:nvSpPr>
        <p:spPr>
          <a:xfrm>
            <a:off x="667512" y="2304288"/>
            <a:ext cx="5138928" cy="841248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Rectangle 4"/>
          <p:cNvSpPr/>
          <p:nvPr/>
        </p:nvSpPr>
        <p:spPr>
          <a:xfrm>
            <a:off x="667512" y="2304288"/>
            <a:ext cx="54864" cy="841248"/>
          </a:xfrm>
          <a:prstGeom prst="rect">
            <a:avLst/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TextBox 5"/>
          <p:cNvSpPr txBox="1"/>
          <p:nvPr/>
        </p:nvSpPr>
        <p:spPr>
          <a:xfrm>
            <a:off x="923544" y="2304288"/>
            <a:ext cx="73152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ED1C29"/>
                </a:solidFill>
                <a:latin typeface="微软雅黑" panose="020B0604020202020204"/>
                <a:ea typeface="微软雅黑" panose="020B0503020204020204" charset="-122"/>
                <a:cs typeface="微软雅黑"/>
              </a:rPr>
              <a:t>S1</a:t>
            </a:r>
            <a:endParaRPr sz="1800" b="1">
              <a:solidFill>
                <a:srgbClr val="ED1C2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98" name="TextBox 6"/>
          <p:cNvSpPr txBox="1"/>
          <p:nvPr/>
        </p:nvSpPr>
        <p:spPr>
          <a:xfrm>
            <a:off x="1719072" y="2304288"/>
            <a:ext cx="3941063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0B1D35"/>
                </a:solidFill>
                <a:latin typeface="微软雅黑" panose="020B0604020202020204"/>
                <a:ea typeface="微软雅黑" panose="020B0503020204020204" charset="-122"/>
                <a:cs typeface="微软雅黑"/>
              </a:rPr>
              <a:t>Customer File Classification</a:t>
            </a:r>
            <a:endParaRPr lang="en-US" sz="1400" b="1">
              <a:solidFill>
                <a:srgbClr val="1F2329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0">
                <a:solidFill>
                  <a:srgbClr val="6E8299"/>
                </a:solidFill>
                <a:latin typeface="微软雅黑" panose="020B0604020202020204"/>
                <a:ea typeface="微软雅黑" panose="020B0503020204020204" charset="-122"/>
                <a:cs typeface="微软雅黑"/>
              </a:rPr>
              <a:t>客户档案分类与分层经营</a:t>
            </a:r>
            <a:endParaRPr lang="zh-CN" sz="9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99" name="Rectangle 7"/>
          <p:cNvSpPr/>
          <p:nvPr/>
        </p:nvSpPr>
        <p:spPr>
          <a:xfrm>
            <a:off x="667512" y="3255264"/>
            <a:ext cx="5138928" cy="841248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Rectangle 8"/>
          <p:cNvSpPr/>
          <p:nvPr/>
        </p:nvSpPr>
        <p:spPr>
          <a:xfrm>
            <a:off x="667512" y="3255264"/>
            <a:ext cx="54864" cy="841248"/>
          </a:xfrm>
          <a:prstGeom prst="rect">
            <a:avLst/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TextBox 9"/>
          <p:cNvSpPr txBox="1"/>
          <p:nvPr/>
        </p:nvSpPr>
        <p:spPr>
          <a:xfrm>
            <a:off x="923544" y="3255264"/>
            <a:ext cx="73152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ED1C29"/>
                </a:solidFill>
                <a:latin typeface="微软雅黑" panose="020B0604020202020204"/>
                <a:ea typeface="微软雅黑" panose="020B0503020204020204" charset="-122"/>
                <a:cs typeface="微软雅黑"/>
              </a:rPr>
              <a:t>S2</a:t>
            </a:r>
            <a:endParaRPr sz="1800" b="1">
              <a:solidFill>
                <a:srgbClr val="ED1C2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02" name="TextBox 10"/>
          <p:cNvSpPr txBox="1"/>
          <p:nvPr/>
        </p:nvSpPr>
        <p:spPr>
          <a:xfrm>
            <a:off x="1719072" y="3255264"/>
            <a:ext cx="3941063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0B1D35"/>
                </a:solidFill>
                <a:latin typeface="微软雅黑" panose="020B0604020202020204"/>
                <a:ea typeface="微软雅黑" panose="020B0503020204020204" charset="-122"/>
                <a:cs typeface="微软雅黑"/>
              </a:rPr>
              <a:t>Follow-up, Recall &amp; Satisfaction</a:t>
            </a:r>
            <a:endParaRPr lang="en-US" sz="1400" b="1">
              <a:solidFill>
                <a:srgbClr val="1F2329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0">
                <a:solidFill>
                  <a:srgbClr val="6E8299"/>
                </a:solidFill>
                <a:latin typeface="微软雅黑" panose="020B0604020202020204"/>
                <a:ea typeface="微软雅黑" panose="020B0503020204020204" charset="-122"/>
                <a:cs typeface="微软雅黑"/>
              </a:rPr>
              <a:t>回访、召回与满意度管理</a:t>
            </a:r>
            <a:endParaRPr lang="zh-CN" sz="9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03" name="Rectangle 11"/>
          <p:cNvSpPr/>
          <p:nvPr/>
        </p:nvSpPr>
        <p:spPr>
          <a:xfrm>
            <a:off x="667512" y="4206240"/>
            <a:ext cx="5138928" cy="841248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Rectangle 12"/>
          <p:cNvSpPr/>
          <p:nvPr/>
        </p:nvSpPr>
        <p:spPr>
          <a:xfrm>
            <a:off x="667512" y="4206240"/>
            <a:ext cx="54864" cy="841248"/>
          </a:xfrm>
          <a:prstGeom prst="rect">
            <a:avLst/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TextBox 13"/>
          <p:cNvSpPr txBox="1"/>
          <p:nvPr/>
        </p:nvSpPr>
        <p:spPr>
          <a:xfrm>
            <a:off x="923544" y="4206240"/>
            <a:ext cx="73152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ED1C29"/>
                </a:solidFill>
                <a:latin typeface="微软雅黑" panose="020B0604020202020204"/>
                <a:ea typeface="微软雅黑" panose="020B0503020204020204" charset="-122"/>
                <a:cs typeface="微软雅黑"/>
              </a:rPr>
              <a:t>S3</a:t>
            </a:r>
            <a:endParaRPr sz="1800" b="1">
              <a:solidFill>
                <a:srgbClr val="ED1C2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06" name="TextBox 14"/>
          <p:cNvSpPr txBox="1"/>
          <p:nvPr/>
        </p:nvSpPr>
        <p:spPr>
          <a:xfrm>
            <a:off x="1719072" y="4206240"/>
            <a:ext cx="3941063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0B1D35"/>
                </a:solidFill>
                <a:latin typeface="微软雅黑" panose="020B0604020202020204"/>
                <a:ea typeface="微软雅黑" panose="020B0503020204020204" charset="-122"/>
                <a:cs typeface="微软雅黑"/>
              </a:rPr>
              <a:t>Advanced Package Selling</a:t>
            </a:r>
            <a:endParaRPr lang="en-US" sz="1400" b="1">
              <a:solidFill>
                <a:srgbClr val="1F2329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0">
                <a:solidFill>
                  <a:srgbClr val="6E8299"/>
                </a:solidFill>
                <a:latin typeface="微软雅黑" panose="020B0604020202020204"/>
                <a:ea typeface="微软雅黑" panose="020B0503020204020204" charset="-122"/>
                <a:cs typeface="微软雅黑"/>
              </a:rPr>
              <a:t>套餐销售进阶与客户匹配</a:t>
            </a:r>
            <a:endParaRPr lang="zh-CN" sz="9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07" name="Rectangle 15"/>
          <p:cNvSpPr/>
          <p:nvPr/>
        </p:nvSpPr>
        <p:spPr>
          <a:xfrm>
            <a:off x="667512" y="5157216"/>
            <a:ext cx="5138928" cy="841248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Rectangle 16"/>
          <p:cNvSpPr/>
          <p:nvPr/>
        </p:nvSpPr>
        <p:spPr>
          <a:xfrm>
            <a:off x="667512" y="5157216"/>
            <a:ext cx="54864" cy="841248"/>
          </a:xfrm>
          <a:prstGeom prst="rect">
            <a:avLst/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TextBox 17"/>
          <p:cNvSpPr txBox="1"/>
          <p:nvPr/>
        </p:nvSpPr>
        <p:spPr>
          <a:xfrm>
            <a:off x="923544" y="5157216"/>
            <a:ext cx="73152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ED1C29"/>
                </a:solidFill>
                <a:latin typeface="微软雅黑" panose="020B0604020202020204"/>
                <a:ea typeface="微软雅黑" panose="020B0503020204020204" charset="-122"/>
                <a:cs typeface="微软雅黑"/>
              </a:rPr>
              <a:t>S4</a:t>
            </a:r>
            <a:endParaRPr sz="1800" b="1">
              <a:solidFill>
                <a:srgbClr val="ED1C2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10" name="TextBox 18"/>
          <p:cNvSpPr txBox="1"/>
          <p:nvPr/>
        </p:nvSpPr>
        <p:spPr>
          <a:xfrm>
            <a:off x="1719072" y="5157216"/>
            <a:ext cx="3941063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0B1D35"/>
                </a:solidFill>
                <a:latin typeface="微软雅黑" panose="020B0604020202020204"/>
                <a:ea typeface="微软雅黑" panose="020B0503020204020204" charset="-122"/>
                <a:cs typeface="微软雅黑"/>
              </a:rPr>
              <a:t>Complaint Escalation</a:t>
            </a:r>
            <a:endParaRPr lang="en-US" sz="1400" b="1">
              <a:solidFill>
                <a:srgbClr val="1F2329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0">
                <a:solidFill>
                  <a:srgbClr val="6E8299"/>
                </a:solidFill>
                <a:latin typeface="微软雅黑" panose="020B0604020202020204"/>
                <a:ea typeface="微软雅黑" panose="020B0503020204020204" charset="-122"/>
                <a:cs typeface="微软雅黑"/>
              </a:rPr>
              <a:t>客诉升级处理与危机应对</a:t>
            </a:r>
            <a:endParaRPr lang="zh-CN" sz="9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11" name="Rectangle 19"/>
          <p:cNvSpPr/>
          <p:nvPr/>
        </p:nvSpPr>
        <p:spPr>
          <a:xfrm>
            <a:off x="6355080" y="2304288"/>
            <a:ext cx="5138928" cy="841248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Rectangle 20"/>
          <p:cNvSpPr/>
          <p:nvPr/>
        </p:nvSpPr>
        <p:spPr>
          <a:xfrm>
            <a:off x="6355080" y="2304288"/>
            <a:ext cx="54864" cy="841248"/>
          </a:xfrm>
          <a:prstGeom prst="rect">
            <a:avLst/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TextBox 21"/>
          <p:cNvSpPr txBox="1"/>
          <p:nvPr/>
        </p:nvSpPr>
        <p:spPr>
          <a:xfrm>
            <a:off x="6611112" y="2304288"/>
            <a:ext cx="73152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ED1C29"/>
                </a:solidFill>
                <a:latin typeface="微软雅黑" panose="020B0604020202020204"/>
                <a:ea typeface="微软雅黑" panose="020B0503020204020204" charset="-122"/>
                <a:cs typeface="微软雅黑"/>
              </a:rPr>
              <a:t>S5</a:t>
            </a:r>
            <a:endParaRPr sz="1800" b="1">
              <a:solidFill>
                <a:srgbClr val="ED1C2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14" name="TextBox 22"/>
          <p:cNvSpPr txBox="1"/>
          <p:nvPr/>
        </p:nvSpPr>
        <p:spPr>
          <a:xfrm>
            <a:off x="7406640" y="2304288"/>
            <a:ext cx="3941063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0B1D35"/>
                </a:solidFill>
                <a:latin typeface="微软雅黑" panose="020B0604020202020204"/>
                <a:ea typeface="微软雅黑" panose="020B0503020204020204" charset="-122"/>
                <a:cs typeface="微软雅黑"/>
              </a:rPr>
              <a:t>Content &amp; Live Streaming Strategy</a:t>
            </a:r>
            <a:endParaRPr lang="en-US" sz="1400" b="1">
              <a:solidFill>
                <a:srgbClr val="1F2329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0">
                <a:solidFill>
                  <a:srgbClr val="6E8299"/>
                </a:solidFill>
                <a:latin typeface="微软雅黑" panose="020B0604020202020204"/>
                <a:ea typeface="微软雅黑" panose="020B0503020204020204" charset="-122"/>
                <a:cs typeface="微软雅黑"/>
              </a:rPr>
              <a:t>内容运营与直播进阶</a:t>
            </a:r>
            <a:endParaRPr lang="zh-CN" sz="9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15" name="Rectangle 23"/>
          <p:cNvSpPr/>
          <p:nvPr/>
        </p:nvSpPr>
        <p:spPr>
          <a:xfrm>
            <a:off x="6355080" y="3255264"/>
            <a:ext cx="5138928" cy="841248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Rectangle 24"/>
          <p:cNvSpPr/>
          <p:nvPr/>
        </p:nvSpPr>
        <p:spPr>
          <a:xfrm>
            <a:off x="6355080" y="3255264"/>
            <a:ext cx="54864" cy="841248"/>
          </a:xfrm>
          <a:prstGeom prst="rect">
            <a:avLst/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TextBox 25"/>
          <p:cNvSpPr txBox="1"/>
          <p:nvPr/>
        </p:nvSpPr>
        <p:spPr>
          <a:xfrm>
            <a:off x="6611112" y="3255264"/>
            <a:ext cx="73152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ED1C29"/>
                </a:solidFill>
                <a:latin typeface="微软雅黑" panose="020B0604020202020204"/>
                <a:ea typeface="微软雅黑" panose="020B0503020204020204" charset="-122"/>
                <a:cs typeface="微软雅黑"/>
              </a:rPr>
              <a:t>S6</a:t>
            </a:r>
            <a:endParaRPr sz="1800" b="1">
              <a:solidFill>
                <a:srgbClr val="ED1C2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18" name="TextBox 26"/>
          <p:cNvSpPr txBox="1"/>
          <p:nvPr/>
        </p:nvSpPr>
        <p:spPr>
          <a:xfrm>
            <a:off x="7406640" y="3255264"/>
            <a:ext cx="3941063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0B1D35"/>
                </a:solidFill>
                <a:latin typeface="微软雅黑"/>
                <a:ea typeface="微软雅黑"/>
                <a:cs typeface="微软雅黑"/>
                <a:sym typeface="+mn-ea"/>
              </a:rPr>
              <a:t>Data Analysis &amp; Self-Management</a:t>
            </a:r>
            <a:endParaRPr lang="en-US" sz="1400" b="1">
              <a:solidFill>
                <a:srgbClr val="1F2329"/>
              </a:solidFill>
              <a:sym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0">
                <a:solidFill>
                  <a:srgbClr val="6E8299"/>
                </a:solidFill>
                <a:latin typeface="微软雅黑" panose="020B0604020202020204"/>
                <a:ea typeface="微软雅黑" panose="020B0503020204020204" charset="-122"/>
                <a:cs typeface="微软雅黑"/>
                <a:sym typeface="+mn-ea"/>
              </a:rPr>
              <a:t>数据分析与自我经营</a:t>
            </a:r>
            <a:endParaRPr lang="zh-CN" sz="900">
              <a:solidFill>
                <a:srgbClr val="6E8299"/>
              </a:solidFill>
              <a:latin typeface="Arial" panose="020B0604020202020204"/>
              <a:ea typeface="微软雅黑" panose="020B0503020204020204" charset="-122"/>
              <a:sym typeface="+mn-ea"/>
            </a:endParaRPr>
          </a:p>
        </p:txBody>
      </p:sp>
      <p:sp>
        <p:nvSpPr>
          <p:cNvPr id="515" name="Rectangle 23"/>
          <p:cNvSpPr/>
          <p:nvPr/>
        </p:nvSpPr>
        <p:spPr>
          <a:xfrm>
            <a:off x="6355080" y="4206240"/>
            <a:ext cx="5138928" cy="841248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Rectangle 24"/>
          <p:cNvSpPr/>
          <p:nvPr/>
        </p:nvSpPr>
        <p:spPr>
          <a:xfrm>
            <a:off x="6355080" y="4206240"/>
            <a:ext cx="54864" cy="841248"/>
          </a:xfrm>
          <a:prstGeom prst="rect">
            <a:avLst/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TextBox 25"/>
          <p:cNvSpPr txBox="1"/>
          <p:nvPr/>
        </p:nvSpPr>
        <p:spPr>
          <a:xfrm>
            <a:off x="6611112" y="4206240"/>
            <a:ext cx="73152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ED1C29"/>
                </a:solidFill>
                <a:latin typeface="微软雅黑" panose="020B0604020202020204"/>
                <a:ea typeface="微软雅黑" panose="020B0503020204020204" charset="-122"/>
                <a:cs typeface="微软雅黑"/>
              </a:rPr>
              <a:t>S7</a:t>
            </a:r>
            <a:endParaRPr sz="1800" b="1">
              <a:solidFill>
                <a:srgbClr val="ED1C2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18" name="TextBox 26"/>
          <p:cNvSpPr txBox="1"/>
          <p:nvPr/>
        </p:nvSpPr>
        <p:spPr>
          <a:xfrm>
            <a:off x="7406640" y="4206240"/>
            <a:ext cx="3941063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0B1D35"/>
                </a:solidFill>
                <a:latin typeface="微软雅黑"/>
                <a:ea typeface="微软雅黑"/>
                <a:cs typeface="微软雅黑"/>
                <a:sym typeface="+mn-ea"/>
              </a:rPr>
              <a:t>Coaching &amp; Collaboration</a:t>
            </a:r>
            <a:endParaRPr lang="en-US" sz="1400" b="1">
              <a:solidFill>
                <a:srgbClr val="1F2329"/>
              </a:solidFill>
              <a:sym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0">
                <a:solidFill>
                  <a:srgbClr val="6E8299"/>
                </a:solidFill>
                <a:latin typeface="微软雅黑" panose="020B0604020202020204"/>
                <a:ea typeface="微软雅黑" panose="020B0503020204020204" charset="-122"/>
                <a:cs typeface="微软雅黑"/>
                <a:sym typeface="+mn-ea"/>
              </a:rPr>
              <a:t>带教与跨岗协同</a:t>
            </a:r>
            <a:endParaRPr lang="zh-CN" sz="900">
              <a:solidFill>
                <a:srgbClr val="6E8299"/>
              </a:solidFill>
              <a:latin typeface="Arial" panose="020B0604020202020204"/>
              <a:ea typeface="微软雅黑" panose="020B0503020204020204" charset="-122"/>
              <a:sym typeface="+mn-ea"/>
            </a:endParaRPr>
          </a:p>
        </p:txBody>
      </p:sp>
      <p:sp>
        <p:nvSpPr>
          <p:cNvPr id="515" name="Rectangle 23"/>
          <p:cNvSpPr/>
          <p:nvPr/>
        </p:nvSpPr>
        <p:spPr>
          <a:xfrm>
            <a:off x="6355080" y="5157216"/>
            <a:ext cx="5138928" cy="841248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Rectangle 24"/>
          <p:cNvSpPr/>
          <p:nvPr/>
        </p:nvSpPr>
        <p:spPr>
          <a:xfrm>
            <a:off x="6355080" y="5157216"/>
            <a:ext cx="54864" cy="841248"/>
          </a:xfrm>
          <a:prstGeom prst="rect">
            <a:avLst/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TextBox 25"/>
          <p:cNvSpPr txBox="1"/>
          <p:nvPr/>
        </p:nvSpPr>
        <p:spPr>
          <a:xfrm>
            <a:off x="6611112" y="5157216"/>
            <a:ext cx="73152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ED1C29"/>
                </a:solidFill>
                <a:latin typeface="微软雅黑" panose="020B0604020202020204"/>
                <a:ea typeface="微软雅黑" panose="020B0503020204020204" charset="-122"/>
                <a:cs typeface="微软雅黑"/>
              </a:rPr>
              <a:t>CERT</a:t>
            </a:r>
            <a:endParaRPr sz="1800" b="1">
              <a:solidFill>
                <a:srgbClr val="ED1C2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18" name="TextBox 26"/>
          <p:cNvSpPr txBox="1"/>
          <p:nvPr/>
        </p:nvSpPr>
        <p:spPr>
          <a:xfrm>
            <a:off x="7406640" y="5157216"/>
            <a:ext cx="3941063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0B1D35"/>
                </a:solidFill>
                <a:latin typeface="微软雅黑"/>
                <a:ea typeface="微软雅黑"/>
                <a:cs typeface="微软雅黑"/>
                <a:sym typeface="+mn-ea"/>
              </a:rPr>
              <a:t>Certification</a:t>
            </a:r>
            <a:endParaRPr lang="en-US" sz="1400" b="1">
              <a:solidFill>
                <a:srgbClr val="1F2329"/>
              </a:solidFill>
              <a:sym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0">
                <a:solidFill>
                  <a:srgbClr val="6E8299"/>
                </a:solidFill>
                <a:latin typeface="微软雅黑" panose="020B0604020202020204"/>
                <a:ea typeface="微软雅黑" panose="020B0503020204020204" charset="-122"/>
                <a:cs typeface="微软雅黑"/>
                <a:sym typeface="+mn-ea"/>
              </a:rPr>
              <a:t>高级认证标准</a:t>
            </a:r>
            <a:endParaRPr lang="zh-CN" sz="900">
              <a:solidFill>
                <a:srgbClr val="6E8299"/>
              </a:solidFill>
              <a:latin typeface="Arial" panose="020B0604020202020204"/>
              <a:ea typeface="微软雅黑" panose="020B0503020204020204" charset="-122"/>
              <a:sym typeface="+mn-ea"/>
            </a:endParaRPr>
          </a:p>
        </p:txBody>
      </p:sp>
      <p:sp>
        <p:nvSpPr>
          <p:cNvPr id="519" name="Rectangle 518"/>
          <p:cNvSpPr/>
          <p:nvPr/>
        </p:nvSpPr>
        <p:spPr>
          <a:xfrm>
            <a:off x="667512" y="2029968"/>
            <a:ext cx="10826496" cy="2743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9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2" name="Picture 5"/>
          <p:cNvPicPr>
            <a:picLocks noChangeAspect="1"/>
          </p:cNvPicPr>
          <p:nvPr/>
        </p:nvPicPr>
        <p:blipFill>
          <a:blip r:embed="rId3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83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85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3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3" tooltip="https://www.servauto.com.my/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67512" y="82296"/>
            <a:ext cx="8412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ServAuto 服务顾问培训 · 进阶 | Service Advisor Training - Advanced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2648" y="585216"/>
            <a:ext cx="10972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From Doing to Owning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2648" y="1060704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从接待好这一单，到经营好这批客户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12648" y="1682496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640080" y="1792224"/>
            <a:ext cx="5394960" cy="438912"/>
          </a:xfrm>
          <a:prstGeom prst="roundRect">
            <a:avLst>
              <a:gd name="adj" fmla="val 16000"/>
            </a:avLst>
          </a:prstGeom>
          <a:solidFill>
            <a:srgbClr val="6E82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86384" y="1819656"/>
            <a:ext cx="51023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初级 · JUNIOR  |  Do the Job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40080" y="2340864"/>
            <a:ext cx="5394960" cy="1219200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40080" y="2340864"/>
            <a:ext cx="45720" cy="121920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95528" y="2377440"/>
            <a:ext cx="3657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07007" y="2377440"/>
            <a:ext cx="46817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每一次到店  /  Each Visit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207007" y="2697479"/>
            <a:ext cx="4663440" cy="8168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把每一次到店接待好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85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Handle each visit well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40080" y="3633216"/>
            <a:ext cx="5394960" cy="1219200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40080" y="3633216"/>
            <a:ext cx="45720" cy="121920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95528" y="3669792"/>
            <a:ext cx="3657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07007" y="3669792"/>
            <a:ext cx="46817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标准流程  /  Standard Process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207007" y="3989832"/>
            <a:ext cx="4663440" cy="8168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执行标准流程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85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Follow the standard process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40080" y="4925568"/>
            <a:ext cx="5394960" cy="1219200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40080" y="4925568"/>
            <a:ext cx="45720" cy="121920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95528" y="4962144"/>
            <a:ext cx="3657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207007" y="4962144"/>
            <a:ext cx="46817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内容配额  /  Content Quota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207007" y="5282184"/>
            <a:ext cx="4663440" cy="8168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按配额完成内容产出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85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Deliver content to quota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309360" y="1792224"/>
            <a:ext cx="5394960" cy="438912"/>
          </a:xfrm>
          <a:prstGeom prst="roundRect">
            <a:avLst>
              <a:gd name="adj" fmla="val 16000"/>
            </a:avLst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455664" y="1819656"/>
            <a:ext cx="51023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高级 · ADVANCED  |  Own the Pool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309360" y="2340864"/>
            <a:ext cx="5394960" cy="1219200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309360" y="2340864"/>
            <a:ext cx="45720" cy="121920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464808" y="2377440"/>
            <a:ext cx="3657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876288" y="2377440"/>
            <a:ext cx="46817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客户资产  /  Customer Pool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876288" y="2697479"/>
            <a:ext cx="4663440" cy="8168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经营一批客户资产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85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Own a pool of customers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309360" y="3633216"/>
            <a:ext cx="5394960" cy="1219200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309360" y="3633216"/>
            <a:ext cx="45720" cy="121920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464808" y="3669792"/>
            <a:ext cx="3657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76288" y="3669792"/>
            <a:ext cx="46817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修补流程  /  Fix the Gaps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76288" y="3989832"/>
            <a:ext cx="4663440" cy="8168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发现并修补流程漏洞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85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Spot and fix what the process misses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309360" y="4925568"/>
            <a:ext cx="5394960" cy="1219200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309360" y="4925568"/>
            <a:ext cx="45720" cy="121920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464808" y="4962144"/>
            <a:ext cx="3657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76288" y="4962144"/>
            <a:ext cx="46817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选题策划  /  Topic Planning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876288" y="5282184"/>
            <a:ext cx="4663440" cy="8168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策划能带来到店的内容选题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85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Plan the topics that bring people in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8" name="图片 3" descr="/data/temp/31c83b1c-a9fe-11f0-88da-76af0e732785.jpg@base@tag=imgScale&amp;m=1&amp;w=932&amp;h=1264&amp;q=9531c83b1c-a9fe-11f0-88da-76af0e732785"/>
          <p:cNvPicPr>
            <a:picLocks noChangeAspect="1"/>
          </p:cNvPicPr>
          <p:nvPr/>
        </p:nvPicPr>
        <p:blipFill>
          <a:blip r:embed="rId4"/>
          <a:srcRect l="13078" r="13157"/>
          <a:stretch>
            <a:fillRect/>
          </a:stretch>
        </p:blipFill>
        <p:spPr>
          <a:xfrm>
            <a:off x="7626096" y="1847088"/>
            <a:ext cx="3968496" cy="4315968"/>
          </a:xfrm>
          <a:prstGeom prst="round1Rect">
            <a:avLst>
              <a:gd name="adj" fmla="val 39814"/>
            </a:avLst>
          </a:prstGeom>
          <a:solidFill>
            <a:schemeClr val="accent1">
              <a:alpha val="15000"/>
            </a:schemeClr>
          </a:solidFill>
          <a:ln w="9525" cap="flat" cmpd="sng" algn="ctr">
            <a:solidFill>
              <a:schemeClr val="accent1">
                <a:lumMod val="10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03200" dist="38100" dir="2700000" algn="tl" rotWithShape="0">
              <a:schemeClr val="accent1">
                <a:alpha val="60000"/>
              </a:schemeClr>
            </a:outerShdw>
          </a:effectLst>
        </p:spPr>
      </p:pic>
      <p:sp>
        <p:nvSpPr>
          <p:cNvPr id="79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2" name="Picture 5"/>
          <p:cNvPicPr>
            <a:picLocks noChangeAspect="1"/>
          </p:cNvPicPr>
          <p:nvPr/>
        </p:nvPicPr>
        <p:blipFill>
          <a:blip r:embed="rId3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83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85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3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3" tooltip="https://www.servauto.com.my/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67512" y="82296"/>
            <a:ext cx="8412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ServAuto 服务顾问培训 · 进阶 | Service Advisor Training - Advanced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2648" y="585216"/>
            <a:ext cx="10972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Where Advanced Advisors Win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2648" y="1060704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高级阶段的能力重心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2648" y="1371600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高级权重，合计 100% · Advanced weights, total 100%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2648" y="1682496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21792" y="1977390"/>
            <a:ext cx="2788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Image &amp; Etiquette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形象礼仪与门店规范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529584" y="2041398"/>
            <a:ext cx="2615184" cy="219456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3529584" y="2041398"/>
            <a:ext cx="594359" cy="219456"/>
          </a:xfrm>
          <a:prstGeom prst="roundRect">
            <a:avLst>
              <a:gd name="adj" fmla="val 50000"/>
            </a:avLst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272783" y="1959102"/>
            <a:ext cx="7132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005AA9"/>
                </a:solidFill>
                <a:latin typeface="微软雅黑"/>
                <a:ea typeface="微软雅黑"/>
                <a:cs typeface="微软雅黑"/>
              </a:rPr>
              <a:t>5%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21792" y="2512314"/>
            <a:ext cx="2788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Reception &amp; Process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接待服务与流程执行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529584" y="2576322"/>
            <a:ext cx="2615184" cy="219456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3529584" y="2576322"/>
            <a:ext cx="1783080" cy="219456"/>
          </a:xfrm>
          <a:prstGeom prst="roundRect">
            <a:avLst>
              <a:gd name="adj" fmla="val 50000"/>
            </a:avLst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272783" y="2494026"/>
            <a:ext cx="7132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005AA9"/>
                </a:solidFill>
                <a:latin typeface="微软雅黑"/>
                <a:ea typeface="微软雅黑"/>
                <a:cs typeface="微软雅黑"/>
              </a:rPr>
              <a:t>15%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21792" y="3047238"/>
            <a:ext cx="2788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Product &amp; Package Knowledge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产品、项目与套餐知识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529584" y="3111246"/>
            <a:ext cx="2615184" cy="219456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3529584" y="3111246"/>
            <a:ext cx="950976" cy="219456"/>
          </a:xfrm>
          <a:prstGeom prst="roundRect">
            <a:avLst>
              <a:gd name="adj" fmla="val 50000"/>
            </a:avLst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272783" y="3028950"/>
            <a:ext cx="7132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005AA9"/>
                </a:solidFill>
                <a:latin typeface="微软雅黑"/>
                <a:ea typeface="微软雅黑"/>
                <a:cs typeface="微软雅黑"/>
              </a:rPr>
              <a:t>8%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21792" y="3582162"/>
            <a:ext cx="2788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Package Selling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套餐销售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3529584" y="3646170"/>
            <a:ext cx="2615184" cy="219456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3529584" y="3646170"/>
            <a:ext cx="1426464" cy="219456"/>
          </a:xfrm>
          <a:prstGeom prst="roundRect">
            <a:avLst>
              <a:gd name="adj" fmla="val 50000"/>
            </a:avLst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272783" y="3563874"/>
            <a:ext cx="7132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005AA9"/>
                </a:solidFill>
                <a:latin typeface="微软雅黑"/>
                <a:ea typeface="微软雅黑"/>
                <a:cs typeface="微软雅黑"/>
              </a:rPr>
              <a:t>12%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21792" y="4117086"/>
            <a:ext cx="2788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Cashiering &amp; Goods Receipt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收银结算与货品签收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529584" y="4181094"/>
            <a:ext cx="2615184" cy="219456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3529584" y="4181094"/>
            <a:ext cx="950976" cy="219456"/>
          </a:xfrm>
          <a:prstGeom prst="roundRect">
            <a:avLst>
              <a:gd name="adj" fmla="val 50000"/>
            </a:avLst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272783" y="4098798"/>
            <a:ext cx="7132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005AA9"/>
                </a:solidFill>
                <a:latin typeface="微软雅黑"/>
                <a:ea typeface="微软雅黑"/>
                <a:cs typeface="微软雅黑"/>
              </a:rPr>
              <a:t>8%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21792" y="4652009"/>
            <a:ext cx="2788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Content &amp; Live Streaming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内容生产与直播出镜（硬性）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3529584" y="4716018"/>
            <a:ext cx="2615184" cy="219456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3529584" y="4716018"/>
            <a:ext cx="2377439" cy="219456"/>
          </a:xfrm>
          <a:prstGeom prst="roundRect">
            <a:avLst>
              <a:gd name="adj" fmla="val 50000"/>
            </a:avLst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272783" y="4633722"/>
            <a:ext cx="7132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005AA9"/>
                </a:solidFill>
                <a:latin typeface="微软雅黑"/>
                <a:ea typeface="微软雅黑"/>
                <a:cs typeface="微软雅黑"/>
              </a:rPr>
              <a:t>20%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21792" y="5186934"/>
            <a:ext cx="2788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Customer Asset &amp; Follow-up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客户资产经营与回访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3529584" y="5250942"/>
            <a:ext cx="2615184" cy="219456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3529584" y="5250942"/>
            <a:ext cx="2615184" cy="219456"/>
          </a:xfrm>
          <a:prstGeom prst="roundRect">
            <a:avLst>
              <a:gd name="adj" fmla="val 50000"/>
            </a:avLst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272783" y="5168646"/>
            <a:ext cx="7132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22%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21792" y="5721857"/>
            <a:ext cx="2788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Data &amp; Coaching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数据看板与带教协同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529584" y="5785866"/>
            <a:ext cx="2615184" cy="219456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3529584" y="5785866"/>
            <a:ext cx="1188719" cy="219456"/>
          </a:xfrm>
          <a:prstGeom prst="roundRect">
            <a:avLst>
              <a:gd name="adj" fmla="val 50000"/>
            </a:avLst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272783" y="5703570"/>
            <a:ext cx="7132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005AA9"/>
                </a:solidFill>
                <a:latin typeface="微软雅黑"/>
                <a:ea typeface="微软雅黑"/>
                <a:cs typeface="微软雅黑"/>
              </a:rPr>
              <a:t>10%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8" name="图片 3" descr="/data/temp/31c83b1c-a9fe-11f0-88da-76af0e732785.jpg@base@tag=imgScale&amp;m=1&amp;w=932&amp;h=1264&amp;q=9531c83b1c-a9fe-11f0-88da-76af0e732785"/>
          <p:cNvPicPr>
            <a:picLocks noChangeAspect="1"/>
          </p:cNvPicPr>
          <p:nvPr/>
        </p:nvPicPr>
        <p:blipFill>
          <a:blip r:embed="rId4"/>
          <a:srcRect l="13078" r="13157"/>
          <a:stretch>
            <a:fillRect/>
          </a:stretch>
        </p:blipFill>
        <p:spPr>
          <a:xfrm>
            <a:off x="8244205" y="1773936"/>
            <a:ext cx="3358515" cy="4480560"/>
          </a:xfrm>
          <a:prstGeom prst="round1Rect">
            <a:avLst>
              <a:gd name="adj" fmla="val 39814"/>
            </a:avLst>
          </a:prstGeom>
          <a:solidFill>
            <a:schemeClr val="accent1">
              <a:alpha val="15000"/>
            </a:schemeClr>
          </a:solidFill>
          <a:ln w="9525" cap="flat" cmpd="sng" algn="ctr">
            <a:solidFill>
              <a:schemeClr val="accent1">
                <a:lumMod val="10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03200" dist="38100" dir="2700000" algn="tl" rotWithShape="0">
              <a:schemeClr val="accent1">
                <a:alpha val="60000"/>
              </a:schemeClr>
            </a:outerShdw>
          </a:effectLst>
        </p:spPr>
      </p:pic>
      <p:sp>
        <p:nvSpPr>
          <p:cNvPr id="69" name="圆角矩形 6"/>
          <p:cNvSpPr/>
          <p:nvPr/>
        </p:nvSpPr>
        <p:spPr>
          <a:xfrm>
            <a:off x="3474720" y="1773936"/>
            <a:ext cx="4142232" cy="817473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每位客户建立完整档案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Every customer gets a complete profile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0" name="圆角矩形 35"/>
          <p:cNvSpPr/>
          <p:nvPr/>
        </p:nvSpPr>
        <p:spPr>
          <a:xfrm>
            <a:off x="603504" y="1844344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Full Profile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完整建档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1" name="圆角矩形 1"/>
          <p:cNvSpPr/>
          <p:nvPr/>
        </p:nvSpPr>
        <p:spPr>
          <a:xfrm>
            <a:off x="3474720" y="5373014"/>
            <a:ext cx="4142232" cy="817473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人员离职时客户资产规范交接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Hand the pool over properly when staff leave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2" name="圆角矩形 4"/>
          <p:cNvSpPr/>
          <p:nvPr/>
        </p:nvSpPr>
        <p:spPr>
          <a:xfrm>
            <a:off x="3474720" y="4473244"/>
            <a:ext cx="4142232" cy="817473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明确谁跟、跟多频、给什么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Decide who follows up, how often, with what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3" name="圆角矩形 8"/>
          <p:cNvSpPr/>
          <p:nvPr/>
        </p:nvSpPr>
        <p:spPr>
          <a:xfrm>
            <a:off x="3474720" y="3573475"/>
            <a:ext cx="4142232" cy="817473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按价值与潜力分为 A / B / C / D 四类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Classify A / B / C / D by value and potential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4" name="圆角矩形 9"/>
          <p:cNvSpPr/>
          <p:nvPr/>
        </p:nvSpPr>
        <p:spPr>
          <a:xfrm>
            <a:off x="3474720" y="2673705"/>
            <a:ext cx="4142232" cy="817473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记录：车型、车龄、里程、消费力、活跃度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Capture model, age, mileage, spend, activity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5" name="圆角矩形 35"/>
          <p:cNvSpPr/>
          <p:nvPr/>
        </p:nvSpPr>
        <p:spPr>
          <a:xfrm>
            <a:off x="603504" y="3643884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Tiering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ABCD 分层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6" name="圆角矩形 35"/>
          <p:cNvSpPr/>
          <p:nvPr/>
        </p:nvSpPr>
        <p:spPr>
          <a:xfrm>
            <a:off x="603504" y="2744114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Five Fields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五个字段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7" name="圆角矩形 35"/>
          <p:cNvSpPr/>
          <p:nvPr/>
        </p:nvSpPr>
        <p:spPr>
          <a:xfrm>
            <a:off x="603504" y="4543653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Follow-up Rules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跟进口径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8" name="圆角矩形 35"/>
          <p:cNvSpPr/>
          <p:nvPr/>
        </p:nvSpPr>
        <p:spPr>
          <a:xfrm>
            <a:off x="603504" y="5443423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Handover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离职交接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9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2" name="Picture 5"/>
          <p:cNvPicPr>
            <a:picLocks noChangeAspect="1"/>
          </p:cNvPicPr>
          <p:nvPr/>
        </p:nvPicPr>
        <p:blipFill>
          <a:blip r:embed="rId3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83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85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3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3" tooltip="https://www.servauto.com.my/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67512" y="82296"/>
            <a:ext cx="8412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ServAuto 服务顾问培训 · 进阶 | Service Advisor Training - Advanced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2648" y="585216"/>
            <a:ext cx="10972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Building the Customer Asset Pool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2648" y="1060704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客户档案分类与分层经营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12648" y="1682496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8" name="图片 3" descr="/data/temp/31c83b1c-a9fe-11f0-88da-76af0e732785.jpg@base@tag=imgScale&amp;m=1&amp;w=932&amp;h=1264&amp;q=9531c83b1c-a9fe-11f0-88da-76af0e732785"/>
          <p:cNvPicPr>
            <a:picLocks noChangeAspect="1"/>
          </p:cNvPicPr>
          <p:nvPr/>
        </p:nvPicPr>
        <p:blipFill>
          <a:blip r:embed="rId4"/>
          <a:srcRect l="13078" r="13157"/>
          <a:stretch>
            <a:fillRect/>
          </a:stretch>
        </p:blipFill>
        <p:spPr>
          <a:xfrm>
            <a:off x="8244205" y="1773936"/>
            <a:ext cx="3358515" cy="4480560"/>
          </a:xfrm>
          <a:prstGeom prst="round1Rect">
            <a:avLst>
              <a:gd name="adj" fmla="val 39814"/>
            </a:avLst>
          </a:prstGeom>
          <a:solidFill>
            <a:schemeClr val="accent1">
              <a:alpha val="15000"/>
            </a:schemeClr>
          </a:solidFill>
          <a:ln w="9525" cap="flat" cmpd="sng" algn="ctr">
            <a:solidFill>
              <a:schemeClr val="accent1">
                <a:lumMod val="10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03200" dist="38100" dir="2700000" algn="tl" rotWithShape="0">
              <a:schemeClr val="accent1">
                <a:alpha val="60000"/>
              </a:schemeClr>
            </a:outerShdw>
          </a:effectLst>
        </p:spPr>
      </p:pic>
      <p:sp>
        <p:nvSpPr>
          <p:cNvPr id="69" name="圆角矩形 6"/>
          <p:cNvSpPr/>
          <p:nvPr/>
        </p:nvSpPr>
        <p:spPr>
          <a:xfrm>
            <a:off x="3474720" y="1773936"/>
            <a:ext cx="4142232" cy="8229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高消费、稳定回店 —— 专人跟进、优先服务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High spend, returns regularly - personal contact and priority service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0" name="圆角矩形 35"/>
          <p:cNvSpPr/>
          <p:nvPr/>
        </p:nvSpPr>
        <p:spPr>
          <a:xfrm>
            <a:off x="603504" y="1847088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A - High Value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A 类 · 高价值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2" name="圆角矩形 4"/>
          <p:cNvSpPr/>
          <p:nvPr/>
        </p:nvSpPr>
        <p:spPr>
          <a:xfrm>
            <a:off x="3474720" y="5148072"/>
            <a:ext cx="4142232" cy="8229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沉睡或流失 —— 召回活动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Dormant or lost - win-back campaign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3" name="圆角矩形 8"/>
          <p:cNvSpPr/>
          <p:nvPr/>
        </p:nvSpPr>
        <p:spPr>
          <a:xfrm>
            <a:off x="3474720" y="4023360"/>
            <a:ext cx="4142232" cy="8229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一次性或低频 —— 激活优惠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One-off or low frequency - activation offers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4" name="圆角矩形 9"/>
          <p:cNvSpPr/>
          <p:nvPr/>
        </p:nvSpPr>
        <p:spPr>
          <a:xfrm>
            <a:off x="3474720" y="2898648"/>
            <a:ext cx="4142232" cy="8229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常规客户，有提升空间 —— 套餐匹配与到期提醒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Regular, with room to grow - package matching and due reminders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5" name="圆角矩形 35"/>
          <p:cNvSpPr/>
          <p:nvPr/>
        </p:nvSpPr>
        <p:spPr>
          <a:xfrm>
            <a:off x="603504" y="4096512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C - Low Frequency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C 类 · 低频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6" name="圆角矩形 35"/>
          <p:cNvSpPr/>
          <p:nvPr/>
        </p:nvSpPr>
        <p:spPr>
          <a:xfrm>
            <a:off x="603504" y="2971800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B - Room to Grow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B 类 · 有潜力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7" name="圆角矩形 35"/>
          <p:cNvSpPr/>
          <p:nvPr/>
        </p:nvSpPr>
        <p:spPr>
          <a:xfrm>
            <a:off x="603504" y="5221224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D - Dormant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D 类 · 沉睡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9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2" name="Picture 5"/>
          <p:cNvPicPr>
            <a:picLocks noChangeAspect="1"/>
          </p:cNvPicPr>
          <p:nvPr/>
        </p:nvPicPr>
        <p:blipFill>
          <a:blip r:embed="rId3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83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85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3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3" tooltip="https://www.servauto.com.my/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67512" y="82296"/>
            <a:ext cx="8412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ServAuto 服务顾问培训 · 进阶 | Service Advisor Training - Advanced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2648" y="585216"/>
            <a:ext cx="10972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A / B / C / D Tiering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2648" y="1060704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四类客户的分层标准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12648" y="1682496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9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2" name="Picture 5"/>
          <p:cNvPicPr>
            <a:picLocks noChangeAspect="1"/>
          </p:cNvPicPr>
          <p:nvPr/>
        </p:nvPicPr>
        <p:blipFill>
          <a:blip r:embed="rId3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83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85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3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3" tooltip="https://www.servauto.com.my/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67512" y="82296"/>
            <a:ext cx="8412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ServAuto 服务顾问培训 · 进阶 | Service Advisor Training - Advanced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2648" y="585216"/>
            <a:ext cx="10972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Turning One Visit into a Year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2648" y="1060704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把一次性客户变成年度客户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12648" y="1682496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640080" y="1792224"/>
            <a:ext cx="5394960" cy="438912"/>
          </a:xfrm>
          <a:prstGeom prst="roundRect">
            <a:avLst>
              <a:gd name="adj" fmla="val 16000"/>
            </a:avLst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86384" y="1819656"/>
            <a:ext cx="51023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触发时机  |  When to Call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40080" y="2340864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40080" y="2340864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95528" y="2377440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07007" y="2377440"/>
            <a:ext cx="46817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24 小时回访  /  Within 24 h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207007" y="2660903"/>
            <a:ext cx="4663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交车后 24 小时内：满意度回访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Within 24h: satisfaction call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40080" y="3310128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40080" y="3310128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95528" y="3346704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07007" y="3346704"/>
            <a:ext cx="46817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到期提醒  /  Due Reminder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207007" y="3630168"/>
            <a:ext cx="4663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保养到期前：提醒到店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Before service due: maintenance reminder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40080" y="4279392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40080" y="4279392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95528" y="431596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207007" y="4315968"/>
            <a:ext cx="46817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流失预警  /  Win-back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207007" y="4599431"/>
            <a:ext cx="4663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长期未到店：流失预警与召回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Inactivity alert: win-back call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40080" y="5248656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40080" y="5248656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95528" y="5285232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207007" y="5285232"/>
            <a:ext cx="46817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客诉回访  /  Post-Complaint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207007" y="5568696"/>
            <a:ext cx="4663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客诉之后：结果回访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After a complaint: outcome call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309360" y="1792224"/>
            <a:ext cx="5394960" cy="438912"/>
          </a:xfrm>
          <a:prstGeom prst="roundRect">
            <a:avLst>
              <a:gd name="adj" fmla="val 16000"/>
            </a:avLst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455664" y="1819656"/>
            <a:ext cx="51023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执行要点  |  How to Do It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309360" y="2340864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309360" y="2340864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464808" y="2377440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76288" y="2377440"/>
            <a:ext cx="46817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节庆问候  /  Greetings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76288" y="2660903"/>
            <a:ext cx="4663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生日与节庆问候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Birthday and festive greetings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309360" y="3310128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309360" y="3310128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464808" y="3346704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76288" y="3346704"/>
            <a:ext cx="46817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渠道  /  Channel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876288" y="3630168"/>
            <a:ext cx="4663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电话或 WhatsApp，保持简短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Use phone or WhatsApp, keep it short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309360" y="4279392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309360" y="4279392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464808" y="431596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876288" y="4315968"/>
            <a:ext cx="46817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记录  /  Log It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876288" y="4599431"/>
            <a:ext cx="4663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回访结果全部记入客户档案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Log every outcome in the customer file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309360" y="5248656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309360" y="5248656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464808" y="5285232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876288" y="5285232"/>
            <a:ext cx="46817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转预约  /  Book It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876288" y="5568696"/>
            <a:ext cx="4663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每次回访都要争取到预约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Turn every call into a booking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8" name="图片 3" descr="/data/temp/31c83b1c-a9fe-11f0-88da-76af0e732785.jpg@base@tag=imgScale&amp;m=1&amp;w=932&amp;h=1264&amp;q=9531c83b1c-a9fe-11f0-88da-76af0e732785"/>
          <p:cNvPicPr>
            <a:picLocks noChangeAspect="1"/>
          </p:cNvPicPr>
          <p:nvPr/>
        </p:nvPicPr>
        <p:blipFill>
          <a:blip r:embed="rId4"/>
          <a:srcRect l="13078" r="13157"/>
          <a:stretch>
            <a:fillRect/>
          </a:stretch>
        </p:blipFill>
        <p:spPr>
          <a:xfrm>
            <a:off x="8244205" y="1773936"/>
            <a:ext cx="3358515" cy="4480560"/>
          </a:xfrm>
          <a:prstGeom prst="round1Rect">
            <a:avLst>
              <a:gd name="adj" fmla="val 39814"/>
            </a:avLst>
          </a:prstGeom>
          <a:solidFill>
            <a:schemeClr val="accent1">
              <a:alpha val="15000"/>
            </a:schemeClr>
          </a:solidFill>
          <a:ln w="9525" cap="flat" cmpd="sng" algn="ctr">
            <a:solidFill>
              <a:schemeClr val="accent1">
                <a:lumMod val="10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03200" dist="38100" dir="2700000" algn="tl" rotWithShape="0">
              <a:schemeClr val="accent1">
                <a:alpha val="60000"/>
              </a:schemeClr>
            </a:outerShdw>
          </a:effectLst>
        </p:spPr>
      </p:pic>
      <p:sp>
        <p:nvSpPr>
          <p:cNvPr id="69" name="圆角矩形 6"/>
          <p:cNvSpPr/>
          <p:nvPr/>
        </p:nvSpPr>
        <p:spPr>
          <a:xfrm>
            <a:off x="3474720" y="1773936"/>
            <a:ext cx="4142232" cy="817473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开头先报姓名与门店，不先推销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Open with your name and the workshop, not a pitch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0" name="圆角矩形 35"/>
          <p:cNvSpPr/>
          <p:nvPr/>
        </p:nvSpPr>
        <p:spPr>
          <a:xfrm>
            <a:off x="603504" y="1844344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Opening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开场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1" name="圆角矩形 1"/>
          <p:cNvSpPr/>
          <p:nvPr/>
        </p:nvSpPr>
        <p:spPr>
          <a:xfrm>
            <a:off x="3474720" y="5373014"/>
            <a:ext cx="4142232" cy="817473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记录结果，并设定下次提醒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Record the outcome and set the next reminder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2" name="圆角矩形 4"/>
          <p:cNvSpPr/>
          <p:nvPr/>
        </p:nvSpPr>
        <p:spPr>
          <a:xfrm>
            <a:off x="3474720" y="4473244"/>
            <a:ext cx="4142232" cy="817473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直接给两个时间段，不做开放式结束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Offer two appointment slots instead of an open ending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3" name="圆角矩形 8"/>
          <p:cNvSpPr/>
          <p:nvPr/>
        </p:nvSpPr>
        <p:spPr>
          <a:xfrm>
            <a:off x="3474720" y="3573475"/>
            <a:ext cx="4142232" cy="817473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确认施工内容，并确认满意度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Confirm what was done and check satisfaction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4" name="圆角矩形 9"/>
          <p:cNvSpPr/>
          <p:nvPr/>
        </p:nvSpPr>
        <p:spPr>
          <a:xfrm>
            <a:off x="3474720" y="2673705"/>
            <a:ext cx="4142232" cy="817473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用车况一个开放式问题切入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Ask one open question about the car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5" name="圆角矩形 35"/>
          <p:cNvSpPr/>
          <p:nvPr/>
        </p:nvSpPr>
        <p:spPr>
          <a:xfrm>
            <a:off x="603504" y="3643884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Confirm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确认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6" name="圆角矩形 35"/>
          <p:cNvSpPr/>
          <p:nvPr/>
        </p:nvSpPr>
        <p:spPr>
          <a:xfrm>
            <a:off x="603504" y="2744114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Open Question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切入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7" name="圆角矩形 35"/>
          <p:cNvSpPr/>
          <p:nvPr/>
        </p:nvSpPr>
        <p:spPr>
          <a:xfrm>
            <a:off x="603504" y="4543653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Close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收口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8" name="圆角矩形 35"/>
          <p:cNvSpPr/>
          <p:nvPr/>
        </p:nvSpPr>
        <p:spPr>
          <a:xfrm>
            <a:off x="603504" y="5443423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Record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记录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9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2" name="Picture 5"/>
          <p:cNvPicPr>
            <a:picLocks noChangeAspect="1"/>
          </p:cNvPicPr>
          <p:nvPr/>
        </p:nvPicPr>
        <p:blipFill>
          <a:blip r:embed="rId3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83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85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3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3" tooltip="https://www.servauto.com.my/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67512" y="82296"/>
            <a:ext cx="8412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ServAuto 服务顾问培训 · 进阶 | Service Advisor Training - Advanced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2648" y="585216"/>
            <a:ext cx="10972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Call Cadence &amp; Script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2648" y="1060704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回访节奏与话术结构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2648" y="1371600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达成率 80% → 标杆 95% · Target 80% completion, 95% at best practice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2648" y="1682496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9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2" name="Picture 5"/>
          <p:cNvPicPr>
            <a:picLocks noChangeAspect="1"/>
          </p:cNvPicPr>
          <p:nvPr/>
        </p:nvPicPr>
        <p:blipFill>
          <a:blip r:embed="rId3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83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85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3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3" tooltip="https://www.servauto.com.my/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67512" y="82296"/>
            <a:ext cx="8412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ServAuto 服务顾问培训 · 进阶 | Service Advisor Training - Advanced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2648" y="585216"/>
            <a:ext cx="10972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Matching Packages to the Right Customer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2648" y="1060704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套餐销售进阶与客户匹配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12648" y="1682496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640080" y="1792224"/>
            <a:ext cx="5394960" cy="438912"/>
          </a:xfrm>
          <a:prstGeom prst="roundRect">
            <a:avLst>
              <a:gd name="adj" fmla="val 16000"/>
            </a:avLst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86384" y="1819656"/>
            <a:ext cx="51023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匹配与推荐  |  Match &amp; Recommend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40080" y="2340864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40080" y="2340864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95528" y="2377440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07007" y="2377440"/>
            <a:ext cx="46817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四维匹配  /  Four-Factor Match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207007" y="2660903"/>
            <a:ext cx="4663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按车龄 × 里程 × 用车场景 × 消费力匹配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Match on age x mileage x usage x budget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40080" y="3310128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40080" y="3310128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95528" y="3346704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07007" y="3346704"/>
            <a:ext cx="46817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主力款先行  /  Main First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207007" y="3630168"/>
            <a:ext cx="4663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先推主力款，再引导升级款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Lead with the main package, then the upgrade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40080" y="4279392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40080" y="4279392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95528" y="431596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207007" y="4315968"/>
            <a:ext cx="46817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不越层  /  No Overreach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207007" y="4599431"/>
            <a:ext cx="4663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C 类客户不推高端套餐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Do not offer a high-end package to a C-tier customer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40080" y="5248656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40080" y="5248656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95528" y="5285232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207007" y="5285232"/>
            <a:ext cx="46817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二次切入  /  Second Approach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207007" y="5568696"/>
            <a:ext cx="4663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被拒后需有真实理由再切入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Re-approach only when a real reason appears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309360" y="1792224"/>
            <a:ext cx="5394960" cy="438912"/>
          </a:xfrm>
          <a:prstGeom prst="roundRect">
            <a:avLst>
              <a:gd name="adj" fmla="val 16000"/>
            </a:avLst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455664" y="1819656"/>
            <a:ext cx="51023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跟踪与底线  |  Track &amp; Guard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309360" y="2340864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309360" y="2340864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464808" y="2377440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76288" y="2377440"/>
            <a:ext cx="46817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渗透率  /  Penetration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76288" y="2660903"/>
            <a:ext cx="4663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每周跟踪渗透率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Track penetration rate weekly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309360" y="3310128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309360" y="3310128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464808" y="3346704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76288" y="3346704"/>
            <a:ext cx="46817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核销率  /  Redemption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876288" y="3630168"/>
            <a:ext cx="4663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跟踪核销率 —— 不只看销量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Track redemption rate, not just sales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309360" y="4279392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309360" y="4279392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464808" y="431596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876288" y="4315968"/>
            <a:ext cx="46817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到期提醒  /  Expiry Reminder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876288" y="4599431"/>
            <a:ext cx="4663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权益到期前主动提醒核销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Remind before the benefits expire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309360" y="5248656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309360" y="5248656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464808" y="5285232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876288" y="5285232"/>
            <a:ext cx="46817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不推销  /  No Upsell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876288" y="5568696"/>
            <a:ext cx="4663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不推销客户未提出的项目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Never upsell a project the customer did not ask for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8" name="图片 3" descr="/data/temp/31c83b1c-a9fe-11f0-88da-76af0e732785.jpg@base@tag=imgScale&amp;m=1&amp;w=932&amp;h=1264&amp;q=9531c83b1c-a9fe-11f0-88da-76af0e732785"/>
          <p:cNvPicPr>
            <a:picLocks noChangeAspect="1"/>
          </p:cNvPicPr>
          <p:nvPr/>
        </p:nvPicPr>
        <p:blipFill>
          <a:blip r:embed="rId4"/>
          <a:srcRect l="13078" r="13157"/>
          <a:stretch>
            <a:fillRect/>
          </a:stretch>
        </p:blipFill>
        <p:spPr>
          <a:xfrm>
            <a:off x="8244205" y="1773936"/>
            <a:ext cx="3358515" cy="4480560"/>
          </a:xfrm>
          <a:prstGeom prst="round1Rect">
            <a:avLst>
              <a:gd name="adj" fmla="val 39814"/>
            </a:avLst>
          </a:prstGeom>
          <a:solidFill>
            <a:schemeClr val="accent1">
              <a:alpha val="15000"/>
            </a:schemeClr>
          </a:solidFill>
          <a:ln w="9525" cap="flat" cmpd="sng" algn="ctr">
            <a:solidFill>
              <a:schemeClr val="accent1">
                <a:lumMod val="10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03200" dist="38100" dir="2700000" algn="tl" rotWithShape="0">
              <a:schemeClr val="accent1">
                <a:alpha val="60000"/>
              </a:schemeClr>
            </a:outerShdw>
          </a:effectLst>
        </p:spPr>
      </p:pic>
      <p:sp>
        <p:nvSpPr>
          <p:cNvPr id="69" name="圆角矩形 6"/>
          <p:cNvSpPr/>
          <p:nvPr/>
        </p:nvSpPr>
        <p:spPr>
          <a:xfrm>
            <a:off x="3474720" y="1773936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一级 —— 现场即可解决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Tier 1 - solved at the counter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0" name="圆角矩形 35"/>
          <p:cNvSpPr/>
          <p:nvPr/>
        </p:nvSpPr>
        <p:spPr>
          <a:xfrm>
            <a:off x="603504" y="1792224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Tier 1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一级 · 现场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1" name="圆角矩形 1"/>
          <p:cNvSpPr/>
          <p:nvPr/>
        </p:nvSpPr>
        <p:spPr>
          <a:xfrm>
            <a:off x="3474720" y="5710427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当天完成书面记录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Write it down the same day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2" name="圆角矩形 4"/>
          <p:cNvSpPr/>
          <p:nvPr/>
        </p:nvSpPr>
        <p:spPr>
          <a:xfrm>
            <a:off x="3474720" y="5148072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把客户带离公共区域沟通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Move the customer away from the public area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3" name="圆角矩形 8"/>
          <p:cNvSpPr/>
          <p:nvPr/>
        </p:nvSpPr>
        <p:spPr>
          <a:xfrm>
            <a:off x="3474720" y="4585716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不擅自承诺赔偿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Never promise compensation on your own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4" name="圆角矩形 9"/>
          <p:cNvSpPr/>
          <p:nvPr/>
        </p:nvSpPr>
        <p:spPr>
          <a:xfrm>
            <a:off x="3474720" y="4023360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三级必须立即升级上报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Tier 3 must be escalated immediately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5" name="圆角矩形 35"/>
          <p:cNvSpPr/>
          <p:nvPr/>
        </p:nvSpPr>
        <p:spPr>
          <a:xfrm>
            <a:off x="603504" y="4604004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No Promises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不擅承诺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6" name="圆角矩形 35"/>
          <p:cNvSpPr/>
          <p:nvPr/>
        </p:nvSpPr>
        <p:spPr>
          <a:xfrm>
            <a:off x="603504" y="4041648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Escalate Now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立即上报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7" name="圆角矩形 35"/>
          <p:cNvSpPr/>
          <p:nvPr/>
        </p:nvSpPr>
        <p:spPr>
          <a:xfrm>
            <a:off x="603504" y="5166360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Move Away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带离现场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8" name="圆角矩形 35"/>
          <p:cNvSpPr/>
          <p:nvPr/>
        </p:nvSpPr>
        <p:spPr>
          <a:xfrm>
            <a:off x="603504" y="5728715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Write It Down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当天记录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9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2" name="Picture 5"/>
          <p:cNvPicPr>
            <a:picLocks noChangeAspect="1"/>
          </p:cNvPicPr>
          <p:nvPr/>
        </p:nvPicPr>
        <p:blipFill>
          <a:blip r:embed="rId3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83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85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3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3" tooltip="https://www.servauto.com.my/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67512" y="82296"/>
            <a:ext cx="8412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ServAuto 服务顾问培训 · 进阶 | Service Advisor Training - Advanced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2648" y="585216"/>
            <a:ext cx="10972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Complaint Tiers &amp; Escalation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2648" y="1060704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客诉分级与升级路径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12648" y="1682496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圆角矩形 35"/>
          <p:cNvSpPr/>
          <p:nvPr/>
        </p:nvSpPr>
        <p:spPr>
          <a:xfrm>
            <a:off x="603504" y="2354579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Tier 2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二级 · 介入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9" name="圆角矩形 6"/>
          <p:cNvSpPr/>
          <p:nvPr/>
        </p:nvSpPr>
        <p:spPr>
          <a:xfrm>
            <a:off x="3474720" y="2336291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二级 —— 需店长或技师介入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Tier 2 - needs the manager or technician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0" name="圆角矩形 35"/>
          <p:cNvSpPr/>
          <p:nvPr/>
        </p:nvSpPr>
        <p:spPr>
          <a:xfrm>
            <a:off x="603504" y="2916936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Tier 3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三级 · 风险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9" name="圆角矩形 6"/>
          <p:cNvSpPr/>
          <p:nvPr/>
        </p:nvSpPr>
        <p:spPr>
          <a:xfrm>
            <a:off x="3474720" y="2898648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三级 —— 舆情或法律风险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Tier 3 - reputation or legal risk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0" name="圆角矩形 35"/>
          <p:cNvSpPr/>
          <p:nvPr/>
        </p:nvSpPr>
        <p:spPr>
          <a:xfrm>
            <a:off x="603504" y="3479292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Your Scope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权限边界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9" name="圆角矩形 6"/>
          <p:cNvSpPr/>
          <p:nvPr/>
        </p:nvSpPr>
        <p:spPr>
          <a:xfrm>
            <a:off x="3474720" y="3461004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一级由前台独立处理，二级配合处理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You own Tier 1 fully and assist on Tier 2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8" name="图片 3" descr="/data/temp/31c83b1c-a9fe-11f0-88da-76af0e732785.jpg@base@tag=imgScale&amp;m=1&amp;w=932&amp;h=1264&amp;q=9531c83b1c-a9fe-11f0-88da-76af0e732785"/>
          <p:cNvPicPr>
            <a:picLocks noChangeAspect="1"/>
          </p:cNvPicPr>
          <p:nvPr/>
        </p:nvPicPr>
        <p:blipFill>
          <a:blip r:embed="rId4"/>
          <a:srcRect l="13078" r="13157"/>
          <a:stretch>
            <a:fillRect/>
          </a:stretch>
        </p:blipFill>
        <p:spPr>
          <a:xfrm>
            <a:off x="8244205" y="1773936"/>
            <a:ext cx="3358515" cy="4480560"/>
          </a:xfrm>
          <a:prstGeom prst="round1Rect">
            <a:avLst>
              <a:gd name="adj" fmla="val 39814"/>
            </a:avLst>
          </a:prstGeom>
          <a:solidFill>
            <a:schemeClr val="accent1">
              <a:alpha val="15000"/>
            </a:schemeClr>
          </a:solidFill>
          <a:ln w="9525" cap="flat" cmpd="sng" algn="ctr">
            <a:solidFill>
              <a:schemeClr val="accent1">
                <a:lumMod val="10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03200" dist="38100" dir="2700000" algn="tl" rotWithShape="0">
              <a:schemeClr val="accent1">
                <a:alpha val="60000"/>
              </a:schemeClr>
            </a:outerShdw>
          </a:effectLst>
        </p:spPr>
      </p:pic>
      <p:sp>
        <p:nvSpPr>
          <p:cNvPr id="69" name="圆角矩形 6"/>
          <p:cNvSpPr/>
          <p:nvPr/>
        </p:nvSpPr>
        <p:spPr>
          <a:xfrm>
            <a:off x="3474720" y="1773936"/>
            <a:ext cx="4142232" cy="817473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听完 —— 不打断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Listen without interrupting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0" name="圆角矩形 35"/>
          <p:cNvSpPr/>
          <p:nvPr/>
        </p:nvSpPr>
        <p:spPr>
          <a:xfrm>
            <a:off x="603504" y="1844344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Listen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听完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1" name="圆角矩形 1"/>
          <p:cNvSpPr/>
          <p:nvPr/>
        </p:nvSpPr>
        <p:spPr>
          <a:xfrm>
            <a:off x="3474720" y="5373014"/>
            <a:ext cx="4142232" cy="817473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跟进 —— 直到客户确认满意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Follow up until the customer confirms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2" name="圆角矩形 4"/>
          <p:cNvSpPr/>
          <p:nvPr/>
        </p:nvSpPr>
        <p:spPr>
          <a:xfrm>
            <a:off x="3474720" y="4473244"/>
            <a:ext cx="4142232" cy="817473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给方案 —— 明确动作与时间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Give a clear next action and a time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3" name="圆角矩形 8"/>
          <p:cNvSpPr/>
          <p:nvPr/>
        </p:nvSpPr>
        <p:spPr>
          <a:xfrm>
            <a:off x="3474720" y="3573475"/>
            <a:ext cx="4142232" cy="817473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复述 —— 确认事实一致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Repeat the facts back to confirm them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4" name="圆角矩形 9"/>
          <p:cNvSpPr/>
          <p:nvPr/>
        </p:nvSpPr>
        <p:spPr>
          <a:xfrm>
            <a:off x="3474720" y="2673705"/>
            <a:ext cx="4142232" cy="817473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共情 —— 认情绪，不认责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Acknowledge the feeling, not the blame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5" name="圆角矩形 35"/>
          <p:cNvSpPr/>
          <p:nvPr/>
        </p:nvSpPr>
        <p:spPr>
          <a:xfrm>
            <a:off x="603504" y="3643884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Repeat Back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复述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6" name="圆角矩形 35"/>
          <p:cNvSpPr/>
          <p:nvPr/>
        </p:nvSpPr>
        <p:spPr>
          <a:xfrm>
            <a:off x="603504" y="2744114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Acknowledge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共情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7" name="圆角矩形 35"/>
          <p:cNvSpPr/>
          <p:nvPr/>
        </p:nvSpPr>
        <p:spPr>
          <a:xfrm>
            <a:off x="603504" y="4543653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Act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给方案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8" name="圆角矩形 35"/>
          <p:cNvSpPr/>
          <p:nvPr/>
        </p:nvSpPr>
        <p:spPr>
          <a:xfrm>
            <a:off x="603504" y="5443423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Follow Up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跟进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9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2" name="Picture 5"/>
          <p:cNvPicPr>
            <a:picLocks noChangeAspect="1"/>
          </p:cNvPicPr>
          <p:nvPr/>
        </p:nvPicPr>
        <p:blipFill>
          <a:blip r:embed="rId3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83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85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3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3" tooltip="https://www.servauto.com.my/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67512" y="82296"/>
            <a:ext cx="8412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ServAuto 服务顾问培训 · 进阶 | Service Advisor Training - Advanced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2648" y="585216"/>
            <a:ext cx="10972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The Five-Step De-escalation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2648" y="1060704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情绪安抚五步法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12648" y="1682496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9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2" name="Picture 5"/>
          <p:cNvPicPr>
            <a:picLocks noChangeAspect="1"/>
          </p:cNvPicPr>
          <p:nvPr/>
        </p:nvPicPr>
        <p:blipFill>
          <a:blip r:embed="rId3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83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85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3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3" tooltip="https://www.servauto.com.my/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67512" y="82296"/>
            <a:ext cx="8412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ServAuto 服务顾问培训 · 进阶 | Service Advisor Training - Advanced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2648" y="585216"/>
            <a:ext cx="10972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Planning Content That Brings People In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2648" y="1060704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策划能带来到店的内容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12648" y="1682496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640080" y="1792224"/>
            <a:ext cx="5394960" cy="438912"/>
          </a:xfrm>
          <a:prstGeom prst="roundRect">
            <a:avLst>
              <a:gd name="adj" fmla="val 16000"/>
            </a:avLst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86384" y="1819656"/>
            <a:ext cx="51023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内容结构  |  Content Mix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40080" y="2340864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40080" y="2340864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95528" y="2377440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07007" y="2377440"/>
            <a:ext cx="46817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内容配比  /  Content Mix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207007" y="2660903"/>
            <a:ext cx="4663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信任型 60% / 教育型 20% / 促销型 20%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Trust 60% / education 20% / promotion 20%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40080" y="3310128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40080" y="3310128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95528" y="3346704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07007" y="3346704"/>
            <a:ext cx="46817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选题会  /  Topic Meeting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207007" y="3630168"/>
            <a:ext cx="4663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主导每周选题会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Own the weekly topic meeting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40080" y="4279392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40080" y="4279392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95528" y="431596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207007" y="4315968"/>
            <a:ext cx="46817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爆款拆解  /  Break Down Hits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207007" y="4599431"/>
            <a:ext cx="4663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拆解上一条爆款的爆点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Break down what made the last hit work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40080" y="5248656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40080" y="5248656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95528" y="5285232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207007" y="5285232"/>
            <a:ext cx="46817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直播排品  /  Live Lineup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207007" y="5568696"/>
            <a:ext cx="4663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直播排品：引流款 → 套餐 → 利润款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Plan the live run: hook, package, profit item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309360" y="1792224"/>
            <a:ext cx="5394960" cy="438912"/>
          </a:xfrm>
          <a:prstGeom prst="roundRect">
            <a:avLst>
              <a:gd name="adj" fmla="val 16000"/>
            </a:avLst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455664" y="1819656"/>
            <a:ext cx="51023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引流与合规  |  Leads &amp; Compliance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309360" y="2340864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309360" y="2340864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464808" y="2377440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76288" y="2377440"/>
            <a:ext cx="46817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直播留资  /  Collect Leads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76288" y="2660903"/>
            <a:ext cx="4663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直播中收集留资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Collect leads during the live stream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309360" y="3310128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309360" y="3310128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464808" y="3346704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76288" y="3346704"/>
            <a:ext cx="46817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追踪到店  /  Track Visits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876288" y="3630168"/>
            <a:ext cx="4663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用专属码或口令追踪到店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Use a code or keyword to track store visits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309360" y="4279392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309360" y="4279392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464808" y="431596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876288" y="4315968"/>
            <a:ext cx="46817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语言选择  /  Language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876288" y="4599431"/>
            <a:ext cx="4663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按目标客群选择语言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Keep the language right for the audience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309360" y="5248656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309360" y="5248656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464808" y="5285232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876288" y="5285232"/>
            <a:ext cx="46817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平台规范  /  Compliance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876288" y="5568696"/>
            <a:ext cx="4663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遵守平台与广告规范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Follow platform and advertising rules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8" name="图片 3" descr="/data/temp/31c83b1c-a9fe-11f0-88da-76af0e732785.jpg@base@tag=imgScale&amp;m=1&amp;w=932&amp;h=1264&amp;q=9531c83b1c-a9fe-11f0-88da-76af0e732785"/>
          <p:cNvPicPr>
            <a:picLocks noChangeAspect="1"/>
          </p:cNvPicPr>
          <p:nvPr/>
        </p:nvPicPr>
        <p:blipFill>
          <a:blip r:embed="rId4"/>
          <a:srcRect l="13078" r="13157"/>
          <a:stretch>
            <a:fillRect/>
          </a:stretch>
        </p:blipFill>
        <p:spPr>
          <a:xfrm>
            <a:off x="8244205" y="1773936"/>
            <a:ext cx="3358515" cy="4480560"/>
          </a:xfrm>
          <a:prstGeom prst="round1Rect">
            <a:avLst>
              <a:gd name="adj" fmla="val 39814"/>
            </a:avLst>
          </a:prstGeom>
          <a:solidFill>
            <a:schemeClr val="accent1">
              <a:alpha val="15000"/>
            </a:schemeClr>
          </a:solidFill>
          <a:ln w="9525" cap="flat" cmpd="sng" algn="ctr">
            <a:solidFill>
              <a:schemeClr val="accent1">
                <a:lumMod val="10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03200" dist="38100" dir="2700000" algn="tl" rotWithShape="0">
              <a:schemeClr val="accent1">
                <a:alpha val="60000"/>
              </a:schemeClr>
            </a:outerShdw>
          </a:effectLst>
        </p:spPr>
      </p:pic>
      <p:sp>
        <p:nvSpPr>
          <p:cNvPr id="69" name="圆角矩形 6"/>
          <p:cNvSpPr/>
          <p:nvPr/>
        </p:nvSpPr>
        <p:spPr>
          <a:xfrm>
            <a:off x="3474720" y="1773936"/>
            <a:ext cx="4142232" cy="817473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不看播放量，看带来到店数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Do not chase views - track store visits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0" name="圆角矩形 35"/>
          <p:cNvSpPr/>
          <p:nvPr/>
        </p:nvSpPr>
        <p:spPr>
          <a:xfrm>
            <a:off x="603504" y="1844344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Visits Not Views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看到店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1" name="圆角矩形 1"/>
          <p:cNvSpPr/>
          <p:nvPr/>
        </p:nvSpPr>
        <p:spPr>
          <a:xfrm>
            <a:off x="3474720" y="5373014"/>
            <a:ext cx="4142232" cy="817473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持续不带来客户的选题直接放弃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Drop the formats that never bring anyone in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2" name="圆角矩形 4"/>
          <p:cNvSpPr/>
          <p:nvPr/>
        </p:nvSpPr>
        <p:spPr>
          <a:xfrm>
            <a:off x="3474720" y="4473244"/>
            <a:ext cx="4142232" cy="817473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按选题类型对比到店转化率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Compare topic types against visit rate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3" name="圆角矩形 8"/>
          <p:cNvSpPr/>
          <p:nvPr/>
        </p:nvSpPr>
        <p:spPr>
          <a:xfrm>
            <a:off x="3474720" y="3573475"/>
            <a:ext cx="4142232" cy="817473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新客到店必问获客来源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Ask new customers how they found you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4" name="圆角矩形 9"/>
          <p:cNvSpPr/>
          <p:nvPr/>
        </p:nvSpPr>
        <p:spPr>
          <a:xfrm>
            <a:off x="3474720" y="2673705"/>
            <a:ext cx="4142232" cy="817473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每条内容配独立追踪码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Give every piece of content its own code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5" name="圆角矩形 35"/>
          <p:cNvSpPr/>
          <p:nvPr/>
        </p:nvSpPr>
        <p:spPr>
          <a:xfrm>
            <a:off x="603504" y="3643884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Ask the Source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必问来源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6" name="圆角矩形 35"/>
          <p:cNvSpPr/>
          <p:nvPr/>
        </p:nvSpPr>
        <p:spPr>
          <a:xfrm>
            <a:off x="603504" y="2744114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Unique Code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独立追踪码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7" name="圆角矩形 35"/>
          <p:cNvSpPr/>
          <p:nvPr/>
        </p:nvSpPr>
        <p:spPr>
          <a:xfrm>
            <a:off x="603504" y="4543653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Compare Types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分类对比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8" name="圆角矩形 35"/>
          <p:cNvSpPr/>
          <p:nvPr/>
        </p:nvSpPr>
        <p:spPr>
          <a:xfrm>
            <a:off x="603504" y="5443423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Cut Losers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及时止损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9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2" name="Picture 5"/>
          <p:cNvPicPr>
            <a:picLocks noChangeAspect="1"/>
          </p:cNvPicPr>
          <p:nvPr/>
        </p:nvPicPr>
        <p:blipFill>
          <a:blip r:embed="rId3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83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85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3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3" tooltip="https://www.servauto.com.my/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67512" y="82296"/>
            <a:ext cx="8412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ServAuto 服务顾问培训 · 进阶 | Service Advisor Training - Advanced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2648" y="585216"/>
            <a:ext cx="10972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From Views to Bookings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2648" y="1060704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从播放量到到店单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12648" y="1682496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8" name="图片 3" descr="/data/temp/31c83b1c-a9fe-11f0-88da-76af0e732785.jpg@base@tag=imgScale&amp;m=1&amp;w=932&amp;h=1264&amp;q=9531c83b1c-a9fe-11f0-88da-76af0e732785"/>
          <p:cNvPicPr>
            <a:picLocks noChangeAspect="1"/>
          </p:cNvPicPr>
          <p:nvPr/>
        </p:nvPicPr>
        <p:blipFill>
          <a:blip r:embed="rId4"/>
          <a:srcRect l="13078" r="13157"/>
          <a:stretch>
            <a:fillRect/>
          </a:stretch>
        </p:blipFill>
        <p:spPr>
          <a:xfrm>
            <a:off x="8244205" y="1773936"/>
            <a:ext cx="3358515" cy="4480560"/>
          </a:xfrm>
          <a:prstGeom prst="round1Rect">
            <a:avLst>
              <a:gd name="adj" fmla="val 39814"/>
            </a:avLst>
          </a:prstGeom>
          <a:solidFill>
            <a:schemeClr val="accent1">
              <a:alpha val="15000"/>
            </a:schemeClr>
          </a:solidFill>
          <a:ln w="9525" cap="flat" cmpd="sng" algn="ctr">
            <a:solidFill>
              <a:schemeClr val="accent1">
                <a:lumMod val="10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03200" dist="38100" dir="2700000" algn="tl" rotWithShape="0">
              <a:schemeClr val="accent1">
                <a:alpha val="60000"/>
              </a:schemeClr>
            </a:outerShdw>
          </a:effectLst>
        </p:spPr>
      </p:pic>
      <p:sp>
        <p:nvSpPr>
          <p:cNvPr id="69" name="圆角矩形 6"/>
          <p:cNvSpPr/>
          <p:nvPr/>
        </p:nvSpPr>
        <p:spPr>
          <a:xfrm>
            <a:off x="3474720" y="1773936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接待量与接待质量评分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Reception volume and quality score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0" name="圆角矩形 35"/>
          <p:cNvSpPr/>
          <p:nvPr/>
        </p:nvSpPr>
        <p:spPr>
          <a:xfrm>
            <a:off x="603504" y="1792224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Reception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接待量与质量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1" name="圆角矩形 1"/>
          <p:cNvSpPr/>
          <p:nvPr/>
        </p:nvSpPr>
        <p:spPr>
          <a:xfrm>
            <a:off x="3474720" y="5710427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每周复盘，不等月底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Review every week, not only at month end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2" name="圆角矩形 4"/>
          <p:cNvSpPr/>
          <p:nvPr/>
        </p:nvSpPr>
        <p:spPr>
          <a:xfrm>
            <a:off x="3474720" y="5148072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找到差距，只改一个动作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Find the gap, then pick one action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3" name="圆角矩形 8"/>
          <p:cNvSpPr/>
          <p:nvPr/>
        </p:nvSpPr>
        <p:spPr>
          <a:xfrm>
            <a:off x="3474720" y="4585716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制定日计划与周计划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Set a daily and a weekly plan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4" name="圆角矩形 9"/>
          <p:cNvSpPr/>
          <p:nvPr/>
        </p:nvSpPr>
        <p:spPr>
          <a:xfrm>
            <a:off x="3474720" y="4023360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货品签收准确率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Goods receipt accuracy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5" name="圆角矩形 35"/>
          <p:cNvSpPr/>
          <p:nvPr/>
        </p:nvSpPr>
        <p:spPr>
          <a:xfrm>
            <a:off x="603504" y="4604004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Plan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日周计划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6" name="圆角矩形 35"/>
          <p:cNvSpPr/>
          <p:nvPr/>
        </p:nvSpPr>
        <p:spPr>
          <a:xfrm>
            <a:off x="603504" y="4041648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Goods Receipt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签收准确率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7" name="圆角矩形 35"/>
          <p:cNvSpPr/>
          <p:nvPr/>
        </p:nvSpPr>
        <p:spPr>
          <a:xfrm>
            <a:off x="603504" y="5166360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Find the Gap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找差距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8" name="圆角矩形 35"/>
          <p:cNvSpPr/>
          <p:nvPr/>
        </p:nvSpPr>
        <p:spPr>
          <a:xfrm>
            <a:off x="603504" y="5728715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Weekly Review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每周复盘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9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2" name="Picture 5"/>
          <p:cNvPicPr>
            <a:picLocks noChangeAspect="1"/>
          </p:cNvPicPr>
          <p:nvPr/>
        </p:nvPicPr>
        <p:blipFill>
          <a:blip r:embed="rId3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83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85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3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3" tooltip="https://www.servauto.com.my/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67512" y="82296"/>
            <a:ext cx="8412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ServAuto 服务顾问培训 · 进阶 | Service Advisor Training - Advanced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2648" y="585216"/>
            <a:ext cx="10972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Running Your Own Numbers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2648" y="1060704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用数据管理自己的岗位产出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12648" y="1682496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圆角矩形 35"/>
          <p:cNvSpPr/>
          <p:nvPr/>
        </p:nvSpPr>
        <p:spPr>
          <a:xfrm>
            <a:off x="603504" y="2354579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Content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内容与归因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9" name="圆角矩形 6"/>
          <p:cNvSpPr/>
          <p:nvPr/>
        </p:nvSpPr>
        <p:spPr>
          <a:xfrm>
            <a:off x="3474720" y="2336291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内容产出量与归因到店数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Content output and attributed visits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0" name="圆角矩形 35"/>
          <p:cNvSpPr/>
          <p:nvPr/>
        </p:nvSpPr>
        <p:spPr>
          <a:xfrm>
            <a:off x="603504" y="2916936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Penetration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套餐渗透率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9" name="圆角矩形 6"/>
          <p:cNvSpPr/>
          <p:nvPr/>
        </p:nvSpPr>
        <p:spPr>
          <a:xfrm>
            <a:off x="3474720" y="2898648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套餐渗透率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Package penetration rate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0" name="圆角矩形 35"/>
          <p:cNvSpPr/>
          <p:nvPr/>
        </p:nvSpPr>
        <p:spPr>
          <a:xfrm>
            <a:off x="603504" y="3479292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Follow-up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回访达成率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9" name="圆角矩形 6"/>
          <p:cNvSpPr/>
          <p:nvPr/>
        </p:nvSpPr>
        <p:spPr>
          <a:xfrm>
            <a:off x="3474720" y="3461004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回访达成率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Follow-up completion rate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9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2" name="Picture 5"/>
          <p:cNvPicPr>
            <a:picLocks noChangeAspect="1"/>
          </p:cNvPicPr>
          <p:nvPr/>
        </p:nvPicPr>
        <p:blipFill>
          <a:blip r:embed="rId3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83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85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3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3" tooltip="https://www.servauto.com.my/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67512" y="82296"/>
            <a:ext cx="8412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ServAuto 服务顾问培训 · 进阶 | Service Advisor Training - Advanced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2648" y="585216"/>
            <a:ext cx="10972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Coaching New Advisors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2648" y="1060704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带教与跨岗协同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12648" y="1682496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640080" y="1792224"/>
            <a:ext cx="5394960" cy="438912"/>
          </a:xfrm>
          <a:prstGeom prst="roundRect">
            <a:avLst>
              <a:gd name="adj" fmla="val 16000"/>
            </a:avLst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86384" y="1819656"/>
            <a:ext cx="51023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带教方法  |  How to Coach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40080" y="2340864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40080" y="2340864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95528" y="2377440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07007" y="2377440"/>
            <a:ext cx="46817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一日跟岗  /  Shadow Plan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207007" y="2660903"/>
            <a:ext cx="4663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设计一日跟岗计划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Design a one-day shadowing plan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40080" y="3310128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40080" y="3310128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95528" y="3346704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07007" y="3346704"/>
            <a:ext cx="46817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示范放手  /  Show, Do, Fix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207007" y="3630168"/>
            <a:ext cx="4663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先示范、再放手、后纠偏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Show, then let them do, then correct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40080" y="4279392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40080" y="4279392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95528" y="431596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207007" y="4315968"/>
            <a:ext cx="46817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纠动作  /  Fix the Action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207007" y="4599431"/>
            <a:ext cx="4663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纠动作，不纠人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Correct the action, not the person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40080" y="5248656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40080" y="5248656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95528" y="5285232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207007" y="5285232"/>
            <a:ext cx="46817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早会带教  /  Morning Meeting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207007" y="5568696"/>
            <a:ext cx="4663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每周主持一次早会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Run the morning meeting once a week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309360" y="1792224"/>
            <a:ext cx="5394960" cy="438912"/>
          </a:xfrm>
          <a:prstGeom prst="roundRect">
            <a:avLst>
              <a:gd name="adj" fmla="val 16000"/>
            </a:avLst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455664" y="1819656"/>
            <a:ext cx="51023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协同边界  |  Hand-off Lines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309360" y="2340864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309360" y="2340864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464808" y="2377440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76288" y="2377440"/>
            <a:ext cx="46817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交技师  /  To Technician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76288" y="2660903"/>
            <a:ext cx="4663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清楚哪些该交给技师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Know what to hand to the technician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309360" y="3310128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309360" y="3310128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464808" y="3346704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76288" y="3346704"/>
            <a:ext cx="46817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交库管  /  To Storekeeper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876288" y="3630168"/>
            <a:ext cx="4663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清楚哪些该交给库管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Know what to hand to the storekeeper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309360" y="4279392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309360" y="4279392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464808" y="431596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876288" y="4315968"/>
            <a:ext cx="46817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报店长  /  To Manager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876288" y="4599431"/>
            <a:ext cx="4663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清楚哪些必须报店长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Know what must go to the manager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309360" y="5248656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309360" y="5248656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464808" y="5285232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876288" y="5285232"/>
            <a:ext cx="46817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通过率  /  Pass Rate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876288" y="5568696"/>
            <a:ext cx="4663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新人认证通过率算你的成绩</a:t>
            </a: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New advisors' pass rate is on you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8" name="图片 3" descr="/data/temp/31c83b1c-a9fe-11f0-88da-76af0e732785.jpg@base@tag=imgScale&amp;m=1&amp;w=932&amp;h=1264&amp;q=9531c83b1c-a9fe-11f0-88da-76af0e732785"/>
          <p:cNvPicPr>
            <a:picLocks noChangeAspect="1"/>
          </p:cNvPicPr>
          <p:nvPr/>
        </p:nvPicPr>
        <p:blipFill>
          <a:blip r:embed="rId4"/>
          <a:srcRect l="13078" r="13157"/>
          <a:stretch>
            <a:fillRect/>
          </a:stretch>
        </p:blipFill>
        <p:spPr>
          <a:xfrm>
            <a:off x="8244205" y="1773936"/>
            <a:ext cx="3358515" cy="4480560"/>
          </a:xfrm>
          <a:prstGeom prst="round1Rect">
            <a:avLst>
              <a:gd name="adj" fmla="val 39814"/>
            </a:avLst>
          </a:prstGeom>
          <a:solidFill>
            <a:schemeClr val="accent1">
              <a:alpha val="15000"/>
            </a:schemeClr>
          </a:solidFill>
          <a:ln w="9525" cap="flat" cmpd="sng" algn="ctr">
            <a:solidFill>
              <a:schemeClr val="accent1">
                <a:lumMod val="10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03200" dist="38100" dir="2700000" algn="tl" rotWithShape="0">
              <a:schemeClr val="accent1">
                <a:alpha val="60000"/>
              </a:schemeClr>
            </a:outerShdw>
          </a:effectLst>
        </p:spPr>
      </p:pic>
      <p:sp>
        <p:nvSpPr>
          <p:cNvPr id="69" name="圆角矩形 6"/>
          <p:cNvSpPr/>
          <p:nvPr/>
        </p:nvSpPr>
        <p:spPr>
          <a:xfrm>
            <a:off x="3474720" y="1773936"/>
            <a:ext cx="4142232" cy="667512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1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客户分层方案与执行结果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Customer tiering plan and its results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0" name="圆角矩形 35"/>
          <p:cNvSpPr/>
          <p:nvPr/>
        </p:nvSpPr>
        <p:spPr>
          <a:xfrm>
            <a:off x="603504" y="1792224"/>
            <a:ext cx="2743200" cy="6309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5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Tiering Plan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客户分层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1" name="圆角矩形 1"/>
          <p:cNvSpPr/>
          <p:nvPr/>
        </p:nvSpPr>
        <p:spPr>
          <a:xfrm>
            <a:off x="3474720" y="5522975"/>
            <a:ext cx="4142232" cy="667512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1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各项指标均达及格线以上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Meet the KPI pass line on every metric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2" name="圆角矩形 4"/>
          <p:cNvSpPr/>
          <p:nvPr/>
        </p:nvSpPr>
        <p:spPr>
          <a:xfrm>
            <a:off x="3474720" y="4773168"/>
            <a:ext cx="4142232" cy="667512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1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带教一名新人通过认证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Coach one new advisor to certification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3" name="圆角矩形 8"/>
          <p:cNvSpPr/>
          <p:nvPr/>
        </p:nvSpPr>
        <p:spPr>
          <a:xfrm>
            <a:off x="3474720" y="4023360"/>
            <a:ext cx="4142232" cy="667512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1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处理一起升级客诉案例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Handle one escalated complaint case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4" name="圆角矩形 9"/>
          <p:cNvSpPr/>
          <p:nvPr/>
        </p:nvSpPr>
        <p:spPr>
          <a:xfrm>
            <a:off x="3474720" y="3273552"/>
            <a:ext cx="4142232" cy="667512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1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主导一场直播并输出复盘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Run one live session and review it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5" name="圆角矩形 35"/>
          <p:cNvSpPr/>
          <p:nvPr/>
        </p:nvSpPr>
        <p:spPr>
          <a:xfrm>
            <a:off x="603504" y="4041648"/>
            <a:ext cx="2743200" cy="6309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5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Complaint Case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客诉案例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6" name="圆角矩形 35"/>
          <p:cNvSpPr/>
          <p:nvPr/>
        </p:nvSpPr>
        <p:spPr>
          <a:xfrm>
            <a:off x="603504" y="3291840"/>
            <a:ext cx="2743200" cy="6309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5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Live &amp; Review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直播与复盘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7" name="圆角矩形 35"/>
          <p:cNvSpPr/>
          <p:nvPr/>
        </p:nvSpPr>
        <p:spPr>
          <a:xfrm>
            <a:off x="603504" y="4791456"/>
            <a:ext cx="2743200" cy="6309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5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Coach to Certify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带教认证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8" name="圆角矩形 35"/>
          <p:cNvSpPr/>
          <p:nvPr/>
        </p:nvSpPr>
        <p:spPr>
          <a:xfrm>
            <a:off x="603504" y="5541263"/>
            <a:ext cx="2743200" cy="6309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5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KPI Pass Line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指标及格线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9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2" name="Picture 5"/>
          <p:cNvPicPr>
            <a:picLocks noChangeAspect="1"/>
          </p:cNvPicPr>
          <p:nvPr/>
        </p:nvPicPr>
        <p:blipFill>
          <a:blip r:embed="rId3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83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85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3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3" tooltip="https://www.servauto.com.my/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67512" y="82296"/>
            <a:ext cx="8412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ServAuto 服务顾问培训 · 进阶 | Service Advisor Training - Advanced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2648" y="585216"/>
            <a:ext cx="10972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B1D35"/>
                </a:solidFill>
                <a:latin typeface="微软雅黑"/>
                <a:ea typeface="微软雅黑"/>
                <a:cs typeface="微软雅黑"/>
              </a:rPr>
              <a:t>Advanced Certification Standard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2648" y="1060704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6E8299"/>
                </a:solidFill>
                <a:latin typeface="微软雅黑"/>
                <a:ea typeface="微软雅黑"/>
                <a:cs typeface="微软雅黑"/>
              </a:rPr>
              <a:t>高级认证标准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2648" y="1371600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D1C29"/>
                </a:solidFill>
                <a:latin typeface="微软雅黑"/>
                <a:ea typeface="微软雅黑"/>
                <a:cs typeface="微软雅黑"/>
              </a:rPr>
              <a:t>ASSESSMENT · 六项全部达标方可获得高级认证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2648" y="1682496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圆角矩形 35"/>
          <p:cNvSpPr/>
          <p:nvPr/>
        </p:nvSpPr>
        <p:spPr>
          <a:xfrm>
            <a:off x="603504" y="2542032"/>
            <a:ext cx="2743200" cy="6309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5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Monthly Review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+mn-ea"/>
              </a:rPr>
              <a:t>月度经营分析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9" name="圆角矩形 6"/>
          <p:cNvSpPr/>
          <p:nvPr/>
        </p:nvSpPr>
        <p:spPr>
          <a:xfrm>
            <a:off x="3474720" y="2523744"/>
            <a:ext cx="4142232" cy="667512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100" b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+mn-ea"/>
              </a:rPr>
              <a:t>个人月度经营分析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0">
                <a:solidFill>
                  <a:srgbClr val="6E8299"/>
                </a:solidFill>
                <a:latin typeface="微软雅黑"/>
                <a:ea typeface="微软雅黑"/>
                <a:cs typeface="微软雅黑"/>
                <a:sym typeface="+mn-ea"/>
              </a:rPr>
              <a:t>Monthly personal performance review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79" name="标题"/>
          <p:cNvSpPr>
            <a:spLocks noGrp="1"/>
          </p:cNvSpPr>
          <p:nvPr>
            <p:ph type="ctrTitle"/>
          </p:nvPr>
        </p:nvSpPr>
        <p:spPr>
          <a:xfrm>
            <a:off x="841248" y="2212848"/>
            <a:ext cx="10515600" cy="2103120"/>
          </a:xfrm>
        </p:spPr>
        <p:txBody>
          <a:bodyPr wrap="square" anchor="t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4000" b="1">
                <a:solidFill>
                  <a:srgbClr val="FFFFFF"/>
                </a:solidFill>
                <a:latin typeface="微软雅黑" panose="020B0604020202020204"/>
                <a:ea typeface="微软雅黑" panose="020B0503020204020204" charset="-122"/>
                <a:cs typeface="微软雅黑"/>
              </a:rPr>
              <a:t>Thank You</a:t>
            </a:r>
            <a:endParaRPr lang="en-US" altLang="en-US" sz="5600"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lang="zh-CN" altLang="en-US" sz="2200" b="0">
                <a:solidFill>
                  <a:srgbClr val="C9D6E8"/>
                </a:solidFill>
                <a:latin typeface="微软雅黑"/>
                <a:ea typeface="微软雅黑"/>
                <a:cs typeface="微软雅黑"/>
              </a:rPr>
              <a:t>谢谢</a:t>
            </a:r>
            <a:endParaRPr lang="zh-CN" altLang="en-US" sz="3650">
              <a:solidFill>
                <a:srgbClr val="6E8299"/>
              </a:solidFill>
            </a:endParaRP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lang="zh-CN" altLang="en-US" sz="1200" b="0">
                <a:solidFill>
                  <a:srgbClr val="A6B9D4"/>
                </a:solidFill>
                <a:latin typeface="微软雅黑"/>
                <a:ea typeface="微软雅黑"/>
                <a:cs typeface="微软雅黑"/>
              </a:rPr>
              <a:t>Advanced Course  |  48 Hours  |  高级课程 · 48 课时</a:t>
            </a:r>
            <a:endParaRPr lang="zh-CN" altLang="en-US" sz="3650">
              <a:solidFill>
                <a:srgbClr val="6E8299"/>
              </a:solidFill>
            </a:endParaRPr>
          </a:p>
        </p:txBody>
      </p:sp>
      <p:pic>
        <p:nvPicPr>
          <p:cNvPr id="480" name="Picture 31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307" y="960120"/>
            <a:ext cx="1783080" cy="479233"/>
          </a:xfrm>
          <a:prstGeom prst="rect">
            <a:avLst/>
          </a:prstGeom>
        </p:spPr>
      </p:pic>
      <p:sp>
        <p:nvSpPr>
          <p:cNvPr id="481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82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83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84" name="Picture 5"/>
          <p:cNvPicPr>
            <a:picLocks noChangeAspect="1"/>
          </p:cNvPicPr>
          <p:nvPr/>
        </p:nvPicPr>
        <p:blipFill>
          <a:blip r:embed="rId3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485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86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487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88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89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3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3" tooltip="https://www.servauto.com.my/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21">
      <a:dk1>
        <a:srgbClr val="1F2329"/>
      </a:dk1>
      <a:lt1>
        <a:srgbClr val="FFFFFF"/>
      </a:lt1>
      <a:dk2>
        <a:srgbClr val="1F2329"/>
      </a:dk2>
      <a:lt2>
        <a:srgbClr val="F1F5FA"/>
      </a:lt2>
      <a:accent1>
        <a:srgbClr val="005AA9"/>
      </a:accent1>
      <a:accent2>
        <a:srgbClr val="4A87C0"/>
      </a:accent2>
      <a:accent3>
        <a:srgbClr val="003A75"/>
      </a:accent3>
      <a:accent4>
        <a:srgbClr val="1F2329"/>
      </a:accent4>
      <a:accent5>
        <a:srgbClr val="002850"/>
      </a:accent5>
      <a:accent6>
        <a:srgbClr val="ED1C29"/>
      </a:accent6>
      <a:hlink>
        <a:srgbClr val="005AA9"/>
      </a:hlink>
      <a:folHlink>
        <a:srgbClr val="ED1C29"/>
      </a:folHlink>
    </a:clrScheme>
    <a:fontScheme name="自定义 8">
      <a:majorFont>
        <a:latin typeface="微软雅黑"/>
        <a:ea typeface="微软雅黑"/>
        <a:cs typeface="Arial"/>
      </a:majorFont>
      <a:minorFont>
        <a:latin typeface="微软雅黑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自定义 21">
      <a:dk1>
        <a:srgbClr val="1F2329"/>
      </a:dk1>
      <a:lt1>
        <a:srgbClr val="FFFFFF"/>
      </a:lt1>
      <a:dk2>
        <a:srgbClr val="1F2329"/>
      </a:dk2>
      <a:lt2>
        <a:srgbClr val="F1F5FA"/>
      </a:lt2>
      <a:accent1>
        <a:srgbClr val="005AA9"/>
      </a:accent1>
      <a:accent2>
        <a:srgbClr val="4A87C0"/>
      </a:accent2>
      <a:accent3>
        <a:srgbClr val="003A75"/>
      </a:accent3>
      <a:accent4>
        <a:srgbClr val="1F2329"/>
      </a:accent4>
      <a:accent5>
        <a:srgbClr val="002850"/>
      </a:accent5>
      <a:accent6>
        <a:srgbClr val="ED1C29"/>
      </a:accent6>
      <a:hlink>
        <a:srgbClr val="005AA9"/>
      </a:hlink>
      <a:folHlink>
        <a:srgbClr val="ED1C29"/>
      </a:folHlink>
    </a:clrScheme>
    <a:fontScheme name="自定义 8">
      <a:majorFont>
        <a:latin typeface="微软雅黑"/>
        <a:ea typeface="微软雅黑"/>
        <a:cs typeface="Arial"/>
      </a:majorFont>
      <a:minorFont>
        <a:latin typeface="微软雅黑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14975</Words>
  <Application>WPS 演示</Application>
  <PresentationFormat/>
  <Paragraphs>698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29</vt:i4>
      </vt:variant>
    </vt:vector>
  </HeadingPairs>
  <TitlesOfParts>
    <vt:vector size="45" baseType="lpstr">
      <vt:lpstr>Arial</vt:lpstr>
      <vt:lpstr>宋体</vt:lpstr>
      <vt:lpstr>Wingdings</vt:lpstr>
      <vt:lpstr>Arial</vt:lpstr>
      <vt:lpstr>Inter 18pt SemiBold</vt:lpstr>
      <vt:lpstr>Segoe Print</vt:lpstr>
      <vt:lpstr>Inter 18pt ExtraBold</vt:lpstr>
      <vt:lpstr>Inter 18pt Medium</vt:lpstr>
      <vt:lpstr>Inter</vt:lpstr>
      <vt:lpstr>微软雅黑</vt:lpstr>
      <vt:lpstr>Arial Unicode MS</vt:lpstr>
      <vt:lpstr>Calibri</vt:lpstr>
      <vt:lpstr>Office 主题</vt:lpstr>
      <vt:lpstr>Office 主题​​</vt:lpstr>
      <vt:lpstr>1_Office 主题​​</vt:lpstr>
      <vt:lpstr>自定义主题</vt:lpstr>
      <vt:lpstr>PowerPoint 演示文稿</vt:lpstr>
      <vt:lpstr>PowerPoint 演示文稿</vt:lpstr>
      <vt:lpstr>区域经理的角色定位</vt:lpstr>
      <vt:lpstr>Regional Manager Responsibilities | 区域经理职责概述</vt:lpstr>
      <vt:lpstr>区域经理与门店关系</vt:lpstr>
      <vt:lpstr>区域经理工作目标</vt:lpstr>
      <vt:lpstr>巡店流程与技巧</vt:lpstr>
      <vt:lpstr>巡店前：准备工作清单</vt:lpstr>
      <vt:lpstr>巡店过程中的观察要点</vt:lpstr>
      <vt:lpstr>During the Visit: Five Check Dimensions | 巡店中：五大检查维度</vt:lpstr>
      <vt:lpstr>巡店后的反馈与沟通</vt:lpstr>
      <vt:lpstr>After the Visit: 4 Elements of Closing the Loop | 巡店后：整改闭环跟进4要素</vt:lpstr>
      <vt:lpstr>汽修门店运营知识</vt:lpstr>
      <vt:lpstr>配件与耗材管理</vt:lpstr>
      <vt:lpstr>销售技巧与客户服务</vt:lpstr>
      <vt:lpstr>门店日常管理要点（人，货，场）</vt:lpstr>
      <vt:lpstr>问题解决与决策</vt:lpstr>
      <vt:lpstr>Spotting &amp; Handling Common Issues | 常见问题识别与处理</vt:lpstr>
      <vt:lpstr>The Decision-Making Process | 决策制定的流程</vt:lpstr>
      <vt:lpstr>Handling Emergencies | 应对突发事件的策略</vt:lpstr>
      <vt:lpstr>培训能力</vt:lpstr>
      <vt:lpstr>PowerPoint 演示文稿</vt:lpstr>
      <vt:lpstr>Training Techniques &amp; Methods | 培训技巧与方法</vt:lpstr>
      <vt:lpstr>模拟实操演练</vt:lpstr>
      <vt:lpstr>建立团队合作精神</vt:lpstr>
      <vt:lpstr>案例分析与巡店工具</vt:lpstr>
      <vt:lpstr>真实案例分享</vt:lpstr>
      <vt:lpstr>巡店工具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房吉伟</cp:lastModifiedBy>
  <cp:revision>7</cp:revision>
  <dcterms:created xsi:type="dcterms:W3CDTF">2026-10-12T03:31:00Z</dcterms:created>
  <dcterms:modified xsi:type="dcterms:W3CDTF">2026-10-12T07:56:42Z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6b6e2dac51814862bae57b148d8df064_21</vt:lpwstr>
  </property>
  <property fmtid="{D5CDD505-2E9C-101B-9397-08002B2CF9AE}" pid="3" name="KSOProductBuildVer">
    <vt:lpwstr>2052-12.1.0.28505</vt:lpwstr>
  </property>
</Properties>
</file>