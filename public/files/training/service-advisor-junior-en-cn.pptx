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</p:sldMasterIdLst>
  <p:notesMasterIdLst>
    <p:notesMasterId r:id="rId23"/>
  </p:notesMasterIdLst>
  <p:sldIdLst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8" r:id="rId18"/>
    <p:sldId id="299" r:id="rId19"/>
    <p:sldId id="300" r:id="rId20"/>
    <p:sldId id="301" r:id="rId21"/>
    <p:sldId id="30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p/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servauto.com.my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 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2" name="Image 4" descr=" "/>
          <p:cNvSpPr/>
          <p:nvPr/>
        </p:nvSpPr>
        <p:spPr>
          <a:xfrm>
            <a:off x="1588" y="1066799"/>
            <a:ext cx="1625193" cy="1498600"/>
          </a:xfrm>
          <a:custGeom>
            <a:avLst/>
            <a:gdLst>
              <a:gd name="connsiteX0" fmla="*/ 876081 w 1625193"/>
              <a:gd name="connsiteY0" fmla="*/ 0 h 1498600"/>
              <a:gd name="connsiteX1" fmla="*/ 1625194 w 1625193"/>
              <a:gd name="connsiteY1" fmla="*/ 749300 h 1498600"/>
              <a:gd name="connsiteX2" fmla="*/ 1625194 w 1625193"/>
              <a:gd name="connsiteY2" fmla="*/ 749300 h 1498600"/>
              <a:gd name="connsiteX3" fmla="*/ 876081 w 1625193"/>
              <a:gd name="connsiteY3" fmla="*/ 1498600 h 1498600"/>
              <a:gd name="connsiteX4" fmla="*/ 0 w 1625193"/>
              <a:gd name="connsiteY4" fmla="*/ 1498600 h 1498600"/>
              <a:gd name="connsiteX5" fmla="*/ 0 w 1625193"/>
              <a:gd name="connsiteY5" fmla="*/ 0 h 1498600"/>
              <a:gd name="connsiteX6" fmla="*/ 876081 w 1625193"/>
              <a:gd name="connsiteY6" fmla="*/ 0 h 149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193" h="1498600">
                <a:moveTo>
                  <a:pt x="876081" y="0"/>
                </a:moveTo>
                <a:cubicBezTo>
                  <a:pt x="1289807" y="0"/>
                  <a:pt x="1625194" y="335473"/>
                  <a:pt x="1625194" y="749300"/>
                </a:cubicBezTo>
                <a:lnTo>
                  <a:pt x="1625194" y="749300"/>
                </a:lnTo>
                <a:cubicBezTo>
                  <a:pt x="1625194" y="1163127"/>
                  <a:pt x="1289807" y="1498600"/>
                  <a:pt x="876081" y="1498600"/>
                </a:cubicBezTo>
                <a:lnTo>
                  <a:pt x="0" y="1498600"/>
                </a:lnTo>
                <a:lnTo>
                  <a:pt x="0" y="0"/>
                </a:lnTo>
                <a:lnTo>
                  <a:pt x="876081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73" name="Image 1" descr=" "/>
          <p:cNvSpPr/>
          <p:nvPr/>
        </p:nvSpPr>
        <p:spPr>
          <a:xfrm>
            <a:off x="9321058" y="3111500"/>
            <a:ext cx="2260035" cy="3746500"/>
          </a:xfrm>
          <a:custGeom>
            <a:avLst/>
            <a:gdLst>
              <a:gd name="connsiteX0" fmla="*/ 0 w 2260035"/>
              <a:gd name="connsiteY0" fmla="*/ 1130300 h 3746500"/>
              <a:gd name="connsiteX1" fmla="*/ 1130018 w 2260035"/>
              <a:gd name="connsiteY1" fmla="*/ 0 h 3746500"/>
              <a:gd name="connsiteX2" fmla="*/ 1130018 w 2260035"/>
              <a:gd name="connsiteY2" fmla="*/ 0 h 3746500"/>
              <a:gd name="connsiteX3" fmla="*/ 2260035 w 2260035"/>
              <a:gd name="connsiteY3" fmla="*/ 1130300 h 3746500"/>
              <a:gd name="connsiteX4" fmla="*/ 2260035 w 2260035"/>
              <a:gd name="connsiteY4" fmla="*/ 3746500 h 3746500"/>
              <a:gd name="connsiteX5" fmla="*/ 0 w 2260035"/>
              <a:gd name="connsiteY5" fmla="*/ 3746500 h 3746500"/>
              <a:gd name="connsiteX6" fmla="*/ 0 w 2260035"/>
              <a:gd name="connsiteY6" fmla="*/ 11303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0035" h="3746500">
                <a:moveTo>
                  <a:pt x="0" y="1130300"/>
                </a:moveTo>
                <a:cubicBezTo>
                  <a:pt x="0" y="506053"/>
                  <a:pt x="505927" y="0"/>
                  <a:pt x="1130018" y="0"/>
                </a:cubicBezTo>
                <a:lnTo>
                  <a:pt x="1130018" y="0"/>
                </a:lnTo>
                <a:cubicBezTo>
                  <a:pt x="1754105" y="0"/>
                  <a:pt x="2260035" y="506053"/>
                  <a:pt x="2260035" y="1130300"/>
                </a:cubicBezTo>
                <a:lnTo>
                  <a:pt x="2260035" y="3746500"/>
                </a:lnTo>
                <a:lnTo>
                  <a:pt x="0" y="3746500"/>
                </a:lnTo>
                <a:lnTo>
                  <a:pt x="0" y="1130300"/>
                </a:lnTo>
                <a:close/>
              </a:path>
            </a:pathLst>
          </a:custGeom>
          <a:solidFill>
            <a:schemeClr val="accent3"/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Image 2" descr=" "/>
          <p:cNvSpPr/>
          <p:nvPr/>
        </p:nvSpPr>
        <p:spPr>
          <a:xfrm>
            <a:off x="10527256" y="0"/>
            <a:ext cx="1053836" cy="1866900"/>
          </a:xfrm>
          <a:custGeom>
            <a:avLst/>
            <a:gdLst>
              <a:gd name="connsiteX0" fmla="*/ 0 w 1053836"/>
              <a:gd name="connsiteY0" fmla="*/ 0 h 1866900"/>
              <a:gd name="connsiteX1" fmla="*/ 1053836 w 1053836"/>
              <a:gd name="connsiteY1" fmla="*/ 0 h 1866900"/>
              <a:gd name="connsiteX2" fmla="*/ 1053836 w 1053836"/>
              <a:gd name="connsiteY2" fmla="*/ 1339850 h 1866900"/>
              <a:gd name="connsiteX3" fmla="*/ 526918 w 1053836"/>
              <a:gd name="connsiteY3" fmla="*/ 1866900 h 1866900"/>
              <a:gd name="connsiteX4" fmla="*/ 526918 w 1053836"/>
              <a:gd name="connsiteY4" fmla="*/ 1866900 h 1866900"/>
              <a:gd name="connsiteX5" fmla="*/ 0 w 1053836"/>
              <a:gd name="connsiteY5" fmla="*/ 1339850 h 1866900"/>
              <a:gd name="connsiteX6" fmla="*/ 0 w 1053836"/>
              <a:gd name="connsiteY6" fmla="*/ 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3836" h="1866900">
                <a:moveTo>
                  <a:pt x="0" y="0"/>
                </a:moveTo>
                <a:lnTo>
                  <a:pt x="1053836" y="0"/>
                </a:lnTo>
                <a:lnTo>
                  <a:pt x="1053836" y="1339850"/>
                </a:lnTo>
                <a:cubicBezTo>
                  <a:pt x="1053836" y="1630934"/>
                  <a:pt x="817927" y="1866900"/>
                  <a:pt x="526918" y="1866900"/>
                </a:cubicBezTo>
                <a:lnTo>
                  <a:pt x="526918" y="1866900"/>
                </a:lnTo>
                <a:cubicBezTo>
                  <a:pt x="235909" y="1866900"/>
                  <a:pt x="0" y="1630934"/>
                  <a:pt x="0" y="13398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Image 3" descr=" "/>
          <p:cNvSpPr/>
          <p:nvPr/>
        </p:nvSpPr>
        <p:spPr>
          <a:xfrm>
            <a:off x="5270770" y="3759200"/>
            <a:ext cx="1485529" cy="3098800"/>
          </a:xfrm>
          <a:custGeom>
            <a:avLst/>
            <a:gdLst>
              <a:gd name="connsiteX0" fmla="*/ 0 w 1485529"/>
              <a:gd name="connsiteY0" fmla="*/ 742950 h 3098800"/>
              <a:gd name="connsiteX1" fmla="*/ 742765 w 1485529"/>
              <a:gd name="connsiteY1" fmla="*/ 0 h 3098800"/>
              <a:gd name="connsiteX2" fmla="*/ 742765 w 1485529"/>
              <a:gd name="connsiteY2" fmla="*/ 0 h 3098800"/>
              <a:gd name="connsiteX3" fmla="*/ 1485529 w 1485529"/>
              <a:gd name="connsiteY3" fmla="*/ 742950 h 3098800"/>
              <a:gd name="connsiteX4" fmla="*/ 1485529 w 1485529"/>
              <a:gd name="connsiteY4" fmla="*/ 3098800 h 3098800"/>
              <a:gd name="connsiteX5" fmla="*/ 0 w 1485529"/>
              <a:gd name="connsiteY5" fmla="*/ 3098800 h 3098800"/>
              <a:gd name="connsiteX6" fmla="*/ 0 w 1485529"/>
              <a:gd name="connsiteY6" fmla="*/ 742950 h 309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529" h="3098800">
                <a:moveTo>
                  <a:pt x="0" y="742950"/>
                </a:moveTo>
                <a:cubicBezTo>
                  <a:pt x="0" y="332630"/>
                  <a:pt x="332546" y="0"/>
                  <a:pt x="742765" y="0"/>
                </a:cubicBezTo>
                <a:lnTo>
                  <a:pt x="742765" y="0"/>
                </a:lnTo>
                <a:cubicBezTo>
                  <a:pt x="1152983" y="0"/>
                  <a:pt x="1485529" y="332630"/>
                  <a:pt x="1485529" y="742950"/>
                </a:cubicBezTo>
                <a:lnTo>
                  <a:pt x="1485529" y="3098800"/>
                </a:lnTo>
                <a:lnTo>
                  <a:pt x="0" y="3098800"/>
                </a:lnTo>
                <a:lnTo>
                  <a:pt x="0" y="742950"/>
                </a:lnTo>
                <a:close/>
              </a:path>
            </a:pathLst>
          </a:custGeom>
          <a:solidFill>
            <a:schemeClr val="accent1">
              <a:alpha val="54000"/>
            </a:schemeClr>
          </a:solidFill>
          <a:ln w="126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标题 1"/>
          <p:cNvSpPr>
            <a:spLocks noGrp="1"/>
          </p:cNvSpPr>
          <p:nvPr>
            <p:ph type="ctrTitle"/>
          </p:nvPr>
        </p:nvSpPr>
        <p:spPr>
          <a:xfrm>
            <a:off x="785942" y="916125"/>
            <a:ext cx="5918099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0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785942" y="5645599"/>
            <a:ext cx="4317495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4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 0" descr=" "/>
          <p:cNvSpPr/>
          <p:nvPr/>
        </p:nvSpPr>
        <p:spPr>
          <a:xfrm>
            <a:off x="7238778" y="0"/>
            <a:ext cx="2615560" cy="4483100"/>
          </a:xfrm>
          <a:custGeom>
            <a:avLst/>
            <a:gdLst>
              <a:gd name="connsiteX0" fmla="*/ 0 w 2615560"/>
              <a:gd name="connsiteY0" fmla="*/ 0 h 4483100"/>
              <a:gd name="connsiteX1" fmla="*/ 2615561 w 2615560"/>
              <a:gd name="connsiteY1" fmla="*/ 0 h 4483100"/>
              <a:gd name="connsiteX2" fmla="*/ 2615561 w 2615560"/>
              <a:gd name="connsiteY2" fmla="*/ 3171825 h 4483100"/>
              <a:gd name="connsiteX3" fmla="*/ 1307781 w 2615560"/>
              <a:gd name="connsiteY3" fmla="*/ 4483100 h 4483100"/>
              <a:gd name="connsiteX4" fmla="*/ 0 w 2615560"/>
              <a:gd name="connsiteY4" fmla="*/ 3171825 h 4483100"/>
              <a:gd name="connsiteX5" fmla="*/ 0 w 2615560"/>
              <a:gd name="connsiteY5" fmla="*/ 0 h 448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5560" h="4483100">
                <a:moveTo>
                  <a:pt x="0" y="0"/>
                </a:moveTo>
                <a:lnTo>
                  <a:pt x="2615561" y="0"/>
                </a:lnTo>
                <a:lnTo>
                  <a:pt x="2615561" y="3171825"/>
                </a:lnTo>
                <a:cubicBezTo>
                  <a:pt x="2615561" y="3896017"/>
                  <a:pt x="2030043" y="4483100"/>
                  <a:pt x="1307781" y="4483100"/>
                </a:cubicBezTo>
                <a:cubicBezTo>
                  <a:pt x="585513" y="4483100"/>
                  <a:pt x="0" y="3896017"/>
                  <a:pt x="0" y="317182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6000"/>
            </a:schemeClr>
          </a:solidFill>
          <a:ln w="1261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97" name="Image 1" descr=" "/>
          <p:cNvSpPr/>
          <p:nvPr/>
        </p:nvSpPr>
        <p:spPr>
          <a:xfrm>
            <a:off x="1587" y="787323"/>
            <a:ext cx="1777556" cy="1028852"/>
          </a:xfrm>
          <a:custGeom>
            <a:avLst/>
            <a:gdLst>
              <a:gd name="connsiteX0" fmla="*/ 0 w 1777556"/>
              <a:gd name="connsiteY0" fmla="*/ 1028853 h 1028852"/>
              <a:gd name="connsiteX1" fmla="*/ 0 w 1777556"/>
              <a:gd name="connsiteY1" fmla="*/ 0 h 1028852"/>
              <a:gd name="connsiteX2" fmla="*/ 1256986 w 1777556"/>
              <a:gd name="connsiteY2" fmla="*/ 0 h 1028852"/>
              <a:gd name="connsiteX3" fmla="*/ 1777556 w 1777556"/>
              <a:gd name="connsiteY3" fmla="*/ 514426 h 1028852"/>
              <a:gd name="connsiteX4" fmla="*/ 1256986 w 1777556"/>
              <a:gd name="connsiteY4" fmla="*/ 1028853 h 1028852"/>
              <a:gd name="connsiteX5" fmla="*/ 0 w 1777556"/>
              <a:gd name="connsiteY5" fmla="*/ 1028853 h 102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7555" h="1028852">
                <a:moveTo>
                  <a:pt x="0" y="1028853"/>
                </a:moveTo>
                <a:lnTo>
                  <a:pt x="0" y="0"/>
                </a:lnTo>
                <a:lnTo>
                  <a:pt x="1256986" y="0"/>
                </a:lnTo>
                <a:cubicBezTo>
                  <a:pt x="1544493" y="0"/>
                  <a:pt x="1777556" y="230316"/>
                  <a:pt x="1777556" y="514426"/>
                </a:cubicBezTo>
                <a:cubicBezTo>
                  <a:pt x="1777556" y="798537"/>
                  <a:pt x="1544493" y="1028853"/>
                  <a:pt x="1256986" y="1028853"/>
                </a:cubicBezTo>
                <a:lnTo>
                  <a:pt x="0" y="1028853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98" name="Image 2" descr=" "/>
          <p:cNvSpPr/>
          <p:nvPr/>
        </p:nvSpPr>
        <p:spPr>
          <a:xfrm>
            <a:off x="9993971" y="2552700"/>
            <a:ext cx="2196568" cy="4305300"/>
          </a:xfrm>
          <a:custGeom>
            <a:avLst/>
            <a:gdLst>
              <a:gd name="connsiteX0" fmla="*/ 2196569 w 2196568"/>
              <a:gd name="connsiteY0" fmla="*/ 4305300 h 4305300"/>
              <a:gd name="connsiteX1" fmla="*/ 0 w 2196568"/>
              <a:gd name="connsiteY1" fmla="*/ 4305300 h 4305300"/>
              <a:gd name="connsiteX2" fmla="*/ 0 w 2196568"/>
              <a:gd name="connsiteY2" fmla="*/ 1101725 h 4305300"/>
              <a:gd name="connsiteX3" fmla="*/ 1098284 w 2196568"/>
              <a:gd name="connsiteY3" fmla="*/ 0 h 4305300"/>
              <a:gd name="connsiteX4" fmla="*/ 2196569 w 2196568"/>
              <a:gd name="connsiteY4" fmla="*/ 1101725 h 4305300"/>
              <a:gd name="connsiteX5" fmla="*/ 2196569 w 2196568"/>
              <a:gd name="connsiteY5" fmla="*/ 430530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568" h="4305300">
                <a:moveTo>
                  <a:pt x="2196569" y="4305300"/>
                </a:moveTo>
                <a:lnTo>
                  <a:pt x="0" y="4305300"/>
                </a:lnTo>
                <a:lnTo>
                  <a:pt x="0" y="1101725"/>
                </a:lnTo>
                <a:cubicBezTo>
                  <a:pt x="0" y="493259"/>
                  <a:pt x="491719" y="0"/>
                  <a:pt x="1098284" y="0"/>
                </a:cubicBezTo>
                <a:cubicBezTo>
                  <a:pt x="1704854" y="0"/>
                  <a:pt x="2196569" y="493259"/>
                  <a:pt x="2196569" y="1101725"/>
                </a:cubicBezTo>
                <a:lnTo>
                  <a:pt x="2196569" y="4305300"/>
                </a:lnTo>
                <a:close/>
              </a:path>
            </a:pathLst>
          </a:custGeom>
          <a:solidFill>
            <a:schemeClr val="accent1"/>
          </a:solidFill>
          <a:ln w="1264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590600"/>
            <a:ext cx="1149279" cy="1081088"/>
          </a:xfrm>
        </p:spPr>
        <p:txBody>
          <a:bodyPr wrap="square" anchor="b">
            <a:normAutofit/>
          </a:bodyPr>
          <a:lstStyle>
            <a:lvl1pPr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0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节标题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1"/>
          </p:cNvSpPr>
          <p:nvPr>
            <p:ph type="title"/>
          </p:nvPr>
        </p:nvSpPr>
        <p:spPr>
          <a:xfrm>
            <a:off x="6236360" y="3516350"/>
            <a:ext cx="4544200" cy="2094400"/>
          </a:xfrm>
        </p:spPr>
        <p:txBody>
          <a:bodyPr wrap="square" anchor="t">
            <a:normAutofit/>
          </a:bodyPr>
          <a:lstStyle>
            <a:lvl1pPr algn="ctr"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Image 1" descr=" "/>
          <p:cNvSpPr/>
          <p:nvPr userDrawn="1"/>
        </p:nvSpPr>
        <p:spPr>
          <a:xfrm>
            <a:off x="2309495" y="0"/>
            <a:ext cx="2240280" cy="3617595"/>
          </a:xfrm>
          <a:custGeom>
            <a:avLst/>
            <a:gdLst>
              <a:gd name="connsiteX0" fmla="*/ 0 w 1612497"/>
              <a:gd name="connsiteY0" fmla="*/ 0 h 2603500"/>
              <a:gd name="connsiteX1" fmla="*/ 1612497 w 1612497"/>
              <a:gd name="connsiteY1" fmla="*/ 0 h 2603500"/>
              <a:gd name="connsiteX2" fmla="*/ 1612497 w 1612497"/>
              <a:gd name="connsiteY2" fmla="*/ 1797050 h 2603500"/>
              <a:gd name="connsiteX3" fmla="*/ 806249 w 1612497"/>
              <a:gd name="connsiteY3" fmla="*/ 2603500 h 2603500"/>
              <a:gd name="connsiteX4" fmla="*/ 806249 w 1612497"/>
              <a:gd name="connsiteY4" fmla="*/ 2603500 h 2603500"/>
              <a:gd name="connsiteX5" fmla="*/ 0 w 1612497"/>
              <a:gd name="connsiteY5" fmla="*/ 1797050 h 2603500"/>
              <a:gd name="connsiteX6" fmla="*/ 0 w 1612497"/>
              <a:gd name="connsiteY6" fmla="*/ 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2497" h="2603500">
                <a:moveTo>
                  <a:pt x="0" y="0"/>
                </a:moveTo>
                <a:lnTo>
                  <a:pt x="1612497" y="0"/>
                </a:lnTo>
                <a:lnTo>
                  <a:pt x="1612497" y="1797050"/>
                </a:lnTo>
                <a:cubicBezTo>
                  <a:pt x="1612497" y="2242439"/>
                  <a:pt x="1251528" y="2603500"/>
                  <a:pt x="806249" y="2603500"/>
                </a:cubicBezTo>
                <a:lnTo>
                  <a:pt x="806249" y="2603500"/>
                </a:lnTo>
                <a:cubicBezTo>
                  <a:pt x="360970" y="2603500"/>
                  <a:pt x="0" y="2242439"/>
                  <a:pt x="0" y="17970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6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Image 2" descr=" "/>
          <p:cNvSpPr/>
          <p:nvPr userDrawn="1"/>
        </p:nvSpPr>
        <p:spPr>
          <a:xfrm>
            <a:off x="1721651" y="4241800"/>
            <a:ext cx="2450487" cy="2616200"/>
          </a:xfrm>
          <a:custGeom>
            <a:avLst/>
            <a:gdLst>
              <a:gd name="connsiteX0" fmla="*/ 0 w 2450487"/>
              <a:gd name="connsiteY0" fmla="*/ 1225550 h 2616200"/>
              <a:gd name="connsiteX1" fmla="*/ 1225244 w 2450487"/>
              <a:gd name="connsiteY1" fmla="*/ 0 h 2616200"/>
              <a:gd name="connsiteX2" fmla="*/ 1225244 w 2450487"/>
              <a:gd name="connsiteY2" fmla="*/ 0 h 2616200"/>
              <a:gd name="connsiteX3" fmla="*/ 2450487 w 2450487"/>
              <a:gd name="connsiteY3" fmla="*/ 1225550 h 2616200"/>
              <a:gd name="connsiteX4" fmla="*/ 2450487 w 2450487"/>
              <a:gd name="connsiteY4" fmla="*/ 2616200 h 2616200"/>
              <a:gd name="connsiteX5" fmla="*/ 0 w 2450487"/>
              <a:gd name="connsiteY5" fmla="*/ 2616200 h 2616200"/>
              <a:gd name="connsiteX6" fmla="*/ 0 w 2450487"/>
              <a:gd name="connsiteY6" fmla="*/ 1225550 h 26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487" h="2616200">
                <a:moveTo>
                  <a:pt x="0" y="1225550"/>
                </a:moveTo>
                <a:cubicBezTo>
                  <a:pt x="0" y="548697"/>
                  <a:pt x="548560" y="0"/>
                  <a:pt x="1225244" y="0"/>
                </a:cubicBezTo>
                <a:lnTo>
                  <a:pt x="1225244" y="0"/>
                </a:lnTo>
                <a:cubicBezTo>
                  <a:pt x="1901921" y="0"/>
                  <a:pt x="2450487" y="548697"/>
                  <a:pt x="2450487" y="1225550"/>
                </a:cubicBezTo>
                <a:lnTo>
                  <a:pt x="2450487" y="2616200"/>
                </a:lnTo>
                <a:lnTo>
                  <a:pt x="0" y="2616200"/>
                </a:lnTo>
                <a:lnTo>
                  <a:pt x="0" y="1225550"/>
                </a:lnTo>
                <a:close/>
              </a:path>
            </a:pathLst>
          </a:custGeom>
          <a:solidFill>
            <a:schemeClr val="accent6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Shape 2"/>
          <p:cNvSpPr/>
          <p:nvPr userDrawn="1"/>
        </p:nvSpPr>
        <p:spPr>
          <a:xfrm>
            <a:off x="8038678" y="2292350"/>
            <a:ext cx="939565" cy="93980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1" name="节编号 3"/>
          <p:cNvSpPr>
            <a:spLocks noGrp="1"/>
          </p:cNvSpPr>
          <p:nvPr>
            <p:ph type="body" sz="quarter" idx="13" hasCustomPrompt="1"/>
          </p:nvPr>
        </p:nvSpPr>
        <p:spPr>
          <a:xfrm>
            <a:off x="6236360" y="2122450"/>
            <a:ext cx="4544200" cy="1224000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30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4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5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6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1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2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5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仅内容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9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13"/>
          <p:cNvSpPr/>
          <p:nvPr userDrawn="1"/>
        </p:nvSpPr>
        <p:spPr>
          <a:xfrm>
            <a:off x="1200" y="0"/>
            <a:ext cx="12189600" cy="6858000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标题 1"/>
          <p:cNvSpPr>
            <a:spLocks noGrp="1"/>
          </p:cNvSpPr>
          <p:nvPr>
            <p:ph type="ctrTitle"/>
          </p:nvPr>
        </p:nvSpPr>
        <p:spPr>
          <a:xfrm>
            <a:off x="836976" y="1867085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6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3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6976" y="3901761"/>
            <a:ext cx="10515000" cy="50400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  <p:sp>
        <p:nvSpPr>
          <p:cNvPr id="94" name="Image 1" descr=" "/>
          <p:cNvSpPr/>
          <p:nvPr/>
        </p:nvSpPr>
        <p:spPr>
          <a:xfrm>
            <a:off x="0" y="2222500"/>
            <a:ext cx="12188952" cy="2417938"/>
          </a:xfrm>
          <a:custGeom>
            <a:avLst/>
            <a:gdLst>
              <a:gd name="connsiteX0" fmla="*/ 0 w 12188952"/>
              <a:gd name="connsiteY0" fmla="*/ 371489 h 2417938"/>
              <a:gd name="connsiteX1" fmla="*/ 0 w 12188952"/>
              <a:gd name="connsiteY1" fmla="*/ 45621 h 2417938"/>
              <a:gd name="connsiteX2" fmla="*/ 1469023 w 12188952"/>
              <a:gd name="connsiteY2" fmla="*/ 45621 h 2417938"/>
              <a:gd name="connsiteX3" fmla="*/ 1469023 w 12188952"/>
              <a:gd name="connsiteY3" fmla="*/ 371489 h 2417938"/>
              <a:gd name="connsiteX4" fmla="*/ 705461 w 12188952"/>
              <a:gd name="connsiteY4" fmla="*/ 371489 h 2417938"/>
              <a:gd name="connsiteX5" fmla="*/ 705461 w 12188952"/>
              <a:gd name="connsiteY5" fmla="*/ 2372317 h 2417938"/>
              <a:gd name="connsiteX6" fmla="*/ 323680 w 12188952"/>
              <a:gd name="connsiteY6" fmla="*/ 2372317 h 2417938"/>
              <a:gd name="connsiteX7" fmla="*/ 323680 w 12188952"/>
              <a:gd name="connsiteY7" fmla="*/ 371489 h 2417938"/>
              <a:gd name="connsiteX8" fmla="*/ 0 w 12188952"/>
              <a:gd name="connsiteY8" fmla="*/ 371489 h 2417938"/>
              <a:gd name="connsiteX9" fmla="*/ 12188952 w 12188952"/>
              <a:gd name="connsiteY9" fmla="*/ 376820 h 2417938"/>
              <a:gd name="connsiteX10" fmla="*/ 11886628 w 12188952"/>
              <a:gd name="connsiteY10" fmla="*/ 329126 h 2417938"/>
              <a:gd name="connsiteX11" fmla="*/ 11550530 w 12188952"/>
              <a:gd name="connsiteY11" fmla="*/ 391041 h 2417938"/>
              <a:gd name="connsiteX12" fmla="*/ 11406954 w 12188952"/>
              <a:gd name="connsiteY12" fmla="*/ 632183 h 2417938"/>
              <a:gd name="connsiteX13" fmla="*/ 11570109 w 12188952"/>
              <a:gd name="connsiteY13" fmla="*/ 870067 h 2417938"/>
              <a:gd name="connsiteX14" fmla="*/ 11968205 w 12188952"/>
              <a:gd name="connsiteY14" fmla="*/ 1013448 h 2417938"/>
              <a:gd name="connsiteX15" fmla="*/ 12188952 w 12188952"/>
              <a:gd name="connsiteY15" fmla="*/ 1084597 h 2417938"/>
              <a:gd name="connsiteX16" fmla="*/ 12188952 w 12188952"/>
              <a:gd name="connsiteY16" fmla="*/ 1436176 h 2417938"/>
              <a:gd name="connsiteX17" fmla="*/ 11827892 w 12188952"/>
              <a:gd name="connsiteY17" fmla="*/ 1319764 h 2417938"/>
              <a:gd name="connsiteX18" fmla="*/ 11292746 w 12188952"/>
              <a:gd name="connsiteY18" fmla="*/ 1124243 h 2417938"/>
              <a:gd name="connsiteX19" fmla="*/ 11025174 w 12188952"/>
              <a:gd name="connsiteY19" fmla="*/ 654994 h 2417938"/>
              <a:gd name="connsiteX20" fmla="*/ 11286220 w 12188952"/>
              <a:gd name="connsiteY20" fmla="*/ 169451 h 2417938"/>
              <a:gd name="connsiteX21" fmla="*/ 11906207 w 12188952"/>
              <a:gd name="connsiteY21" fmla="*/ 0 h 2417938"/>
              <a:gd name="connsiteX22" fmla="*/ 12188952 w 12188952"/>
              <a:gd name="connsiteY22" fmla="*/ 23422 h 2417938"/>
              <a:gd name="connsiteX23" fmla="*/ 12188952 w 12188952"/>
              <a:gd name="connsiteY23" fmla="*/ 376820 h 2417938"/>
              <a:gd name="connsiteX24" fmla="*/ 12188952 w 12188952"/>
              <a:gd name="connsiteY24" fmla="*/ 2057544 h 2417938"/>
              <a:gd name="connsiteX25" fmla="*/ 12188952 w 12188952"/>
              <a:gd name="connsiteY25" fmla="*/ 2402228 h 2417938"/>
              <a:gd name="connsiteX26" fmla="*/ 11945363 w 12188952"/>
              <a:gd name="connsiteY26" fmla="*/ 2417938 h 2417938"/>
              <a:gd name="connsiteX27" fmla="*/ 11273168 w 12188952"/>
              <a:gd name="connsiteY27" fmla="*/ 2251746 h 2417938"/>
              <a:gd name="connsiteX28" fmla="*/ 10953386 w 12188952"/>
              <a:gd name="connsiteY28" fmla="*/ 1603269 h 2417938"/>
              <a:gd name="connsiteX29" fmla="*/ 11331904 w 12188952"/>
              <a:gd name="connsiteY29" fmla="*/ 1603269 h 2417938"/>
              <a:gd name="connsiteX30" fmla="*/ 11521163 w 12188952"/>
              <a:gd name="connsiteY30" fmla="*/ 1981275 h 2417938"/>
              <a:gd name="connsiteX31" fmla="*/ 11945363 w 12188952"/>
              <a:gd name="connsiteY31" fmla="*/ 2082294 h 2417938"/>
              <a:gd name="connsiteX32" fmla="*/ 12188952 w 12188952"/>
              <a:gd name="connsiteY32" fmla="*/ 2057544 h 2417938"/>
              <a:gd name="connsiteX33" fmla="*/ 2128928 w 12188952"/>
              <a:gd name="connsiteY33" fmla="*/ 45621 h 2417938"/>
              <a:gd name="connsiteX34" fmla="*/ 1747147 w 12188952"/>
              <a:gd name="connsiteY34" fmla="*/ 45621 h 2417938"/>
              <a:gd name="connsiteX35" fmla="*/ 1747147 w 12188952"/>
              <a:gd name="connsiteY35" fmla="*/ 2372317 h 2417938"/>
              <a:gd name="connsiteX36" fmla="*/ 2128928 w 12188952"/>
              <a:gd name="connsiteY36" fmla="*/ 2372317 h 2417938"/>
              <a:gd name="connsiteX37" fmla="*/ 2128928 w 12188952"/>
              <a:gd name="connsiteY37" fmla="*/ 1342575 h 2417938"/>
              <a:gd name="connsiteX38" fmla="*/ 3310164 w 12188952"/>
              <a:gd name="connsiteY38" fmla="*/ 1342575 h 2417938"/>
              <a:gd name="connsiteX39" fmla="*/ 3310164 w 12188952"/>
              <a:gd name="connsiteY39" fmla="*/ 2372317 h 2417938"/>
              <a:gd name="connsiteX40" fmla="*/ 3691945 w 12188952"/>
              <a:gd name="connsiteY40" fmla="*/ 2372317 h 2417938"/>
              <a:gd name="connsiteX41" fmla="*/ 3691945 w 12188952"/>
              <a:gd name="connsiteY41" fmla="*/ 45621 h 2417938"/>
              <a:gd name="connsiteX42" fmla="*/ 3310164 w 12188952"/>
              <a:gd name="connsiteY42" fmla="*/ 45621 h 2417938"/>
              <a:gd name="connsiteX43" fmla="*/ 3310164 w 12188952"/>
              <a:gd name="connsiteY43" fmla="*/ 1016707 h 2417938"/>
              <a:gd name="connsiteX44" fmla="*/ 2128928 w 12188952"/>
              <a:gd name="connsiteY44" fmla="*/ 1016707 h 2417938"/>
              <a:gd name="connsiteX45" fmla="*/ 2128928 w 12188952"/>
              <a:gd name="connsiteY45" fmla="*/ 45621 h 2417938"/>
              <a:gd name="connsiteX46" fmla="*/ 4812262 w 12188952"/>
              <a:gd name="connsiteY46" fmla="*/ 45621 h 2417938"/>
              <a:gd name="connsiteX47" fmla="*/ 5246252 w 12188952"/>
              <a:gd name="connsiteY47" fmla="*/ 45621 h 2417938"/>
              <a:gd name="connsiteX48" fmla="*/ 6137074 w 12188952"/>
              <a:gd name="connsiteY48" fmla="*/ 2372317 h 2417938"/>
              <a:gd name="connsiteX49" fmla="*/ 5729189 w 12188952"/>
              <a:gd name="connsiteY49" fmla="*/ 2372317 h 2417938"/>
              <a:gd name="connsiteX50" fmla="*/ 5517088 w 12188952"/>
              <a:gd name="connsiteY50" fmla="*/ 1789014 h 2417938"/>
              <a:gd name="connsiteX51" fmla="*/ 4541426 w 12188952"/>
              <a:gd name="connsiteY51" fmla="*/ 1789014 h 2417938"/>
              <a:gd name="connsiteX52" fmla="*/ 4329325 w 12188952"/>
              <a:gd name="connsiteY52" fmla="*/ 2372317 h 2417938"/>
              <a:gd name="connsiteX53" fmla="*/ 3921440 w 12188952"/>
              <a:gd name="connsiteY53" fmla="*/ 2372317 h 2417938"/>
              <a:gd name="connsiteX54" fmla="*/ 4812262 w 12188952"/>
              <a:gd name="connsiteY54" fmla="*/ 45621 h 2417938"/>
              <a:gd name="connsiteX55" fmla="*/ 4655634 w 12188952"/>
              <a:gd name="connsiteY55" fmla="*/ 1476181 h 2417938"/>
              <a:gd name="connsiteX56" fmla="*/ 5402880 w 12188952"/>
              <a:gd name="connsiteY56" fmla="*/ 1476181 h 2417938"/>
              <a:gd name="connsiteX57" fmla="*/ 5037415 w 12188952"/>
              <a:gd name="connsiteY57" fmla="*/ 456215 h 2417938"/>
              <a:gd name="connsiteX58" fmla="*/ 5024362 w 12188952"/>
              <a:gd name="connsiteY58" fmla="*/ 456215 h 2417938"/>
              <a:gd name="connsiteX59" fmla="*/ 4655634 w 12188952"/>
              <a:gd name="connsiteY59" fmla="*/ 1476181 h 2417938"/>
              <a:gd name="connsiteX60" fmla="*/ 6746318 w 12188952"/>
              <a:gd name="connsiteY60" fmla="*/ 45621 h 2417938"/>
              <a:gd name="connsiteX61" fmla="*/ 6364538 w 12188952"/>
              <a:gd name="connsiteY61" fmla="*/ 45621 h 2417938"/>
              <a:gd name="connsiteX62" fmla="*/ 6364538 w 12188952"/>
              <a:gd name="connsiteY62" fmla="*/ 2372317 h 2417938"/>
              <a:gd name="connsiteX63" fmla="*/ 6746318 w 12188952"/>
              <a:gd name="connsiteY63" fmla="*/ 2372317 h 2417938"/>
              <a:gd name="connsiteX64" fmla="*/ 6746318 w 12188952"/>
              <a:gd name="connsiteY64" fmla="*/ 671287 h 2417938"/>
              <a:gd name="connsiteX65" fmla="*/ 6759371 w 12188952"/>
              <a:gd name="connsiteY65" fmla="*/ 671287 h 2417938"/>
              <a:gd name="connsiteX66" fmla="*/ 7924292 w 12188952"/>
              <a:gd name="connsiteY66" fmla="*/ 2372317 h 2417938"/>
              <a:gd name="connsiteX67" fmla="*/ 8296283 w 12188952"/>
              <a:gd name="connsiteY67" fmla="*/ 2372317 h 2417938"/>
              <a:gd name="connsiteX68" fmla="*/ 8296283 w 12188952"/>
              <a:gd name="connsiteY68" fmla="*/ 45621 h 2417938"/>
              <a:gd name="connsiteX69" fmla="*/ 7911240 w 12188952"/>
              <a:gd name="connsiteY69" fmla="*/ 45621 h 2417938"/>
              <a:gd name="connsiteX70" fmla="*/ 7911240 w 12188952"/>
              <a:gd name="connsiteY70" fmla="*/ 1723840 h 2417938"/>
              <a:gd name="connsiteX71" fmla="*/ 7898187 w 12188952"/>
              <a:gd name="connsiteY71" fmla="*/ 1723840 h 2417938"/>
              <a:gd name="connsiteX72" fmla="*/ 6746318 w 12188952"/>
              <a:gd name="connsiteY72" fmla="*/ 45621 h 2417938"/>
              <a:gd name="connsiteX73" fmla="*/ 10219624 w 12188952"/>
              <a:gd name="connsiteY73" fmla="*/ 45621 h 2417938"/>
              <a:gd name="connsiteX74" fmla="*/ 10702560 w 12188952"/>
              <a:gd name="connsiteY74" fmla="*/ 45621 h 2417938"/>
              <a:gd name="connsiteX75" fmla="*/ 9677952 w 12188952"/>
              <a:gd name="connsiteY75" fmla="*/ 1042777 h 2417938"/>
              <a:gd name="connsiteX76" fmla="*/ 10855925 w 12188952"/>
              <a:gd name="connsiteY76" fmla="*/ 2372317 h 2417938"/>
              <a:gd name="connsiteX77" fmla="*/ 10340358 w 12188952"/>
              <a:gd name="connsiteY77" fmla="*/ 2372317 h 2417938"/>
              <a:gd name="connsiteX78" fmla="*/ 9420168 w 12188952"/>
              <a:gd name="connsiteY78" fmla="*/ 1293695 h 2417938"/>
              <a:gd name="connsiteX79" fmla="*/ 9136280 w 12188952"/>
              <a:gd name="connsiteY79" fmla="*/ 1570682 h 2417938"/>
              <a:gd name="connsiteX80" fmla="*/ 9136280 w 12188952"/>
              <a:gd name="connsiteY80" fmla="*/ 2372317 h 2417938"/>
              <a:gd name="connsiteX81" fmla="*/ 8754499 w 12188952"/>
              <a:gd name="connsiteY81" fmla="*/ 2372317 h 2417938"/>
              <a:gd name="connsiteX82" fmla="*/ 8754499 w 12188952"/>
              <a:gd name="connsiteY82" fmla="*/ 45621 h 2417938"/>
              <a:gd name="connsiteX83" fmla="*/ 9136280 w 12188952"/>
              <a:gd name="connsiteY83" fmla="*/ 45621 h 2417938"/>
              <a:gd name="connsiteX84" fmla="*/ 9136280 w 12188952"/>
              <a:gd name="connsiteY84" fmla="*/ 1143796 h 2417938"/>
              <a:gd name="connsiteX85" fmla="*/ 10219624 w 12188952"/>
              <a:gd name="connsiteY85" fmla="*/ 45621 h 24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2188952" h="2417938">
                <a:moveTo>
                  <a:pt x="0" y="371489"/>
                </a:moveTo>
                <a:lnTo>
                  <a:pt x="0" y="45621"/>
                </a:lnTo>
                <a:lnTo>
                  <a:pt x="1469023" y="45621"/>
                </a:lnTo>
                <a:lnTo>
                  <a:pt x="1469023" y="371489"/>
                </a:lnTo>
                <a:lnTo>
                  <a:pt x="705461" y="371489"/>
                </a:lnTo>
                <a:lnTo>
                  <a:pt x="705461" y="2372317"/>
                </a:lnTo>
                <a:lnTo>
                  <a:pt x="323680" y="2372317"/>
                </a:lnTo>
                <a:lnTo>
                  <a:pt x="323680" y="371489"/>
                </a:lnTo>
                <a:lnTo>
                  <a:pt x="0" y="371489"/>
                </a:lnTo>
                <a:close/>
                <a:moveTo>
                  <a:pt x="12188952" y="376820"/>
                </a:moveTo>
                <a:cubicBezTo>
                  <a:pt x="12109939" y="344221"/>
                  <a:pt x="12008352" y="329126"/>
                  <a:pt x="11886628" y="329126"/>
                </a:cubicBezTo>
                <a:cubicBezTo>
                  <a:pt x="11739789" y="329126"/>
                  <a:pt x="11628844" y="348678"/>
                  <a:pt x="11550530" y="391041"/>
                </a:cubicBezTo>
                <a:cubicBezTo>
                  <a:pt x="11452638" y="439921"/>
                  <a:pt x="11406954" y="521388"/>
                  <a:pt x="11406954" y="632183"/>
                </a:cubicBezTo>
                <a:cubicBezTo>
                  <a:pt x="11406954" y="729944"/>
                  <a:pt x="11459164" y="811410"/>
                  <a:pt x="11570109" y="870067"/>
                </a:cubicBezTo>
                <a:cubicBezTo>
                  <a:pt x="11619055" y="896136"/>
                  <a:pt x="11752841" y="945016"/>
                  <a:pt x="11968205" y="1013448"/>
                </a:cubicBezTo>
                <a:cubicBezTo>
                  <a:pt x="12049249" y="1038483"/>
                  <a:pt x="12122827" y="1062236"/>
                  <a:pt x="12188952" y="1084597"/>
                </a:cubicBezTo>
                <a:lnTo>
                  <a:pt x="12188952" y="1436176"/>
                </a:lnTo>
                <a:cubicBezTo>
                  <a:pt x="12111247" y="1408382"/>
                  <a:pt x="11991161" y="1369304"/>
                  <a:pt x="11827892" y="1319764"/>
                </a:cubicBezTo>
                <a:cubicBezTo>
                  <a:pt x="11540741" y="1228521"/>
                  <a:pt x="11361272" y="1163348"/>
                  <a:pt x="11292746" y="1124243"/>
                </a:cubicBezTo>
                <a:cubicBezTo>
                  <a:pt x="11113277" y="1016707"/>
                  <a:pt x="11025174" y="860291"/>
                  <a:pt x="11025174" y="654994"/>
                </a:cubicBezTo>
                <a:cubicBezTo>
                  <a:pt x="11025174" y="449697"/>
                  <a:pt x="11110014" y="286764"/>
                  <a:pt x="11286220" y="169451"/>
                </a:cubicBezTo>
                <a:cubicBezTo>
                  <a:pt x="11449362" y="55398"/>
                  <a:pt x="11654949" y="0"/>
                  <a:pt x="11906207" y="0"/>
                </a:cubicBezTo>
                <a:cubicBezTo>
                  <a:pt x="12008720" y="0"/>
                  <a:pt x="12103032" y="7751"/>
                  <a:pt x="12188952" y="23422"/>
                </a:cubicBezTo>
                <a:lnTo>
                  <a:pt x="12188952" y="376820"/>
                </a:lnTo>
                <a:close/>
                <a:moveTo>
                  <a:pt x="12188952" y="2057544"/>
                </a:moveTo>
                <a:lnTo>
                  <a:pt x="12188952" y="2402228"/>
                </a:lnTo>
                <a:cubicBezTo>
                  <a:pt x="12113380" y="2412651"/>
                  <a:pt x="12032159" y="2417938"/>
                  <a:pt x="11945363" y="2417938"/>
                </a:cubicBezTo>
                <a:cubicBezTo>
                  <a:pt x="11658212" y="2417938"/>
                  <a:pt x="11433059" y="2362541"/>
                  <a:pt x="11273168" y="2251746"/>
                </a:cubicBezTo>
                <a:cubicBezTo>
                  <a:pt x="11077383" y="2114881"/>
                  <a:pt x="10969689" y="1899808"/>
                  <a:pt x="10953386" y="1603269"/>
                </a:cubicBezTo>
                <a:lnTo>
                  <a:pt x="11331904" y="1603269"/>
                </a:lnTo>
                <a:cubicBezTo>
                  <a:pt x="11358008" y="1779238"/>
                  <a:pt x="11420007" y="1906326"/>
                  <a:pt x="11521163" y="1981275"/>
                </a:cubicBezTo>
                <a:cubicBezTo>
                  <a:pt x="11612529" y="2046449"/>
                  <a:pt x="11752841" y="2082294"/>
                  <a:pt x="11945363" y="2082294"/>
                </a:cubicBezTo>
                <a:cubicBezTo>
                  <a:pt x="12036260" y="2082294"/>
                  <a:pt x="12117787" y="2073875"/>
                  <a:pt x="12188952" y="2057544"/>
                </a:cubicBezTo>
                <a:close/>
                <a:moveTo>
                  <a:pt x="2128928" y="45621"/>
                </a:moveTo>
                <a:lnTo>
                  <a:pt x="1747147" y="45621"/>
                </a:lnTo>
                <a:lnTo>
                  <a:pt x="1747147" y="2372317"/>
                </a:lnTo>
                <a:lnTo>
                  <a:pt x="2128928" y="2372317"/>
                </a:lnTo>
                <a:lnTo>
                  <a:pt x="2128928" y="1342575"/>
                </a:lnTo>
                <a:lnTo>
                  <a:pt x="3310164" y="1342575"/>
                </a:lnTo>
                <a:lnTo>
                  <a:pt x="3310164" y="2372317"/>
                </a:lnTo>
                <a:lnTo>
                  <a:pt x="3691945" y="2372317"/>
                </a:lnTo>
                <a:lnTo>
                  <a:pt x="3691945" y="45621"/>
                </a:lnTo>
                <a:lnTo>
                  <a:pt x="3310164" y="45621"/>
                </a:lnTo>
                <a:lnTo>
                  <a:pt x="3310164" y="1016707"/>
                </a:lnTo>
                <a:lnTo>
                  <a:pt x="2128928" y="1016707"/>
                </a:lnTo>
                <a:lnTo>
                  <a:pt x="2128928" y="45621"/>
                </a:lnTo>
                <a:close/>
                <a:moveTo>
                  <a:pt x="4812262" y="45621"/>
                </a:moveTo>
                <a:lnTo>
                  <a:pt x="5246252" y="45621"/>
                </a:lnTo>
                <a:lnTo>
                  <a:pt x="6137074" y="2372317"/>
                </a:lnTo>
                <a:lnTo>
                  <a:pt x="5729189" y="2372317"/>
                </a:lnTo>
                <a:lnTo>
                  <a:pt x="5517088" y="1789014"/>
                </a:lnTo>
                <a:lnTo>
                  <a:pt x="4541426" y="1789014"/>
                </a:lnTo>
                <a:lnTo>
                  <a:pt x="4329325" y="2372317"/>
                </a:lnTo>
                <a:lnTo>
                  <a:pt x="3921440" y="2372317"/>
                </a:lnTo>
                <a:lnTo>
                  <a:pt x="4812262" y="45621"/>
                </a:lnTo>
                <a:close/>
                <a:moveTo>
                  <a:pt x="4655634" y="1476181"/>
                </a:moveTo>
                <a:lnTo>
                  <a:pt x="5402880" y="1476181"/>
                </a:lnTo>
                <a:lnTo>
                  <a:pt x="5037415" y="456215"/>
                </a:lnTo>
                <a:lnTo>
                  <a:pt x="5024362" y="456215"/>
                </a:lnTo>
                <a:lnTo>
                  <a:pt x="4655634" y="1476181"/>
                </a:lnTo>
                <a:close/>
                <a:moveTo>
                  <a:pt x="6746318" y="45621"/>
                </a:moveTo>
                <a:lnTo>
                  <a:pt x="6364538" y="45621"/>
                </a:lnTo>
                <a:lnTo>
                  <a:pt x="6364538" y="2372317"/>
                </a:lnTo>
                <a:lnTo>
                  <a:pt x="6746318" y="2372317"/>
                </a:lnTo>
                <a:lnTo>
                  <a:pt x="6746318" y="671287"/>
                </a:lnTo>
                <a:lnTo>
                  <a:pt x="6759371" y="671287"/>
                </a:lnTo>
                <a:lnTo>
                  <a:pt x="7924292" y="2372317"/>
                </a:lnTo>
                <a:lnTo>
                  <a:pt x="8296283" y="2372317"/>
                </a:lnTo>
                <a:lnTo>
                  <a:pt x="8296283" y="45621"/>
                </a:lnTo>
                <a:lnTo>
                  <a:pt x="7911240" y="45621"/>
                </a:lnTo>
                <a:lnTo>
                  <a:pt x="7911240" y="1723840"/>
                </a:lnTo>
                <a:lnTo>
                  <a:pt x="7898187" y="1723840"/>
                </a:lnTo>
                <a:lnTo>
                  <a:pt x="6746318" y="45621"/>
                </a:lnTo>
                <a:close/>
                <a:moveTo>
                  <a:pt x="10219624" y="45621"/>
                </a:moveTo>
                <a:lnTo>
                  <a:pt x="10702560" y="45621"/>
                </a:lnTo>
                <a:lnTo>
                  <a:pt x="9677952" y="1042777"/>
                </a:lnTo>
                <a:lnTo>
                  <a:pt x="10855925" y="2372317"/>
                </a:lnTo>
                <a:lnTo>
                  <a:pt x="10340358" y="2372317"/>
                </a:lnTo>
                <a:lnTo>
                  <a:pt x="9420168" y="1293695"/>
                </a:lnTo>
                <a:lnTo>
                  <a:pt x="9136280" y="1570682"/>
                </a:lnTo>
                <a:lnTo>
                  <a:pt x="9136280" y="2372317"/>
                </a:lnTo>
                <a:lnTo>
                  <a:pt x="8754499" y="2372317"/>
                </a:lnTo>
                <a:lnTo>
                  <a:pt x="8754499" y="45621"/>
                </a:lnTo>
                <a:lnTo>
                  <a:pt x="9136280" y="45621"/>
                </a:lnTo>
                <a:lnTo>
                  <a:pt x="9136280" y="1143796"/>
                </a:lnTo>
                <a:lnTo>
                  <a:pt x="10219624" y="45621"/>
                </a:lnTo>
                <a:close/>
              </a:path>
            </a:pathLst>
          </a:custGeom>
          <a:solidFill>
            <a:schemeClr val="accent4">
              <a:alpha val="12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1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/>
          <p:cNvPicPr>
            <a:picLocks noChangeAspect="1"/>
          </p:cNvPicPr>
          <p:nvPr/>
        </p:nvPicPr>
        <p:blipFill>
          <a:blip r:embed="rId2"/>
          <a:srcRect t="5741"/>
          <a:stretch>
            <a:fillRect/>
          </a:stretch>
        </p:blipFill>
        <p:spPr>
          <a:xfrm>
            <a:off x="-6639" y="0"/>
            <a:ext cx="12205279" cy="6505811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55" name="AutoShape 3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AutoShape 4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pic>
        <p:nvPicPr>
          <p:cNvPr id="157" name="Picture 5"/>
          <p:cNvPicPr>
            <a:picLocks noChangeAspect="1"/>
          </p:cNvPicPr>
          <p:nvPr/>
        </p:nvPicPr>
        <p:blipFill>
          <a:blip r:embed="rId3"/>
          <a:srcRect t="34862" b="34862"/>
          <a:stretch>
            <a:fillRect/>
          </a:stretch>
        </p:blipFill>
        <p:spPr>
          <a:xfrm>
            <a:off x="665034" y="651515"/>
            <a:ext cx="3830070" cy="1159551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58" name="AutoShape 6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AutoShape 7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AutoShape 8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4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4" tooltip="https://www.servauto.com.my/"/>
            </a:endParaRPr>
          </a:p>
        </p:txBody>
      </p:sp>
      <p:sp>
        <p:nvSpPr>
          <p:cNvPr id="161" name="AutoShape 9"/>
          <p:cNvSpPr/>
          <p:nvPr>
            <p:ph type="body" sz="quarter" idx="1"/>
          </p:nvPr>
        </p:nvSpPr>
        <p:spPr>
          <a:xfrm>
            <a:off x="665034" y="2203868"/>
            <a:ext cx="5092700" cy="1701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08000"/>
              </a:lnSpc>
              <a:defRPr sz="5200" b="0" i="0" u="none" strike="noStrike" spc="0">
                <a:solidFill>
                  <a:srgbClr val="005AA9">
                    <a:alpha val="100000"/>
                  </a:srgbClr>
                </a:solidFill>
                <a:latin typeface="Inter 18pt ExtraBold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2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2"/>
          <p:cNvSpPr/>
          <p:nvPr/>
        </p:nvSpPr>
        <p:spPr>
          <a:xfrm>
            <a:off x="0" y="0"/>
            <a:ext cx="8812221" cy="752382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AutoShape 3"/>
          <p:cNvSpPr/>
          <p:nvPr/>
        </p:nvSpPr>
        <p:spPr>
          <a:xfrm>
            <a:off x="8249792" y="0"/>
            <a:ext cx="2762864" cy="752382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AutoShape 4"/>
          <p:cNvSpPr/>
          <p:nvPr/>
        </p:nvSpPr>
        <p:spPr>
          <a:xfrm>
            <a:off x="8588375" y="0"/>
            <a:ext cx="3603625" cy="752382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6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85691"/>
            <a:ext cx="2056810" cy="35560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67" name="AutoShape 6"/>
          <p:cNvSpPr/>
          <p:nvPr>
            <p:ph type="body" sz="quarter" idx="2"/>
          </p:nvPr>
        </p:nvSpPr>
        <p:spPr>
          <a:xfrm>
            <a:off x="665034" y="109491"/>
            <a:ext cx="6502400" cy="533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Inter 18pt SemiBold"/>
              </a:defRPr>
            </a:lvl1pPr>
          </a:lstStyle>
          <a:p>
            <a:pPr algn="l"/>
          </a:p>
        </p:txBody>
      </p:sp>
      <p:sp>
        <p:nvSpPr>
          <p:cNvPr id="168" name="AutoShape 7"/>
          <p:cNvSpPr/>
          <p:nvPr>
            <p:ph type="body" sz="quarter" idx="3"/>
          </p:nvPr>
        </p:nvSpPr>
        <p:spPr>
          <a:xfrm>
            <a:off x="665034" y="1044754"/>
            <a:ext cx="7520490" cy="8509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69" name="AutoShape 8"/>
          <p:cNvSpPr/>
          <p:nvPr>
            <p:ph type="body" sz="quarter" idx="4"/>
          </p:nvPr>
        </p:nvSpPr>
        <p:spPr>
          <a:xfrm>
            <a:off x="665034" y="2136019"/>
            <a:ext cx="6934200" cy="5842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100" b="0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70" name="AutoShape 9"/>
          <p:cNvSpPr/>
          <p:nvPr>
            <p:ph type="body" sz="quarter" idx="5"/>
          </p:nvPr>
        </p:nvSpPr>
        <p:spPr>
          <a:xfrm>
            <a:off x="665034" y="3012591"/>
            <a:ext cx="3603625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1700" b="0" i="0" u="none" strike="noStrike" spc="0">
                <a:solidFill>
                  <a:srgbClr val="1F2329">
                    <a:alpha val="100000"/>
                  </a:srgbClr>
                </a:solidFill>
                <a:latin typeface="Inter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hyperlink" Target="https://www.servauto.com.my/" TargetMode="Externa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8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1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2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hyperlink" Target="../media/image4.png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3.xml"/><Relationship Id="rId6" Type="http://schemas.openxmlformats.org/officeDocument/2006/relationships/hyperlink" Target="../media/image4.p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3.xml"/><Relationship Id="rId6" Type="http://schemas.openxmlformats.org/officeDocument/2006/relationships/hyperlink" Target="../media/image4.p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" name="Text Placeholder 1"/>
          <p:cNvSpPr>
            <a:spLocks noGrp="1"/>
          </p:cNvSpPr>
          <p:nvPr>
            <p:ph type="body" sz="quarter" idx="1"/>
          </p:nvPr>
        </p:nvSpPr>
        <p:spPr>
          <a:xfrm>
            <a:off x="667512" y="1755648"/>
            <a:ext cx="7315200" cy="3383280"/>
          </a:xfrm>
        </p:spPr>
        <p:txBody>
          <a:bodyPr wrap="square"/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</a:t>
            </a:r>
            <a:endParaRPr lang="en-US" sz="40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1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 Advisor Training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2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初级班 · 基础培训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14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Foundation Course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11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接待服务 · 收银结算 · 货品签收 · 套餐销售 · 拍摄与直播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Reception Service · Cashiering · Goods Receipt · Package Selling · Content &amp; Live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适用对象：门店服务顾问（前台）  |  Audience: Store service advisors (front desk)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3" name="Text Placeholder 1"/>
          <p:cNvSpPr>
            <a:spLocks noGrp="1"/>
          </p:cNvSpPr>
          <p:nvPr>
            <p:ph type="body" sz="quarter" idx="2"/>
          </p:nvPr>
        </p:nvSpPr>
        <p:spPr/>
        <p:txBody>
          <a:bodyPr wrap="square"/>
          <a:lstStyle/>
          <a:p>
            <a:pPr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>
                <a:latin typeface="Arial" panose="020B0604020202020204"/>
                <a:ea typeface="微软雅黑" panose="020B0503020204020204" charset="-122"/>
              </a:rPr>
              <a:t>Overview</a:t>
            </a:r>
            <a:r>
              <a:rPr lang="zh-CN" sz="1800">
                <a:latin typeface="Arial" panose="020B0604020202020204"/>
                <a:ea typeface="微软雅黑" panose="020B0503020204020204" charset="-122"/>
              </a:rPr>
              <a:t> | 内容导航</a:t>
            </a:r>
            <a:endParaRPr lang="zh-CN" sz="1800"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4" name="Text Placeholder 2"/>
          <p:cNvSpPr>
            <a:spLocks noGrp="1"/>
          </p:cNvSpPr>
          <p:nvPr>
            <p:ph type="body" sz="quarter" idx="3"/>
          </p:nvPr>
        </p:nvSpPr>
        <p:spPr>
          <a:xfrm>
            <a:off x="667512" y="1005840"/>
            <a:ext cx="7516368" cy="896112"/>
          </a:xfrm>
        </p:spPr>
        <p:txBody>
          <a:bodyPr wrap="square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of Contents</a:t>
            </a:r>
            <a:endParaRPr lang="en-US" sz="39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sz="16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sz="255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5" name="Rectangle 3"/>
          <p:cNvSpPr/>
          <p:nvPr/>
        </p:nvSpPr>
        <p:spPr>
          <a:xfrm>
            <a:off x="667512" y="2304288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"/>
          <p:cNvSpPr/>
          <p:nvPr/>
        </p:nvSpPr>
        <p:spPr>
          <a:xfrm>
            <a:off x="667512" y="2304288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5"/>
          <p:cNvSpPr txBox="1"/>
          <p:nvPr/>
        </p:nvSpPr>
        <p:spPr>
          <a:xfrm>
            <a:off x="923544" y="2304288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8" name="TextBox 6"/>
          <p:cNvSpPr txBox="1"/>
          <p:nvPr/>
        </p:nvSpPr>
        <p:spPr>
          <a:xfrm>
            <a:off x="1719072" y="2304288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 &amp; Scope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岗位认知与职责边界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9" name="Rectangle 7"/>
          <p:cNvSpPr/>
          <p:nvPr/>
        </p:nvSpPr>
        <p:spPr>
          <a:xfrm>
            <a:off x="667512" y="3255264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8"/>
          <p:cNvSpPr/>
          <p:nvPr/>
        </p:nvSpPr>
        <p:spPr>
          <a:xfrm>
            <a:off x="667512" y="3255264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9"/>
          <p:cNvSpPr txBox="1"/>
          <p:nvPr/>
        </p:nvSpPr>
        <p:spPr>
          <a:xfrm>
            <a:off x="923544" y="3255264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2" name="TextBox 10"/>
          <p:cNvSpPr txBox="1"/>
          <p:nvPr/>
        </p:nvSpPr>
        <p:spPr>
          <a:xfrm>
            <a:off x="1719072" y="3255264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&amp; Etiquette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职业形象与客户礼仪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3" name="Rectangle 11"/>
          <p:cNvSpPr/>
          <p:nvPr/>
        </p:nvSpPr>
        <p:spPr>
          <a:xfrm>
            <a:off x="667512" y="4206240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12"/>
          <p:cNvSpPr/>
          <p:nvPr/>
        </p:nvSpPr>
        <p:spPr>
          <a:xfrm>
            <a:off x="667512" y="4206240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13"/>
          <p:cNvSpPr txBox="1"/>
          <p:nvPr/>
        </p:nvSpPr>
        <p:spPr>
          <a:xfrm>
            <a:off x="923544" y="4206240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6" name="TextBox 14"/>
          <p:cNvSpPr txBox="1"/>
          <p:nvPr/>
        </p:nvSpPr>
        <p:spPr>
          <a:xfrm>
            <a:off x="1719072" y="4206240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Reception Service SOP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接待服务全流程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7" name="Rectangle 15"/>
          <p:cNvSpPr/>
          <p:nvPr/>
        </p:nvSpPr>
        <p:spPr>
          <a:xfrm>
            <a:off x="667512" y="5157216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16"/>
          <p:cNvSpPr/>
          <p:nvPr/>
        </p:nvSpPr>
        <p:spPr>
          <a:xfrm>
            <a:off x="667512" y="5157216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TextBox 17"/>
          <p:cNvSpPr txBox="1"/>
          <p:nvPr/>
        </p:nvSpPr>
        <p:spPr>
          <a:xfrm>
            <a:off x="923544" y="5157216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0" name="TextBox 18"/>
          <p:cNvSpPr txBox="1"/>
          <p:nvPr/>
        </p:nvSpPr>
        <p:spPr>
          <a:xfrm>
            <a:off x="1719072" y="5157216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 &amp; Package Knowledge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产品、项目与套餐知识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1" name="Rectangle 19"/>
          <p:cNvSpPr/>
          <p:nvPr/>
        </p:nvSpPr>
        <p:spPr>
          <a:xfrm>
            <a:off x="6355080" y="2304288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20"/>
          <p:cNvSpPr/>
          <p:nvPr/>
        </p:nvSpPr>
        <p:spPr>
          <a:xfrm>
            <a:off x="6355080" y="2304288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TextBox 21"/>
          <p:cNvSpPr txBox="1"/>
          <p:nvPr/>
        </p:nvSpPr>
        <p:spPr>
          <a:xfrm>
            <a:off x="6611112" y="2304288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4" name="TextBox 22"/>
          <p:cNvSpPr txBox="1"/>
          <p:nvPr/>
        </p:nvSpPr>
        <p:spPr>
          <a:xfrm>
            <a:off x="7406640" y="2304288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Selling</a:t>
            </a:r>
            <a:endParaRPr lang="en-US" sz="1400" b="1">
              <a:solidFill>
                <a:srgbClr val="1F2329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套餐销售与话术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5" name="Rectangle 23"/>
          <p:cNvSpPr/>
          <p:nvPr/>
        </p:nvSpPr>
        <p:spPr>
          <a:xfrm>
            <a:off x="6355080" y="3255264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24"/>
          <p:cNvSpPr/>
          <p:nvPr/>
        </p:nvSpPr>
        <p:spPr>
          <a:xfrm>
            <a:off x="6355080" y="3255264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25"/>
          <p:cNvSpPr txBox="1"/>
          <p:nvPr/>
        </p:nvSpPr>
        <p:spPr>
          <a:xfrm>
            <a:off x="6611112" y="3255264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P5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8" name="TextBox 26"/>
          <p:cNvSpPr txBox="1"/>
          <p:nvPr/>
        </p:nvSpPr>
        <p:spPr>
          <a:xfrm>
            <a:off x="7406640" y="3255264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Cashiering &amp; Goods Receipt</a:t>
            </a:r>
            <a:endParaRPr lang="en-US" sz="1400" b="1">
              <a:solidFill>
                <a:srgbClr val="1F2329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收银结算与货品签收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2" name="Rectangle 23"/>
          <p:cNvSpPr/>
          <p:nvPr/>
        </p:nvSpPr>
        <p:spPr>
          <a:xfrm>
            <a:off x="6355080" y="4206240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4"/>
          <p:cNvSpPr/>
          <p:nvPr/>
        </p:nvSpPr>
        <p:spPr>
          <a:xfrm>
            <a:off x="6355080" y="4206240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25"/>
          <p:cNvSpPr txBox="1"/>
          <p:nvPr/>
        </p:nvSpPr>
        <p:spPr>
          <a:xfrm>
            <a:off x="6611112" y="4206240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P6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Box 26"/>
          <p:cNvSpPr txBox="1"/>
          <p:nvPr/>
        </p:nvSpPr>
        <p:spPr>
          <a:xfrm>
            <a:off x="7406640" y="4206240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Video &amp; Live Streaming</a:t>
            </a:r>
            <a:endParaRPr lang="en-US" sz="1400" b="1">
              <a:solidFill>
                <a:srgbClr val="1F2329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视频拍摄与直播出镜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23"/>
          <p:cNvSpPr/>
          <p:nvPr/>
        </p:nvSpPr>
        <p:spPr>
          <a:xfrm>
            <a:off x="6355080" y="5157216"/>
            <a:ext cx="5138928" cy="84124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24"/>
          <p:cNvSpPr/>
          <p:nvPr/>
        </p:nvSpPr>
        <p:spPr>
          <a:xfrm>
            <a:off x="6355080" y="5157216"/>
            <a:ext cx="54864" cy="841248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25"/>
          <p:cNvSpPr txBox="1"/>
          <p:nvPr/>
        </p:nvSpPr>
        <p:spPr>
          <a:xfrm>
            <a:off x="6611112" y="5157216"/>
            <a:ext cx="7315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P7</a:t>
            </a:r>
            <a:endParaRPr sz="1800" b="1">
              <a:solidFill>
                <a:srgbClr val="ED1C2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Box 26"/>
          <p:cNvSpPr txBox="1"/>
          <p:nvPr/>
        </p:nvSpPr>
        <p:spPr>
          <a:xfrm>
            <a:off x="7406640" y="5157216"/>
            <a:ext cx="3941063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Systems &amp; Daily Operations</a:t>
            </a:r>
            <a:endParaRPr lang="en-US" sz="1400" b="1">
              <a:solidFill>
                <a:srgbClr val="1F2329"/>
              </a:solidFill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系统工具与日常运营</a:t>
            </a:r>
            <a:endParaRPr lang="zh-CN" sz="900">
              <a:solidFill>
                <a:srgbClr val="6E8299"/>
              </a:solidFill>
              <a:latin typeface="Arial" panose="020B0604020202020204"/>
              <a:ea typeface="微软雅黑" panose="020B0503020204020204" charset="-122"/>
              <a:sym typeface="+mn-ea"/>
            </a:endParaRPr>
          </a:p>
        </p:txBody>
      </p:sp>
      <p:sp>
        <p:nvSpPr>
          <p:cNvPr id="519" name="Rectangle 518"/>
          <p:cNvSpPr/>
          <p:nvPr/>
        </p:nvSpPr>
        <p:spPr>
          <a:xfrm>
            <a:off x="667512" y="2029968"/>
            <a:ext cx="10826496" cy="2743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客户接待服务 —— 岗位主轴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Reception service - your core duty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Core Duty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接待主轴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视频拍摄与直播出镜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Video shooting and live streaming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套餐销售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Package selling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货品签收与到货验收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Goods receipt and acceptance check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收款、结算、送客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Cashiering, settlement and sending off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Receive &amp; Check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签收验收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Settle &amp; Send Off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结算送客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Package Sales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套餐销售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Video &amp; Live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拍摄直播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 the Front Desk Owns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前台承担的核心职责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项为硬性要求 · Item 5 is MANDATORY</a:t>
            </a:r>
            <a:endParaRPr sz="11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7626096" y="1847088"/>
            <a:ext cx="3968496" cy="431596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Eight Competency Domains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八大能力域（初级权重）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初级权重，合计 100% · Junior weights, total 100%</a:t>
            </a:r>
            <a:endParaRPr sz="11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" y="1977390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&amp; Etiquette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形象礼仪与门店规范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3529584" y="2041398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529584" y="2041398"/>
            <a:ext cx="1255288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72783" y="1959102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21792" y="2512314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Reception &amp; Process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接待服务与流程执行（主轴）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3529584" y="2576322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529584" y="2576322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72783" y="2494026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</a:t>
            </a:r>
            <a:endParaRPr sz="15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21792" y="304723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 &amp; Package Knowledge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产品、项目与套餐知识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3529584" y="3111246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529584" y="3111246"/>
            <a:ext cx="1569110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72783" y="3028950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21792" y="3582162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Selling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套餐销售（仅限套餐）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529584" y="3646170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529584" y="3646170"/>
            <a:ext cx="1255288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72783" y="3563874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21792" y="4117086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Cashiering &amp; Goods Receipt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收银结算与货品签收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3529584" y="4181094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529584" y="4181094"/>
            <a:ext cx="1569110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72783" y="4098798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21792" y="4652009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 &amp; Live Streaming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内容生产与直播出镜（硬性）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3529584" y="4716018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3529584" y="4716018"/>
            <a:ext cx="1359895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72783" y="4633722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21792" y="5186934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 Asset &amp; Follow-up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客户资产经营与回访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3529584" y="5250942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3529584" y="5250942"/>
            <a:ext cx="523036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72783" y="5168646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21792" y="5721857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&amp; Coaching</a:t>
            </a:r>
            <a:endParaRPr sz="9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数据看板与带教协同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3529584" y="5785866"/>
            <a:ext cx="2615184" cy="21945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3529584" y="5785866"/>
            <a:ext cx="313822" cy="219456"/>
          </a:xfrm>
          <a:prstGeom prst="roundRect">
            <a:avLst>
              <a:gd name="adj" fmla="val 50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72783" y="5703570"/>
            <a:ext cx="713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>
                <a:solidFill>
                  <a:srgbClr val="005A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1500" b="1">
              <a:solidFill>
                <a:srgbClr val="005AA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矩形 7"/>
          <p:cNvSpPr/>
          <p:nvPr/>
        </p:nvSpPr>
        <p:spPr>
          <a:xfrm>
            <a:off x="901097" y="3690218"/>
            <a:ext cx="2880446" cy="876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ln>
                  <a:noFill/>
                  <a:prstDash val="sysDot"/>
                </a:ln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流量由公司线上内容矩阵供给</a:t>
            </a:r>
            <a:endParaRPr lang="en-US" altLang="en-US" sz="105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Traffic is supplied by the company content matrix</a:t>
            </a:r>
            <a:endParaRPr lang="zh-CN" altLang="en-US" sz="800" kern="0">
              <a:solidFill>
                <a:srgbClr val="6E8299"/>
              </a:solidFill>
            </a:endParaRPr>
          </a:p>
        </p:txBody>
      </p:sp>
      <p:sp>
        <p:nvSpPr>
          <p:cNvPr id="43" name="矩形 8"/>
          <p:cNvSpPr/>
          <p:nvPr/>
        </p:nvSpPr>
        <p:spPr>
          <a:xfrm>
            <a:off x="901097" y="3009392"/>
            <a:ext cx="2880444" cy="591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Traffic From the Matrix</a:t>
            </a:r>
            <a:endParaRPr lang="en-US" altLang="en-US" sz="155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流量进来</a:t>
            </a:r>
            <a:endParaRPr lang="zh-CN" altLang="en-US" sz="110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4" name="矩形 12"/>
          <p:cNvSpPr/>
          <p:nvPr/>
        </p:nvSpPr>
        <p:spPr>
          <a:xfrm>
            <a:off x="901097" y="1811595"/>
            <a:ext cx="1325415" cy="9917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1111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5600" b="1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45" name="图片 15" descr="/data/temp/333674a6-a9fe-11f0-9905-126ba0e9605a.jpg@base@tag=imgScale&amp;m=1&amp;w=799&amp;h=422&amp;q=95333674a6-a9fe-11f0-9905-126ba0e9605a"/>
          <p:cNvPicPr>
            <a:picLocks noChangeAspect="1"/>
          </p:cNvPicPr>
          <p:nvPr/>
        </p:nvPicPr>
        <p:blipFill>
          <a:blip r:embed="rId1"/>
          <a:srcRect t="13049" b="13049"/>
          <a:stretch>
            <a:fillRect/>
          </a:stretch>
        </p:blipFill>
        <p:spPr>
          <a:xfrm>
            <a:off x="901097" y="4626864"/>
            <a:ext cx="2880449" cy="10241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46" name="矩形 16"/>
          <p:cNvSpPr/>
          <p:nvPr/>
        </p:nvSpPr>
        <p:spPr>
          <a:xfrm>
            <a:off x="4759325" y="3600450"/>
            <a:ext cx="2880360" cy="99695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ln>
                  <a:noFill/>
                  <a:prstDash val="sysDot"/>
                </a:ln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你的工作从客户到店那一刻开始</a:t>
            </a:r>
            <a:endParaRPr lang="en-US" altLang="en-US" sz="105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Your work starts the moment the customer arrives</a:t>
            </a:r>
            <a:endParaRPr lang="zh-CN" altLang="en-US" sz="800" kern="0">
              <a:solidFill>
                <a:srgbClr val="6E8299"/>
              </a:solidFill>
            </a:endParaRPr>
          </a:p>
        </p:txBody>
      </p:sp>
      <p:sp>
        <p:nvSpPr>
          <p:cNvPr id="47" name="矩形 17"/>
          <p:cNvSpPr/>
          <p:nvPr/>
        </p:nvSpPr>
        <p:spPr>
          <a:xfrm>
            <a:off x="4759324" y="3009392"/>
            <a:ext cx="2880444" cy="591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Your Service Starts Here</a:t>
            </a:r>
            <a:endParaRPr lang="en-US" altLang="en-US" sz="155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客户到店</a:t>
            </a:r>
            <a:endParaRPr lang="zh-CN" altLang="en-US" sz="110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8" name="矩形 19"/>
          <p:cNvSpPr/>
          <p:nvPr/>
        </p:nvSpPr>
        <p:spPr>
          <a:xfrm>
            <a:off x="4759324" y="1811595"/>
            <a:ext cx="1325415" cy="9917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1111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5600" b="1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49" name="图片 20" descr="/data/temp/33367555-a9fe-11f0-9905-126ba0e9605a.jpg@base@tag=imgScale&amp;m=1&amp;w=799&amp;h=422&amp;q=9533367555-a9fe-11f0-9905-126ba0e9605a"/>
          <p:cNvPicPr>
            <a:picLocks noChangeAspect="1"/>
          </p:cNvPicPr>
          <p:nvPr/>
        </p:nvPicPr>
        <p:blipFill>
          <a:blip r:embed="rId2"/>
          <a:srcRect t="10423" b="10423"/>
          <a:stretch>
            <a:fillRect/>
          </a:stretch>
        </p:blipFill>
        <p:spPr>
          <a:xfrm>
            <a:off x="4759324" y="4626864"/>
            <a:ext cx="2880449" cy="10241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50" name="矩形 21"/>
          <p:cNvSpPr/>
          <p:nvPr/>
        </p:nvSpPr>
        <p:spPr>
          <a:xfrm>
            <a:off x="8617551" y="3690218"/>
            <a:ext cx="2880446" cy="876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 kern="0">
                <a:ln>
                  <a:noFill/>
                  <a:prstDash val="sysDot"/>
                </a:ln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准确记录需求，及时传递给技师与店长 / 套餐客户积累</a:t>
            </a:r>
            <a:endParaRPr lang="en-US" altLang="en-US" sz="105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8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Record the need accurately and pass it to the technician and manager</a:t>
            </a:r>
            <a:endParaRPr lang="zh-CN" altLang="en-US" sz="800" kern="0">
              <a:solidFill>
                <a:srgbClr val="6E8299"/>
              </a:solidFill>
            </a:endParaRPr>
          </a:p>
        </p:txBody>
      </p:sp>
      <p:sp>
        <p:nvSpPr>
          <p:cNvPr id="51" name="矩形 23"/>
          <p:cNvSpPr/>
          <p:nvPr/>
        </p:nvSpPr>
        <p:spPr>
          <a:xfrm>
            <a:off x="8617551" y="3009392"/>
            <a:ext cx="2880443" cy="591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Record and Pass It On</a:t>
            </a:r>
            <a:endParaRPr lang="en-US" altLang="en-US" sz="155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记录与传递</a:t>
            </a:r>
            <a:endParaRPr lang="zh-CN" altLang="en-US" sz="110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52" name="矩形 24"/>
          <p:cNvSpPr/>
          <p:nvPr/>
        </p:nvSpPr>
        <p:spPr>
          <a:xfrm>
            <a:off x="8617551" y="1811595"/>
            <a:ext cx="1325415" cy="9917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1111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5600" b="1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53" name="图片 25" descr="/data/temp/333674db-a9fe-11f0-9905-126ba0e9605a.jpg@base@tag=imgScale&amp;m=1&amp;w=799&amp;h=422&amp;q=95333674db-a9fe-11f0-9905-126ba0e9605a"/>
          <p:cNvPicPr>
            <a:picLocks noChangeAspect="1"/>
          </p:cNvPicPr>
          <p:nvPr/>
        </p:nvPicPr>
        <p:blipFill>
          <a:blip r:embed="rId3"/>
          <a:srcRect t="10423" b="10423"/>
          <a:stretch>
            <a:fillRect/>
          </a:stretch>
        </p:blipFill>
        <p:spPr>
          <a:xfrm>
            <a:off x="8617551" y="4626864"/>
            <a:ext cx="2880449" cy="102412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cxnSp>
        <p:nvCxnSpPr>
          <p:cNvPr id="54" name="直接连接符 34"/>
          <p:cNvCxnSpPr/>
          <p:nvPr/>
        </p:nvCxnSpPr>
        <p:spPr>
          <a:xfrm flipH="1">
            <a:off x="695960" y="1811595"/>
            <a:ext cx="0" cy="3877056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35"/>
          <p:cNvCxnSpPr/>
          <p:nvPr/>
        </p:nvCxnSpPr>
        <p:spPr>
          <a:xfrm flipH="1">
            <a:off x="4544025" y="1811595"/>
            <a:ext cx="0" cy="3877056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36"/>
          <p:cNvCxnSpPr/>
          <p:nvPr/>
        </p:nvCxnSpPr>
        <p:spPr>
          <a:xfrm flipH="1">
            <a:off x="8400347" y="1811595"/>
            <a:ext cx="0" cy="3877056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0" name="Picture 5"/>
          <p:cNvPicPr>
            <a:picLocks noChangeAspect="1"/>
          </p:cNvPicPr>
          <p:nvPr/>
        </p:nvPicPr>
        <p:blipFill>
          <a:blip r:embed="rId4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61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63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5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5" tooltip="https://www.servauto.com.my/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You Sit in the Chain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你在业务链路里的位置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12648" y="576072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648" y="5760720"/>
            <a:ext cx="50292" cy="566928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3816" y="582472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反哺闭环：你同时为公司流量矩阵反哺内容（视频 / 直播）。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Feedback loop: you feed content back into the company content matrix (video / live).</a:t>
            </a:r>
            <a:endParaRPr sz="85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着装、工牌、发型、手部符合标准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Uniform, badge, hair and hands meet standard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Uniform &amp; Grooming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着装仪表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710427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公共区域不与客户争执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Never argue with a customer in the open area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5148072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送客时明确预约下次到店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Send off with a clear next-visit reminder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58571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休息区与前台随时保持整洁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Keep the lounge and counter tidy at all times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4023360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规范接听电话与回复 WhatsApp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Answer phone and WhatsApp professionally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60400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Keep It Tidy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区域整洁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4041648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Phone &amp; Chat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电话与 WhatsApp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166360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Send Off &amp; Book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送客预约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728715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 Public Dispute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争执红线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Professional Image &amp; Etiquette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职业形象与客户礼仪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圆角矩形 35"/>
          <p:cNvSpPr/>
          <p:nvPr/>
        </p:nvSpPr>
        <p:spPr>
          <a:xfrm>
            <a:off x="603504" y="2354579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Greet in 3 Seconds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秒问候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6"/>
          <p:cNvSpPr/>
          <p:nvPr/>
        </p:nvSpPr>
        <p:spPr>
          <a:xfrm>
            <a:off x="3474720" y="2336291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客户到店 3 秒内主动问候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Greet within 3 seconds of arrival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圆角矩形 35"/>
          <p:cNvSpPr/>
          <p:nvPr/>
        </p:nvSpPr>
        <p:spPr>
          <a:xfrm>
            <a:off x="603504" y="2916936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Standard Greeting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标准问候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圆角矩形 6"/>
          <p:cNvSpPr/>
          <p:nvPr/>
        </p:nvSpPr>
        <p:spPr>
          <a:xfrm>
            <a:off x="3474720" y="2898648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按客群使用对应语言的标准问候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Use the ServAuto greeting in the right language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圆角矩形 35"/>
          <p:cNvSpPr/>
          <p:nvPr/>
        </p:nvSpPr>
        <p:spPr>
          <a:xfrm>
            <a:off x="603504" y="3479292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Seat &amp; Offer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引导入座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474720" y="3461004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引导入座、提供茶水、说明等待时间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Guide, offer drinks, explain the waiting time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预约与到店接待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Appointment and arrival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Arrival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到店接待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630091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送客与预约下次到店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Send off and book the next visit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987398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交车讲解与旧件展示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Vehicle handover and old-part show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344706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施工进度跟踪与客户同步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Progress tracking and customer update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3702013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引领客户至客休区 → 开立工单与信息传递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Escort to lounge, raise job card and pass on info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362994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Progress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进度同步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3720301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Job Card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开单传递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005686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Handover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交车讲解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648379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Send Off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送客预约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Reception Service SOP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6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接待服务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岗位主轴 · Your core duty</a:t>
            </a:r>
            <a:endParaRPr sz="11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圆角矩形 35"/>
          <p:cNvSpPr/>
          <p:nvPr/>
        </p:nvSpPr>
        <p:spPr>
          <a:xfrm>
            <a:off x="603504" y="2434916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Walk-around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环车检查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6"/>
          <p:cNvSpPr/>
          <p:nvPr/>
        </p:nvSpPr>
        <p:spPr>
          <a:xfrm>
            <a:off x="3474720" y="2416628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环车检查与车况拍照留档（无技师接车时）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Vehicle walk-around and photo record (no technician)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圆角矩形 35"/>
          <p:cNvSpPr/>
          <p:nvPr/>
        </p:nvSpPr>
        <p:spPr>
          <a:xfrm>
            <a:off x="603504" y="3077609"/>
            <a:ext cx="2743200" cy="5238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Valuables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贵重物品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圆角矩形 6"/>
          <p:cNvSpPr/>
          <p:nvPr/>
        </p:nvSpPr>
        <p:spPr>
          <a:xfrm>
            <a:off x="3474720" y="3059321"/>
            <a:ext cx="4142232" cy="560396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提醒贵重物品、记录特别关注事项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Remind about valuables and note special concerns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 Good Looks Like at Each Step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每一步的达标动作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现场动作  |  On the Floor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环车同行  /  Walk with the Customer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无技师接车时，环车检查须与客户同行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no technician, walk around the car with the customer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当面确认  /  Confirm Together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与客户确认贵重物品与特别关注事项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Confirm valuables and special concerns with the customer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先安顿再开单  /  Seat First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先引领客户至客休区，再开立工单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Escort to the lounge, then raise the job card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旧件展示  /  Show Old Parts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交车时展示更换下来的旧件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Show the replaced parts at handover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沟通与异常  |  Talk &amp; Exceptions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给时间点  /  Name the Time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853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明确告知客户何时会有反馈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Tell the customer when to expect a call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6309360" y="3633216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633216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66979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876288" y="366979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主动同步  /  Update First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876288" y="3953256"/>
            <a:ext cx="4663440" cy="853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在客户催问前主动同步进度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 the customer before they ask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6309360" y="4925568"/>
            <a:ext cx="5394960" cy="1219200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925568"/>
            <a:ext cx="45720" cy="121920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9621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876288" y="4962144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处理异常  /  Handle Delays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876288" y="5245608"/>
            <a:ext cx="4663440" cy="853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耐心处理等待过久、催问与临时改单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Handle delays, rush and order changes calmly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保养：机油、滤芯、保养周期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Servicing: engine oil, filters, intervals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Servicing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保养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710427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有效期、权益与使用规则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Validity, benefits and usage rules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5148072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会员卡与次卡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Membership cards and visit-count cards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58571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套餐体系：保养 / 轮胎 / 美容套餐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Packages: servicing, tyre, detailing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4023360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工时费与配件价格构成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How labour and parts pricing is built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60400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Package Lines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套餐体系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4041648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Pricing Build-up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价格构成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166360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Member &amp; Visit Cards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会员次卡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728715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Validity &amp; Benefits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权益规则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Products, Services &amp; Packages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产品、项目与套餐知识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自己先懂，才能讲清楚 · Know it well, explain it clearly</a:t>
            </a:r>
            <a:endParaRPr sz="11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圆角矩形 35"/>
          <p:cNvSpPr/>
          <p:nvPr/>
        </p:nvSpPr>
        <p:spPr>
          <a:xfrm>
            <a:off x="603504" y="2354579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Tyres &amp; Alignment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轮胎定位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6"/>
          <p:cNvSpPr/>
          <p:nvPr/>
        </p:nvSpPr>
        <p:spPr>
          <a:xfrm>
            <a:off x="3474720" y="2336291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轮胎与四轮定位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Tyres and wheel alignment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圆角矩形 35"/>
          <p:cNvSpPr/>
          <p:nvPr/>
        </p:nvSpPr>
        <p:spPr>
          <a:xfrm>
            <a:off x="603504" y="2916936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Fluids &amp; Brakes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油液刹车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圆角矩形 6"/>
          <p:cNvSpPr/>
          <p:nvPr/>
        </p:nvSpPr>
        <p:spPr>
          <a:xfrm>
            <a:off x="3474720" y="2898648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油液、冷却与刹车系统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Fluids, cooling and brake system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圆角矩形 35"/>
          <p:cNvSpPr/>
          <p:nvPr/>
        </p:nvSpPr>
        <p:spPr>
          <a:xfrm>
            <a:off x="603504" y="3479292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Battery &amp; A/C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电瓶空调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474720" y="3461004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电瓶、空调、美容与轻改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Battery, air-conditioning, detailing, light mods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: 圆角 2"/>
          <p:cNvSpPr/>
          <p:nvPr/>
        </p:nvSpPr>
        <p:spPr>
          <a:xfrm>
            <a:off x="69246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ounded Rectangle 43"/>
          <p:cNvSpPr/>
          <p:nvPr/>
        </p:nvSpPr>
        <p:spPr>
          <a:xfrm>
            <a:off x="764540" y="4754880"/>
            <a:ext cx="2383790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70709" y="4754880"/>
            <a:ext cx="2239692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75884" y="4754880"/>
            <a:ext cx="2239692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81694" y="4754880"/>
            <a:ext cx="2239692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矩形 8"/>
          <p:cNvSpPr/>
          <p:nvPr/>
        </p:nvSpPr>
        <p:spPr>
          <a:xfrm>
            <a:off x="764540" y="4791456"/>
            <a:ext cx="2383790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先讲价值，再讲价格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 with value, then talk about price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" name="矩形 9"/>
          <p:cNvSpPr/>
          <p:nvPr/>
        </p:nvSpPr>
        <p:spPr>
          <a:xfrm>
            <a:off x="764265" y="3874576"/>
            <a:ext cx="2239693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 First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先讲价值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18" name="图片 17" descr="/data/temp/336c6cc7-a9fe-11f0-a9b7-3692c9aabca4.jpg@base@tag=imgScale&amp;m=1&amp;w=514&amp;h=514&amp;q=95336c6cc7-a9fe-11f0-a9b7-3692c9aabca4"/>
          <p:cNvPicPr>
            <a:picLocks noChangeAspect="1"/>
          </p:cNvPicPr>
          <p:nvPr/>
        </p:nvPicPr>
        <p:blipFill>
          <a:blip r:embed="rId1"/>
          <a:srcRect l="16678" r="16678"/>
          <a:stretch>
            <a:fillRect/>
          </a:stretch>
        </p:blipFill>
        <p:spPr>
          <a:xfrm>
            <a:off x="958053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9" name="矩形: 圆角 1"/>
          <p:cNvSpPr/>
          <p:nvPr/>
        </p:nvSpPr>
        <p:spPr>
          <a:xfrm>
            <a:off x="349827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23"/>
          <p:cNvSpPr/>
          <p:nvPr/>
        </p:nvSpPr>
        <p:spPr>
          <a:xfrm>
            <a:off x="3570709" y="4791456"/>
            <a:ext cx="2239692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当场算账：客户能省多少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 the maths out loud - show what they save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3570074" y="3874576"/>
            <a:ext cx="2239693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 the Maths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当场算账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2" name="图片 25" descr="/data/temp/336c6d5c-a9fe-11f0-a9b7-3692c9aabca4.jpg@base@tag=imgScale&amp;m=1&amp;w=514&amp;h=514&amp;q=95336c6d5c-a9fe-11f0-a9b7-3692c9aabca4"/>
          <p:cNvPicPr>
            <a:picLocks noChangeAspect="1"/>
          </p:cNvPicPr>
          <p:nvPr/>
        </p:nvPicPr>
        <p:blipFill>
          <a:blip r:embed="rId2"/>
          <a:srcRect l="16635" r="16635"/>
          <a:stretch>
            <a:fillRect/>
          </a:stretch>
        </p:blipFill>
        <p:spPr>
          <a:xfrm>
            <a:off x="3764499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3" name="矩形: 圆角 3"/>
          <p:cNvSpPr/>
          <p:nvPr/>
        </p:nvSpPr>
        <p:spPr>
          <a:xfrm>
            <a:off x="630408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7"/>
          <p:cNvSpPr/>
          <p:nvPr/>
        </p:nvSpPr>
        <p:spPr>
          <a:xfrm>
            <a:off x="6375884" y="4791456"/>
            <a:ext cx="2239692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快速判断客户：新客 / 老客 / 保养到期 / 换胎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the customer: new, returning, due, tyre change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5" name="矩形 28"/>
          <p:cNvSpPr/>
          <p:nvPr/>
        </p:nvSpPr>
        <p:spPr>
          <a:xfrm>
            <a:off x="6375884" y="3875211"/>
            <a:ext cx="2239692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the Customer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判断客户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6" name="图片 29" descr="/data/temp/336c6cab-a9fe-11f0-a9b7-3692c9aabca4.jpg@base@tag=imgScale&amp;m=1&amp;w=514&amp;h=514&amp;q=95336c6cab-a9fe-11f0-a9b7-3692c9aabca4"/>
          <p:cNvPicPr>
            <a:picLocks noChangeAspect="1"/>
          </p:cNvPicPr>
          <p:nvPr/>
        </p:nvPicPr>
        <p:blipFill>
          <a:blip r:embed="rId3"/>
          <a:srcRect l="16678" r="16678"/>
          <a:stretch>
            <a:fillRect/>
          </a:stretch>
        </p:blipFill>
        <p:spPr>
          <a:xfrm>
            <a:off x="656967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7" name="矩形: 圆角 3"/>
          <p:cNvSpPr/>
          <p:nvPr/>
        </p:nvSpPr>
        <p:spPr>
          <a:xfrm>
            <a:off x="910989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31"/>
          <p:cNvSpPr/>
          <p:nvPr/>
        </p:nvSpPr>
        <p:spPr>
          <a:xfrm>
            <a:off x="9181694" y="4791456"/>
            <a:ext cx="2239692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当场下单，并确认权益与有效期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Close the sale, then confirm benefits and validity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9" name="矩形 32"/>
          <p:cNvSpPr/>
          <p:nvPr/>
        </p:nvSpPr>
        <p:spPr>
          <a:xfrm>
            <a:off x="9181694" y="3875211"/>
            <a:ext cx="2239693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Confirm Benefits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确认权益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30" name="图片 33" descr="/data/temp/336c6bee-a9fe-11f0-a9b7-3692c9aabca4.jpg@base@tag=imgScale&amp;m=1&amp;w=514&amp;h=514&amp;q=95336c6bee-a9fe-11f0-a9b7-3692c9aabca4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937548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3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 r:embed="rId5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3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3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6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6" tooltip="https://www.servauto.com.my/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Selling Packages with Confidence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套餐销售：敢开口、会算账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Handling Common Objections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常见异议的应对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异议与应对  |  Objections &amp; Answers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太贵了  /  Too Expensive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拆到每次到店多少钱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it down per visit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我不需要  /  I Do Not Need It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问年行驶里程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Ask about annual mileage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下次再说  /  Maybe Next Time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提示权益到期时间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Remind them of the expiry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要问家人  /  Ask My Family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提供短暂锁价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Offer to hold the price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沟通原则  |  Principles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报价后停顿  /  Pause After Price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报价后停顿，不要抢话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Pause after the price, do not talk over it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630936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3467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876288" y="3346704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不硬推  /  No Hard Push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876288" y="363016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不推销客户未提出的项目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Never push a project the customer did not ask for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630936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315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876288" y="431596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拒绝也礼貌  /  Stay Polite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876288" y="45994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客户拒绝时保持礼貌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Stay polite when the answer is no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30936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5285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876288" y="528523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记录原因  /  Log the Reason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6876288" y="5568696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记录拒绝原因，用于优化套餐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 the reason so we can improve the offer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报价单、工单、结算单、发票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Quote, job card, settlement note, invoice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Four Documents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四类单据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710427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严禁系统外收款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Never take payment outside the system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5148072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单据归档可追溯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 documents so they can be traced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585716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日结对账，差异当班说明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Close the day and explain any variance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4023360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备用金与找零规范管理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Manage the float and change carefully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604004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Close the Day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日结差异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4041648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 &amp; Change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备用金找零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5166360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File to Trace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归档可查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728715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 Off-System Payment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系统外收款红线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Cashiering, Documents &amp; Daily Reconciliation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收银、单据与日结对账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圆角矩形 35"/>
          <p:cNvSpPr/>
          <p:nvPr/>
        </p:nvSpPr>
        <p:spPr>
          <a:xfrm>
            <a:off x="603504" y="2354579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Sign Before Work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施工前签字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6"/>
          <p:cNvSpPr/>
          <p:nvPr/>
        </p:nvSpPr>
        <p:spPr>
          <a:xfrm>
            <a:off x="3474720" y="2336291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施工前完成客户签字确认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 the customer signature before work starts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圆角矩形 35"/>
          <p:cNvSpPr/>
          <p:nvPr/>
        </p:nvSpPr>
        <p:spPr>
          <a:xfrm>
            <a:off x="603504" y="2916936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Match Every Entry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逐笔核对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圆角矩形 6"/>
          <p:cNvSpPr/>
          <p:nvPr/>
        </p:nvSpPr>
        <p:spPr>
          <a:xfrm>
            <a:off x="3474720" y="2898648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每笔收款与系统逐笔核对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Reconcile every payment against the system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圆角矩形 35"/>
          <p:cNvSpPr/>
          <p:nvPr/>
        </p:nvSpPr>
        <p:spPr>
          <a:xfrm>
            <a:off x="603504" y="3479292"/>
            <a:ext cx="2743200" cy="4434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Redeem Right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核销规范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474720" y="3461004"/>
            <a:ext cx="4142232" cy="480060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套餐与优惠券正确核销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Redeem packages and vouchers correctly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一律竖屏 9:16，忌横屏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Shoot vertical 9:16 - never landscape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Vertical 9:16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竖屏 9:16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出镜要求：自然、着工装、符合品牌形象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 camera: natural, in uniform, on brand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有效素材：施工前后对比、故障揭秘、交车瞬间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What works: before/after, fault reveal, handover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画面稳定、光线干净、收音清楚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Steady hands, clean light, clear audio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 2 秒必须抓住注意力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Hook the viewer within the first 2 seconds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Steady · Bright · Clear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稳 · 亮 · 清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First 2 Seconds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前 2 秒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What Works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有效素材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 Camera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出镜要求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 Shooting &amp; Live Streaming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视频拍摄与直播出镜（硬性要求）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每位服务顾问的硬性要求 · Mandatory for every service advisor</a:t>
            </a:r>
            <a:endParaRPr sz="11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80560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每月不少于 12条短视频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 least 4 short videos per month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4434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Short Video Quota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短视频配额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每周选题会确定下周选题与排班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The weekly content meeting sets next week's topics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配额不达标，直接卡认证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 quota, no certification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月底前按要求提交到内容群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Submit through the content group before month end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17473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每周至少 1 场直播出镜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 least 1 live session per month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4388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Submission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提交方式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44114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Live Quota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直播配额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4365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 Line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红线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43423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Topic Meeting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选题会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 Quota &amp; Delivery Standard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内容配额与交付标准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12648" y="1371600"/>
            <a:ext cx="10972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 LINE · 配额不达标，直接卡认证</a:t>
            </a:r>
            <a:endParaRPr sz="11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Systems &amp; Daily Operations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系统工具与日常运营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4008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" y="1819656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系统工具  |  Systems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008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207007" y="2377440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工单系统  /  Job Card System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207007" y="2660903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工单系统 —— 开立与更新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Job card system - create and update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4008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008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95528" y="33467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1207007" y="3346704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客户建档  /  Customer Profile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207007" y="363016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客户建档 —— 字段填写完整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 profile - complete every field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64008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008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315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207007" y="431596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库存查询  /  Stock Check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207007" y="45994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库存与配件查询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 stock and part availability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64008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008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5528" y="5285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207007" y="528523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系统内收款  /  In-System Payment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207007" y="5568696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系统内收款与核销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Take payment and redeem inside the system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309360" y="1792224"/>
            <a:ext cx="5394960" cy="438912"/>
          </a:xfrm>
          <a:prstGeom prst="roundRect">
            <a:avLst>
              <a:gd name="adj" fmla="val 16000"/>
            </a:avLst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55664" y="1819656"/>
            <a:ext cx="5102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日常节奏  |  Daily Rhythm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6309360" y="2340864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309360" y="2340864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64808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876288" y="2377440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每日早会  /  Morning Meeting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876288" y="2660903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每日早会 10 分钟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Morning meeting - 10 minutes daily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6309360" y="3310128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09360" y="3310128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64808" y="334670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876288" y="3346704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离店前日报  /  Daily Report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876288" y="363016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离店前完成日报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Daily report before you leave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6309360" y="4279392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309360" y="4279392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64808" y="43159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6876288" y="4315968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交接班记录  /  Shift Handover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876288" y="45994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交接班记录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Handover notes between shifts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6309360" y="5248656"/>
            <a:ext cx="5394960" cy="896112"/>
          </a:xfrm>
          <a:prstGeom prst="roundRect">
            <a:avLst>
              <a:gd name="adj" fmla="val 1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309360" y="5248656"/>
            <a:ext cx="45720" cy="896112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64808" y="528523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876288" y="5285232"/>
            <a:ext cx="46817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及时升级  /  Escalate</a:t>
            </a:r>
            <a:endParaRPr sz="10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6876288" y="5568696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无法处理的问题及时升级</a:t>
            </a:r>
            <a:endParaRPr sz="900" b="0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spcBef>
                <a:spcPts val="100"/>
              </a:spcBef>
            </a:pPr>
            <a:r>
              <a:rPr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Escalate anything you cannot resolve</a:t>
            </a:r>
            <a:endParaRPr sz="78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: 圆角 2"/>
          <p:cNvSpPr/>
          <p:nvPr/>
        </p:nvSpPr>
        <p:spPr>
          <a:xfrm>
            <a:off x="69246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ounded Rectangle 43"/>
          <p:cNvSpPr/>
          <p:nvPr/>
        </p:nvSpPr>
        <p:spPr>
          <a:xfrm>
            <a:off x="764540" y="4754880"/>
            <a:ext cx="2383790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70709" y="4754880"/>
            <a:ext cx="2239692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75884" y="4754880"/>
            <a:ext cx="2239692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181694" y="4754880"/>
            <a:ext cx="2239692" cy="1280160"/>
          </a:xfrm>
          <a:prstGeom prst="roundRect">
            <a:avLst>
              <a:gd name="adj" fmla="val 6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矩形 8"/>
          <p:cNvSpPr/>
          <p:nvPr/>
        </p:nvSpPr>
        <p:spPr>
          <a:xfrm>
            <a:off x="764540" y="4791456"/>
            <a:ext cx="2383790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入职融入与跟岗
通过形象与礼仪检查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Onboard and shadow
Pass the image and etiquette check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" name="矩形 9"/>
          <p:cNvSpPr/>
          <p:nvPr/>
        </p:nvSpPr>
        <p:spPr>
          <a:xfrm>
            <a:off x="764265" y="3874576"/>
            <a:ext cx="2239693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Days 0–30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0–30 天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18" name="图片 17" descr="/data/temp/336c6cc7-a9fe-11f0-a9b7-3692c9aabca4.jpg@base@tag=imgScale&amp;m=1&amp;w=514&amp;h=514&amp;q=95336c6cc7-a9fe-11f0-a9b7-3692c9aabca4"/>
          <p:cNvPicPr>
            <a:picLocks noChangeAspect="1"/>
          </p:cNvPicPr>
          <p:nvPr/>
        </p:nvPicPr>
        <p:blipFill>
          <a:blip r:embed="rId1"/>
          <a:srcRect l="16678" r="16678"/>
          <a:stretch>
            <a:fillRect/>
          </a:stretch>
        </p:blipFill>
        <p:spPr>
          <a:xfrm>
            <a:off x="958053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9" name="矩形: 圆角 1"/>
          <p:cNvSpPr/>
          <p:nvPr/>
        </p:nvSpPr>
        <p:spPr>
          <a:xfrm>
            <a:off x="349827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23"/>
          <p:cNvSpPr/>
          <p:nvPr/>
        </p:nvSpPr>
        <p:spPr>
          <a:xfrm>
            <a:off x="3570709" y="4791456"/>
            <a:ext cx="2239692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基础集训与认证
开始按月产出内容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Foundation training and certification
Start delivering content every month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3570074" y="3874576"/>
            <a:ext cx="2239693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Months 1–3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 个月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2" name="图片 25" descr="/data/temp/336c6d5c-a9fe-11f0-a9b7-3692c9aabca4.jpg@base@tag=imgScale&amp;m=1&amp;w=514&amp;h=514&amp;q=95336c6d5c-a9fe-11f0-a9b7-3692c9aabca4"/>
          <p:cNvPicPr>
            <a:picLocks noChangeAspect="1"/>
          </p:cNvPicPr>
          <p:nvPr/>
        </p:nvPicPr>
        <p:blipFill>
          <a:blip r:embed="rId2"/>
          <a:srcRect l="16635" r="16635"/>
          <a:stretch>
            <a:fillRect/>
          </a:stretch>
        </p:blipFill>
        <p:spPr>
          <a:xfrm>
            <a:off x="3764499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3" name="矩形: 圆角 3"/>
          <p:cNvSpPr/>
          <p:nvPr/>
        </p:nvSpPr>
        <p:spPr>
          <a:xfrm>
            <a:off x="630408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7"/>
          <p:cNvSpPr/>
          <p:nvPr/>
        </p:nvSpPr>
        <p:spPr>
          <a:xfrm>
            <a:off x="6375884" y="4791456"/>
            <a:ext cx="2239692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独立上岗
收银与签收零差错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 independently
Cashiering and goods receipt with zero error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5" name="矩形 28"/>
          <p:cNvSpPr/>
          <p:nvPr/>
        </p:nvSpPr>
        <p:spPr>
          <a:xfrm>
            <a:off x="6375884" y="3875211"/>
            <a:ext cx="2239692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Months 3–6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3–6 个月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6" name="图片 29" descr="/data/temp/336c6cab-a9fe-11f0-a9b7-3692c9aabca4.jpg@base@tag=imgScale&amp;m=1&amp;w=514&amp;h=514&amp;q=95336c6cab-a9fe-11f0-a9b7-3692c9aabca4"/>
          <p:cNvPicPr>
            <a:picLocks noChangeAspect="1"/>
          </p:cNvPicPr>
          <p:nvPr/>
        </p:nvPicPr>
        <p:blipFill>
          <a:blip r:embed="rId3"/>
          <a:srcRect l="16678" r="16678"/>
          <a:stretch>
            <a:fillRect/>
          </a:stretch>
        </p:blipFill>
        <p:spPr>
          <a:xfrm>
            <a:off x="656967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7" name="矩形: 圆角 3"/>
          <p:cNvSpPr/>
          <p:nvPr/>
        </p:nvSpPr>
        <p:spPr>
          <a:xfrm>
            <a:off x="910989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31"/>
          <p:cNvSpPr/>
          <p:nvPr/>
        </p:nvSpPr>
        <p:spPr>
          <a:xfrm>
            <a:off x="9181694" y="4791456"/>
            <a:ext cx="2239692" cy="11887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为高级班做准备
目标：高级服务顾问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78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Prepare for the advanced course
Target: an Advanced Service Advisor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9" name="矩形 32"/>
          <p:cNvSpPr/>
          <p:nvPr/>
        </p:nvSpPr>
        <p:spPr>
          <a:xfrm>
            <a:off x="9181694" y="3875211"/>
            <a:ext cx="2239693" cy="822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Months 6–12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6–12 个月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30" name="图片 33" descr="/data/temp/336c6bee-a9fe-11f0-a9b7-3692c9aabca4.jpg@base@tag=imgScale&amp;m=1&amp;w=514&amp;h=514&amp;q=95336c6bee-a9fe-11f0-a9b7-3692c9aabca4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937548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3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 r:embed="rId5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3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3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6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6" tooltip="https://www.servauto.com.my/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" y="82296"/>
            <a:ext cx="8412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服务顾问培训 | Service Advisor Training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" y="585216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Your First Twelve Months</a:t>
            </a:r>
            <a:endParaRPr sz="25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" y="1060704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入职一年的成长路径</a:t>
            </a:r>
            <a:endParaRPr sz="17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" y="1682496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9" name="标题"/>
          <p:cNvSpPr>
            <a:spLocks noGrp="1"/>
          </p:cNvSpPr>
          <p:nvPr>
            <p:ph type="ctrTitle"/>
          </p:nvPr>
        </p:nvSpPr>
        <p:spPr>
          <a:xfrm>
            <a:off x="841248" y="2212848"/>
            <a:ext cx="10515600" cy="2103120"/>
          </a:xfrm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</a:t>
            </a:r>
            <a:endParaRPr lang="en-US" altLang="en-US" sz="5600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2200" b="0">
                <a:solidFill>
                  <a:srgbClr val="C9D6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endParaRPr lang="zh-CN" altLang="en-US" sz="3650">
              <a:solidFill>
                <a:srgbClr val="6E8299"/>
              </a:solidFill>
            </a:endParaRP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1200" b="0">
                <a:solidFill>
                  <a:srgbClr val="A6B9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Foundation Course  |  初级课程</a:t>
            </a:r>
            <a:endParaRPr lang="zh-CN" altLang="en-US" sz="3650">
              <a:solidFill>
                <a:srgbClr val="6E8299"/>
              </a:solidFill>
            </a:endParaRPr>
          </a:p>
        </p:txBody>
      </p:sp>
      <p:pic>
        <p:nvPicPr>
          <p:cNvPr id="480" name="Picture 318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4307" y="960120"/>
            <a:ext cx="1783080" cy="479233"/>
          </a:xfrm>
          <a:prstGeom prst="rect">
            <a:avLst/>
          </a:prstGeom>
        </p:spPr>
      </p:pic>
      <p:sp>
        <p:nvSpPr>
          <p:cNvPr id="48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84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48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48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9043</Words>
  <Application>WPS 演示</Application>
  <PresentationFormat/>
  <Paragraphs>777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Arial</vt:lpstr>
      <vt:lpstr>Inter 18pt SemiBold</vt:lpstr>
      <vt:lpstr>Segoe Print</vt:lpstr>
      <vt:lpstr>Inter 18pt ExtraBold</vt:lpstr>
      <vt:lpstr>Inter 18pt Medium</vt:lpstr>
      <vt:lpstr>Inter</vt:lpstr>
      <vt:lpstr>微软雅黑</vt:lpstr>
      <vt:lpstr>Arial Unicode MS</vt:lpstr>
      <vt:lpstr>Office 主题</vt:lpstr>
      <vt:lpstr>Office 主题​​</vt:lpstr>
      <vt:lpstr>1_Office 主题​​</vt:lpstr>
      <vt:lpstr>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Foundation Course  |  初级课程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房吉伟</cp:lastModifiedBy>
  <cp:revision>8</cp:revision>
  <dcterms:created xsi:type="dcterms:W3CDTF">2026-10-12T03:31:00Z</dcterms:created>
  <dcterms:modified xsi:type="dcterms:W3CDTF">2026-10-26T09:45:02Z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6b6e2dac51814862bae57b148d8df064_21</vt:lpwstr>
  </property>
  <property fmtid="{D5CDD505-2E9C-101B-9397-08002B2CF9AE}" pid="3" name="KSOProductBuildVer">
    <vt:lpwstr>2052-12.1.0.28505</vt:lpwstr>
  </property>
</Properties>
</file>