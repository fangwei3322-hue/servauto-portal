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74" r:id="rId5"/>
  </p:sldMasterIdLst>
  <p:notesMasterIdLst>
    <p:notesMasterId r:id="rId14"/>
  </p:notesMasterIdLst>
  <p:sldIdLst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  <p:txBody>
          <a:bodyPr/>
          <a:p/>
        </p:txBody>
      </p:sp>
      <p:sp>
        <p:nvSpPr>
          <p:cNvPr id="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servauto.com.my/" TargetMode="Externa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9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垂直排列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幻灯片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 0" descr=" 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2" name="Image 4" descr=" "/>
          <p:cNvSpPr/>
          <p:nvPr/>
        </p:nvSpPr>
        <p:spPr>
          <a:xfrm>
            <a:off x="1588" y="1066799"/>
            <a:ext cx="1625193" cy="1498600"/>
          </a:xfrm>
          <a:custGeom>
            <a:avLst/>
            <a:gdLst>
              <a:gd name="connsiteX0" fmla="*/ 876081 w 1625193"/>
              <a:gd name="connsiteY0" fmla="*/ 0 h 1498600"/>
              <a:gd name="connsiteX1" fmla="*/ 1625194 w 1625193"/>
              <a:gd name="connsiteY1" fmla="*/ 749300 h 1498600"/>
              <a:gd name="connsiteX2" fmla="*/ 1625194 w 1625193"/>
              <a:gd name="connsiteY2" fmla="*/ 749300 h 1498600"/>
              <a:gd name="connsiteX3" fmla="*/ 876081 w 1625193"/>
              <a:gd name="connsiteY3" fmla="*/ 1498600 h 1498600"/>
              <a:gd name="connsiteX4" fmla="*/ 0 w 1625193"/>
              <a:gd name="connsiteY4" fmla="*/ 1498600 h 1498600"/>
              <a:gd name="connsiteX5" fmla="*/ 0 w 1625193"/>
              <a:gd name="connsiteY5" fmla="*/ 0 h 1498600"/>
              <a:gd name="connsiteX6" fmla="*/ 876081 w 1625193"/>
              <a:gd name="connsiteY6" fmla="*/ 0 h 149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193" h="1498600">
                <a:moveTo>
                  <a:pt x="876081" y="0"/>
                </a:moveTo>
                <a:cubicBezTo>
                  <a:pt x="1289807" y="0"/>
                  <a:pt x="1625194" y="335473"/>
                  <a:pt x="1625194" y="749300"/>
                </a:cubicBezTo>
                <a:lnTo>
                  <a:pt x="1625194" y="749300"/>
                </a:lnTo>
                <a:cubicBezTo>
                  <a:pt x="1625194" y="1163127"/>
                  <a:pt x="1289807" y="1498600"/>
                  <a:pt x="876081" y="1498600"/>
                </a:cubicBezTo>
                <a:lnTo>
                  <a:pt x="0" y="1498600"/>
                </a:lnTo>
                <a:lnTo>
                  <a:pt x="0" y="0"/>
                </a:lnTo>
                <a:lnTo>
                  <a:pt x="876081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73" name="Image 1" descr=" "/>
          <p:cNvSpPr/>
          <p:nvPr/>
        </p:nvSpPr>
        <p:spPr>
          <a:xfrm>
            <a:off x="9321058" y="3111500"/>
            <a:ext cx="2260035" cy="3746500"/>
          </a:xfrm>
          <a:custGeom>
            <a:avLst/>
            <a:gdLst>
              <a:gd name="connsiteX0" fmla="*/ 0 w 2260035"/>
              <a:gd name="connsiteY0" fmla="*/ 1130300 h 3746500"/>
              <a:gd name="connsiteX1" fmla="*/ 1130018 w 2260035"/>
              <a:gd name="connsiteY1" fmla="*/ 0 h 3746500"/>
              <a:gd name="connsiteX2" fmla="*/ 1130018 w 2260035"/>
              <a:gd name="connsiteY2" fmla="*/ 0 h 3746500"/>
              <a:gd name="connsiteX3" fmla="*/ 2260035 w 2260035"/>
              <a:gd name="connsiteY3" fmla="*/ 1130300 h 3746500"/>
              <a:gd name="connsiteX4" fmla="*/ 2260035 w 2260035"/>
              <a:gd name="connsiteY4" fmla="*/ 3746500 h 3746500"/>
              <a:gd name="connsiteX5" fmla="*/ 0 w 2260035"/>
              <a:gd name="connsiteY5" fmla="*/ 3746500 h 3746500"/>
              <a:gd name="connsiteX6" fmla="*/ 0 w 2260035"/>
              <a:gd name="connsiteY6" fmla="*/ 1130300 h 374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60035" h="3746500">
                <a:moveTo>
                  <a:pt x="0" y="1130300"/>
                </a:moveTo>
                <a:cubicBezTo>
                  <a:pt x="0" y="506053"/>
                  <a:pt x="505927" y="0"/>
                  <a:pt x="1130018" y="0"/>
                </a:cubicBezTo>
                <a:lnTo>
                  <a:pt x="1130018" y="0"/>
                </a:lnTo>
                <a:cubicBezTo>
                  <a:pt x="1754105" y="0"/>
                  <a:pt x="2260035" y="506053"/>
                  <a:pt x="2260035" y="1130300"/>
                </a:cubicBezTo>
                <a:lnTo>
                  <a:pt x="2260035" y="3746500"/>
                </a:lnTo>
                <a:lnTo>
                  <a:pt x="0" y="3746500"/>
                </a:lnTo>
                <a:lnTo>
                  <a:pt x="0" y="1130300"/>
                </a:lnTo>
                <a:close/>
              </a:path>
            </a:pathLst>
          </a:custGeom>
          <a:solidFill>
            <a:schemeClr val="accent3"/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4" name="Image 2" descr=" "/>
          <p:cNvSpPr/>
          <p:nvPr/>
        </p:nvSpPr>
        <p:spPr>
          <a:xfrm>
            <a:off x="10527256" y="0"/>
            <a:ext cx="1053836" cy="1866900"/>
          </a:xfrm>
          <a:custGeom>
            <a:avLst/>
            <a:gdLst>
              <a:gd name="connsiteX0" fmla="*/ 0 w 1053836"/>
              <a:gd name="connsiteY0" fmla="*/ 0 h 1866900"/>
              <a:gd name="connsiteX1" fmla="*/ 1053836 w 1053836"/>
              <a:gd name="connsiteY1" fmla="*/ 0 h 1866900"/>
              <a:gd name="connsiteX2" fmla="*/ 1053836 w 1053836"/>
              <a:gd name="connsiteY2" fmla="*/ 1339850 h 1866900"/>
              <a:gd name="connsiteX3" fmla="*/ 526918 w 1053836"/>
              <a:gd name="connsiteY3" fmla="*/ 1866900 h 1866900"/>
              <a:gd name="connsiteX4" fmla="*/ 526918 w 1053836"/>
              <a:gd name="connsiteY4" fmla="*/ 1866900 h 1866900"/>
              <a:gd name="connsiteX5" fmla="*/ 0 w 1053836"/>
              <a:gd name="connsiteY5" fmla="*/ 1339850 h 1866900"/>
              <a:gd name="connsiteX6" fmla="*/ 0 w 1053836"/>
              <a:gd name="connsiteY6" fmla="*/ 0 h 186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3836" h="1866900">
                <a:moveTo>
                  <a:pt x="0" y="0"/>
                </a:moveTo>
                <a:lnTo>
                  <a:pt x="1053836" y="0"/>
                </a:lnTo>
                <a:lnTo>
                  <a:pt x="1053836" y="1339850"/>
                </a:lnTo>
                <a:cubicBezTo>
                  <a:pt x="1053836" y="1630934"/>
                  <a:pt x="817927" y="1866900"/>
                  <a:pt x="526918" y="1866900"/>
                </a:cubicBezTo>
                <a:lnTo>
                  <a:pt x="526918" y="1866900"/>
                </a:lnTo>
                <a:cubicBezTo>
                  <a:pt x="235909" y="1866900"/>
                  <a:pt x="0" y="1630934"/>
                  <a:pt x="0" y="133985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1262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5" name="Image 3" descr=" "/>
          <p:cNvSpPr/>
          <p:nvPr/>
        </p:nvSpPr>
        <p:spPr>
          <a:xfrm>
            <a:off x="5270770" y="3759200"/>
            <a:ext cx="1485529" cy="3098800"/>
          </a:xfrm>
          <a:custGeom>
            <a:avLst/>
            <a:gdLst>
              <a:gd name="connsiteX0" fmla="*/ 0 w 1485529"/>
              <a:gd name="connsiteY0" fmla="*/ 742950 h 3098800"/>
              <a:gd name="connsiteX1" fmla="*/ 742765 w 1485529"/>
              <a:gd name="connsiteY1" fmla="*/ 0 h 3098800"/>
              <a:gd name="connsiteX2" fmla="*/ 742765 w 1485529"/>
              <a:gd name="connsiteY2" fmla="*/ 0 h 3098800"/>
              <a:gd name="connsiteX3" fmla="*/ 1485529 w 1485529"/>
              <a:gd name="connsiteY3" fmla="*/ 742950 h 3098800"/>
              <a:gd name="connsiteX4" fmla="*/ 1485529 w 1485529"/>
              <a:gd name="connsiteY4" fmla="*/ 3098800 h 3098800"/>
              <a:gd name="connsiteX5" fmla="*/ 0 w 1485529"/>
              <a:gd name="connsiteY5" fmla="*/ 3098800 h 3098800"/>
              <a:gd name="connsiteX6" fmla="*/ 0 w 1485529"/>
              <a:gd name="connsiteY6" fmla="*/ 742950 h 309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85529" h="3098800">
                <a:moveTo>
                  <a:pt x="0" y="742950"/>
                </a:moveTo>
                <a:cubicBezTo>
                  <a:pt x="0" y="332630"/>
                  <a:pt x="332546" y="0"/>
                  <a:pt x="742765" y="0"/>
                </a:cubicBezTo>
                <a:lnTo>
                  <a:pt x="742765" y="0"/>
                </a:lnTo>
                <a:cubicBezTo>
                  <a:pt x="1152983" y="0"/>
                  <a:pt x="1485529" y="332630"/>
                  <a:pt x="1485529" y="742950"/>
                </a:cubicBezTo>
                <a:lnTo>
                  <a:pt x="1485529" y="3098800"/>
                </a:lnTo>
                <a:lnTo>
                  <a:pt x="0" y="3098800"/>
                </a:lnTo>
                <a:lnTo>
                  <a:pt x="0" y="742950"/>
                </a:lnTo>
                <a:close/>
              </a:path>
            </a:pathLst>
          </a:custGeom>
          <a:solidFill>
            <a:schemeClr val="accent1">
              <a:alpha val="54000"/>
            </a:schemeClr>
          </a:solidFill>
          <a:ln w="1261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6" name="标题 1"/>
          <p:cNvSpPr>
            <a:spLocks noGrp="1"/>
          </p:cNvSpPr>
          <p:nvPr>
            <p:ph type="ctrTitle"/>
          </p:nvPr>
        </p:nvSpPr>
        <p:spPr>
          <a:xfrm>
            <a:off x="785942" y="916125"/>
            <a:ext cx="5918099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7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8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0" name="署名占位符 10"/>
          <p:cNvSpPr>
            <a:spLocks noGrp="1"/>
          </p:cNvSpPr>
          <p:nvPr>
            <p:ph type="body" sz="quarter" idx="17" hasCustomPrompt="1"/>
          </p:nvPr>
        </p:nvSpPr>
        <p:spPr>
          <a:xfrm>
            <a:off x="785942" y="5645599"/>
            <a:ext cx="4317495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4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3" name="内容占位符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84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目录"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Image 0" descr=" "/>
          <p:cNvSpPr/>
          <p:nvPr/>
        </p:nvSpPr>
        <p:spPr>
          <a:xfrm>
            <a:off x="7238778" y="0"/>
            <a:ext cx="2615560" cy="4483100"/>
          </a:xfrm>
          <a:custGeom>
            <a:avLst/>
            <a:gdLst>
              <a:gd name="connsiteX0" fmla="*/ 0 w 2615560"/>
              <a:gd name="connsiteY0" fmla="*/ 0 h 4483100"/>
              <a:gd name="connsiteX1" fmla="*/ 2615561 w 2615560"/>
              <a:gd name="connsiteY1" fmla="*/ 0 h 4483100"/>
              <a:gd name="connsiteX2" fmla="*/ 2615561 w 2615560"/>
              <a:gd name="connsiteY2" fmla="*/ 3171825 h 4483100"/>
              <a:gd name="connsiteX3" fmla="*/ 1307781 w 2615560"/>
              <a:gd name="connsiteY3" fmla="*/ 4483100 h 4483100"/>
              <a:gd name="connsiteX4" fmla="*/ 0 w 2615560"/>
              <a:gd name="connsiteY4" fmla="*/ 3171825 h 4483100"/>
              <a:gd name="connsiteX5" fmla="*/ 0 w 2615560"/>
              <a:gd name="connsiteY5" fmla="*/ 0 h 448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5560" h="4483100">
                <a:moveTo>
                  <a:pt x="0" y="0"/>
                </a:moveTo>
                <a:lnTo>
                  <a:pt x="2615561" y="0"/>
                </a:lnTo>
                <a:lnTo>
                  <a:pt x="2615561" y="3171825"/>
                </a:lnTo>
                <a:cubicBezTo>
                  <a:pt x="2615561" y="3896017"/>
                  <a:pt x="2030043" y="4483100"/>
                  <a:pt x="1307781" y="4483100"/>
                </a:cubicBezTo>
                <a:cubicBezTo>
                  <a:pt x="585513" y="4483100"/>
                  <a:pt x="0" y="3896017"/>
                  <a:pt x="0" y="317182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6000"/>
            </a:schemeClr>
          </a:solidFill>
          <a:ln w="1261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/>
          </a:p>
        </p:txBody>
      </p:sp>
      <p:sp>
        <p:nvSpPr>
          <p:cNvPr id="97" name="Image 1" descr=" "/>
          <p:cNvSpPr/>
          <p:nvPr/>
        </p:nvSpPr>
        <p:spPr>
          <a:xfrm>
            <a:off x="1587" y="787323"/>
            <a:ext cx="1777556" cy="1028852"/>
          </a:xfrm>
          <a:custGeom>
            <a:avLst/>
            <a:gdLst>
              <a:gd name="connsiteX0" fmla="*/ 0 w 1777556"/>
              <a:gd name="connsiteY0" fmla="*/ 1028853 h 1028852"/>
              <a:gd name="connsiteX1" fmla="*/ 0 w 1777556"/>
              <a:gd name="connsiteY1" fmla="*/ 0 h 1028852"/>
              <a:gd name="connsiteX2" fmla="*/ 1256986 w 1777556"/>
              <a:gd name="connsiteY2" fmla="*/ 0 h 1028852"/>
              <a:gd name="connsiteX3" fmla="*/ 1777556 w 1777556"/>
              <a:gd name="connsiteY3" fmla="*/ 514426 h 1028852"/>
              <a:gd name="connsiteX4" fmla="*/ 1256986 w 1777556"/>
              <a:gd name="connsiteY4" fmla="*/ 1028853 h 1028852"/>
              <a:gd name="connsiteX5" fmla="*/ 0 w 1777556"/>
              <a:gd name="connsiteY5" fmla="*/ 1028853 h 1028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77555" h="1028852">
                <a:moveTo>
                  <a:pt x="0" y="1028853"/>
                </a:moveTo>
                <a:lnTo>
                  <a:pt x="0" y="0"/>
                </a:lnTo>
                <a:lnTo>
                  <a:pt x="1256986" y="0"/>
                </a:lnTo>
                <a:cubicBezTo>
                  <a:pt x="1544493" y="0"/>
                  <a:pt x="1777556" y="230316"/>
                  <a:pt x="1777556" y="514426"/>
                </a:cubicBezTo>
                <a:cubicBezTo>
                  <a:pt x="1777556" y="798537"/>
                  <a:pt x="1544493" y="1028853"/>
                  <a:pt x="1256986" y="1028853"/>
                </a:cubicBezTo>
                <a:lnTo>
                  <a:pt x="0" y="1028853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1265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  <p:sp>
        <p:nvSpPr>
          <p:cNvPr id="98" name="Image 2" descr=" "/>
          <p:cNvSpPr/>
          <p:nvPr/>
        </p:nvSpPr>
        <p:spPr>
          <a:xfrm>
            <a:off x="9993971" y="2552700"/>
            <a:ext cx="2196568" cy="4305300"/>
          </a:xfrm>
          <a:custGeom>
            <a:avLst/>
            <a:gdLst>
              <a:gd name="connsiteX0" fmla="*/ 2196569 w 2196568"/>
              <a:gd name="connsiteY0" fmla="*/ 4305300 h 4305300"/>
              <a:gd name="connsiteX1" fmla="*/ 0 w 2196568"/>
              <a:gd name="connsiteY1" fmla="*/ 4305300 h 4305300"/>
              <a:gd name="connsiteX2" fmla="*/ 0 w 2196568"/>
              <a:gd name="connsiteY2" fmla="*/ 1101725 h 4305300"/>
              <a:gd name="connsiteX3" fmla="*/ 1098284 w 2196568"/>
              <a:gd name="connsiteY3" fmla="*/ 0 h 4305300"/>
              <a:gd name="connsiteX4" fmla="*/ 2196569 w 2196568"/>
              <a:gd name="connsiteY4" fmla="*/ 1101725 h 4305300"/>
              <a:gd name="connsiteX5" fmla="*/ 2196569 w 2196568"/>
              <a:gd name="connsiteY5" fmla="*/ 4305300 h 430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6568" h="4305300">
                <a:moveTo>
                  <a:pt x="2196569" y="4305300"/>
                </a:moveTo>
                <a:lnTo>
                  <a:pt x="0" y="4305300"/>
                </a:lnTo>
                <a:lnTo>
                  <a:pt x="0" y="1101725"/>
                </a:lnTo>
                <a:cubicBezTo>
                  <a:pt x="0" y="493259"/>
                  <a:pt x="491719" y="0"/>
                  <a:pt x="1098284" y="0"/>
                </a:cubicBezTo>
                <a:cubicBezTo>
                  <a:pt x="1704854" y="0"/>
                  <a:pt x="2196569" y="493259"/>
                  <a:pt x="2196569" y="1101725"/>
                </a:cubicBezTo>
                <a:lnTo>
                  <a:pt x="2196569" y="4305300"/>
                </a:lnTo>
                <a:close/>
              </a:path>
            </a:pathLst>
          </a:custGeom>
          <a:solidFill>
            <a:schemeClr val="accent1"/>
          </a:solidFill>
          <a:ln w="1264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9" name="标题 1"/>
          <p:cNvSpPr>
            <a:spLocks noGrp="1"/>
          </p:cNvSpPr>
          <p:nvPr>
            <p:ph type="title" hasCustomPrompt="1"/>
          </p:nvPr>
        </p:nvSpPr>
        <p:spPr>
          <a:xfrm>
            <a:off x="839788" y="590600"/>
            <a:ext cx="1149279" cy="1081088"/>
          </a:xfrm>
        </p:spPr>
        <p:txBody>
          <a:bodyPr wrap="square" anchor="b">
            <a:normAutofit/>
          </a:bodyPr>
          <a:lstStyle>
            <a:lvl1pPr>
              <a:defRPr sz="42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00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节标题"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标题 1"/>
          <p:cNvSpPr>
            <a:spLocks noGrp="1"/>
          </p:cNvSpPr>
          <p:nvPr>
            <p:ph type="title"/>
          </p:nvPr>
        </p:nvSpPr>
        <p:spPr>
          <a:xfrm>
            <a:off x="6236360" y="3516350"/>
            <a:ext cx="4544200" cy="2094400"/>
          </a:xfrm>
        </p:spPr>
        <p:txBody>
          <a:bodyPr wrap="square" anchor="t">
            <a:normAutofit/>
          </a:bodyPr>
          <a:lstStyle>
            <a:lvl1pPr algn="ctr">
              <a:defRPr sz="42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" name="日期占位符 4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8" name="Image 1" descr=" "/>
          <p:cNvSpPr/>
          <p:nvPr userDrawn="1"/>
        </p:nvSpPr>
        <p:spPr>
          <a:xfrm>
            <a:off x="2309495" y="0"/>
            <a:ext cx="2240280" cy="3617595"/>
          </a:xfrm>
          <a:custGeom>
            <a:avLst/>
            <a:gdLst>
              <a:gd name="connsiteX0" fmla="*/ 0 w 1612497"/>
              <a:gd name="connsiteY0" fmla="*/ 0 h 2603500"/>
              <a:gd name="connsiteX1" fmla="*/ 1612497 w 1612497"/>
              <a:gd name="connsiteY1" fmla="*/ 0 h 2603500"/>
              <a:gd name="connsiteX2" fmla="*/ 1612497 w 1612497"/>
              <a:gd name="connsiteY2" fmla="*/ 1797050 h 2603500"/>
              <a:gd name="connsiteX3" fmla="*/ 806249 w 1612497"/>
              <a:gd name="connsiteY3" fmla="*/ 2603500 h 2603500"/>
              <a:gd name="connsiteX4" fmla="*/ 806249 w 1612497"/>
              <a:gd name="connsiteY4" fmla="*/ 2603500 h 2603500"/>
              <a:gd name="connsiteX5" fmla="*/ 0 w 1612497"/>
              <a:gd name="connsiteY5" fmla="*/ 1797050 h 2603500"/>
              <a:gd name="connsiteX6" fmla="*/ 0 w 1612497"/>
              <a:gd name="connsiteY6" fmla="*/ 0 h 260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2497" h="2603500">
                <a:moveTo>
                  <a:pt x="0" y="0"/>
                </a:moveTo>
                <a:lnTo>
                  <a:pt x="1612497" y="0"/>
                </a:lnTo>
                <a:lnTo>
                  <a:pt x="1612497" y="1797050"/>
                </a:lnTo>
                <a:cubicBezTo>
                  <a:pt x="1612497" y="2242439"/>
                  <a:pt x="1251528" y="2603500"/>
                  <a:pt x="806249" y="2603500"/>
                </a:cubicBezTo>
                <a:lnTo>
                  <a:pt x="806249" y="2603500"/>
                </a:lnTo>
                <a:cubicBezTo>
                  <a:pt x="360970" y="2603500"/>
                  <a:pt x="0" y="2242439"/>
                  <a:pt x="0" y="179705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1267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9" name="Image 2" descr=" "/>
          <p:cNvSpPr/>
          <p:nvPr userDrawn="1"/>
        </p:nvSpPr>
        <p:spPr>
          <a:xfrm>
            <a:off x="1721651" y="4241800"/>
            <a:ext cx="2450487" cy="2616200"/>
          </a:xfrm>
          <a:custGeom>
            <a:avLst/>
            <a:gdLst>
              <a:gd name="connsiteX0" fmla="*/ 0 w 2450487"/>
              <a:gd name="connsiteY0" fmla="*/ 1225550 h 2616200"/>
              <a:gd name="connsiteX1" fmla="*/ 1225244 w 2450487"/>
              <a:gd name="connsiteY1" fmla="*/ 0 h 2616200"/>
              <a:gd name="connsiteX2" fmla="*/ 1225244 w 2450487"/>
              <a:gd name="connsiteY2" fmla="*/ 0 h 2616200"/>
              <a:gd name="connsiteX3" fmla="*/ 2450487 w 2450487"/>
              <a:gd name="connsiteY3" fmla="*/ 1225550 h 2616200"/>
              <a:gd name="connsiteX4" fmla="*/ 2450487 w 2450487"/>
              <a:gd name="connsiteY4" fmla="*/ 2616200 h 2616200"/>
              <a:gd name="connsiteX5" fmla="*/ 0 w 2450487"/>
              <a:gd name="connsiteY5" fmla="*/ 2616200 h 2616200"/>
              <a:gd name="connsiteX6" fmla="*/ 0 w 2450487"/>
              <a:gd name="connsiteY6" fmla="*/ 1225550 h 261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0487" h="2616200">
                <a:moveTo>
                  <a:pt x="0" y="1225550"/>
                </a:moveTo>
                <a:cubicBezTo>
                  <a:pt x="0" y="548697"/>
                  <a:pt x="548560" y="0"/>
                  <a:pt x="1225244" y="0"/>
                </a:cubicBezTo>
                <a:lnTo>
                  <a:pt x="1225244" y="0"/>
                </a:lnTo>
                <a:cubicBezTo>
                  <a:pt x="1901921" y="0"/>
                  <a:pt x="2450487" y="548697"/>
                  <a:pt x="2450487" y="1225550"/>
                </a:cubicBezTo>
                <a:lnTo>
                  <a:pt x="2450487" y="2616200"/>
                </a:lnTo>
                <a:lnTo>
                  <a:pt x="0" y="2616200"/>
                </a:lnTo>
                <a:lnTo>
                  <a:pt x="0" y="1225550"/>
                </a:lnTo>
                <a:close/>
              </a:path>
            </a:pathLst>
          </a:custGeom>
          <a:solidFill>
            <a:schemeClr val="accent6"/>
          </a:solidFill>
          <a:ln w="1268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0" name="Shape 2"/>
          <p:cNvSpPr/>
          <p:nvPr userDrawn="1"/>
        </p:nvSpPr>
        <p:spPr>
          <a:xfrm>
            <a:off x="8038678" y="2292350"/>
            <a:ext cx="939565" cy="939800"/>
          </a:xfrm>
          <a:prstGeom prst="ellipse">
            <a:avLst/>
          </a:prstGeom>
          <a:solidFill>
            <a:schemeClr val="accent6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1" name="节编号 3"/>
          <p:cNvSpPr>
            <a:spLocks noGrp="1"/>
          </p:cNvSpPr>
          <p:nvPr>
            <p:ph type="body" sz="quarter" idx="13" hasCustomPrompt="1"/>
          </p:nvPr>
        </p:nvSpPr>
        <p:spPr>
          <a:xfrm>
            <a:off x="6236360" y="2122450"/>
            <a:ext cx="4544200" cy="1224000"/>
          </a:xfrm>
        </p:spPr>
        <p:txBody>
          <a:bodyPr wrap="square" anchor="ctr">
            <a:normAutofit/>
          </a:bodyPr>
          <a:lstStyle>
            <a:lvl1pPr marL="0" indent="0" algn="ctr">
              <a:buNone/>
              <a:defRPr sz="3000" b="1">
                <a:solidFill>
                  <a:schemeClr val="lt1">
                    <a:lumMod val="100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4" name="内容占位符 2"/>
          <p:cNvSpPr>
            <a:spLocks noGrp="1"/>
          </p:cNvSpPr>
          <p:nvPr>
            <p:ph sz="half" idx="1"/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5" name="内容占位符 3"/>
          <p:cNvSpPr>
            <a:spLocks noGrp="1"/>
          </p:cNvSpPr>
          <p:nvPr>
            <p:ph sz="half" idx="2"/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6" name="日期占位符 4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1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2" name="内容占位符 3"/>
          <p:cNvSpPr>
            <a:spLocks noGrp="1"/>
          </p:cNvSpPr>
          <p:nvPr>
            <p:ph sz="half" idx="2"/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3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4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5" name="日期占位符 6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6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7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0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空白"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日期占位符 1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仅内容"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内容占位符 1"/>
          <p:cNvSpPr>
            <a:spLocks noGrp="1"/>
          </p:cNvSpPr>
          <p:nvPr>
            <p:ph idx="1"/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39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副标题"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4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145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末尾幻灯片"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13"/>
          <p:cNvSpPr/>
          <p:nvPr userDrawn="1"/>
        </p:nvSpPr>
        <p:spPr>
          <a:xfrm>
            <a:off x="1200" y="0"/>
            <a:ext cx="12189600" cy="6858000"/>
          </a:xfrm>
          <a:prstGeom prst="rect">
            <a:avLst/>
          </a:prstGeom>
          <a:solidFill>
            <a:schemeClr val="accent2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标题 1"/>
          <p:cNvSpPr>
            <a:spLocks noGrp="1"/>
          </p:cNvSpPr>
          <p:nvPr>
            <p:ph type="ctrTitle"/>
          </p:nvPr>
        </p:nvSpPr>
        <p:spPr>
          <a:xfrm>
            <a:off x="836976" y="1867085"/>
            <a:ext cx="10515000" cy="18000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5600">
                <a:solidFill>
                  <a:schemeClr val="accent4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0" name="日期占位符 3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3" name="署名占位符 10"/>
          <p:cNvSpPr>
            <a:spLocks noGrp="1"/>
          </p:cNvSpPr>
          <p:nvPr>
            <p:ph type="body" sz="quarter" idx="17" hasCustomPrompt="1"/>
          </p:nvPr>
        </p:nvSpPr>
        <p:spPr>
          <a:xfrm>
            <a:off x="836976" y="3901761"/>
            <a:ext cx="10515000" cy="504000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/>
          </a:p>
        </p:txBody>
      </p:sp>
      <p:sp>
        <p:nvSpPr>
          <p:cNvPr id="94" name="Image 1" descr=" "/>
          <p:cNvSpPr/>
          <p:nvPr/>
        </p:nvSpPr>
        <p:spPr>
          <a:xfrm>
            <a:off x="0" y="2222500"/>
            <a:ext cx="12188952" cy="2417938"/>
          </a:xfrm>
          <a:custGeom>
            <a:avLst/>
            <a:gdLst>
              <a:gd name="connsiteX0" fmla="*/ 0 w 12188952"/>
              <a:gd name="connsiteY0" fmla="*/ 371489 h 2417938"/>
              <a:gd name="connsiteX1" fmla="*/ 0 w 12188952"/>
              <a:gd name="connsiteY1" fmla="*/ 45621 h 2417938"/>
              <a:gd name="connsiteX2" fmla="*/ 1469023 w 12188952"/>
              <a:gd name="connsiteY2" fmla="*/ 45621 h 2417938"/>
              <a:gd name="connsiteX3" fmla="*/ 1469023 w 12188952"/>
              <a:gd name="connsiteY3" fmla="*/ 371489 h 2417938"/>
              <a:gd name="connsiteX4" fmla="*/ 705461 w 12188952"/>
              <a:gd name="connsiteY4" fmla="*/ 371489 h 2417938"/>
              <a:gd name="connsiteX5" fmla="*/ 705461 w 12188952"/>
              <a:gd name="connsiteY5" fmla="*/ 2372317 h 2417938"/>
              <a:gd name="connsiteX6" fmla="*/ 323680 w 12188952"/>
              <a:gd name="connsiteY6" fmla="*/ 2372317 h 2417938"/>
              <a:gd name="connsiteX7" fmla="*/ 323680 w 12188952"/>
              <a:gd name="connsiteY7" fmla="*/ 371489 h 2417938"/>
              <a:gd name="connsiteX8" fmla="*/ 0 w 12188952"/>
              <a:gd name="connsiteY8" fmla="*/ 371489 h 2417938"/>
              <a:gd name="connsiteX9" fmla="*/ 12188952 w 12188952"/>
              <a:gd name="connsiteY9" fmla="*/ 376820 h 2417938"/>
              <a:gd name="connsiteX10" fmla="*/ 11886628 w 12188952"/>
              <a:gd name="connsiteY10" fmla="*/ 329126 h 2417938"/>
              <a:gd name="connsiteX11" fmla="*/ 11550530 w 12188952"/>
              <a:gd name="connsiteY11" fmla="*/ 391041 h 2417938"/>
              <a:gd name="connsiteX12" fmla="*/ 11406954 w 12188952"/>
              <a:gd name="connsiteY12" fmla="*/ 632183 h 2417938"/>
              <a:gd name="connsiteX13" fmla="*/ 11570109 w 12188952"/>
              <a:gd name="connsiteY13" fmla="*/ 870067 h 2417938"/>
              <a:gd name="connsiteX14" fmla="*/ 11968205 w 12188952"/>
              <a:gd name="connsiteY14" fmla="*/ 1013448 h 2417938"/>
              <a:gd name="connsiteX15" fmla="*/ 12188952 w 12188952"/>
              <a:gd name="connsiteY15" fmla="*/ 1084597 h 2417938"/>
              <a:gd name="connsiteX16" fmla="*/ 12188952 w 12188952"/>
              <a:gd name="connsiteY16" fmla="*/ 1436176 h 2417938"/>
              <a:gd name="connsiteX17" fmla="*/ 11827892 w 12188952"/>
              <a:gd name="connsiteY17" fmla="*/ 1319764 h 2417938"/>
              <a:gd name="connsiteX18" fmla="*/ 11292746 w 12188952"/>
              <a:gd name="connsiteY18" fmla="*/ 1124243 h 2417938"/>
              <a:gd name="connsiteX19" fmla="*/ 11025174 w 12188952"/>
              <a:gd name="connsiteY19" fmla="*/ 654994 h 2417938"/>
              <a:gd name="connsiteX20" fmla="*/ 11286220 w 12188952"/>
              <a:gd name="connsiteY20" fmla="*/ 169451 h 2417938"/>
              <a:gd name="connsiteX21" fmla="*/ 11906207 w 12188952"/>
              <a:gd name="connsiteY21" fmla="*/ 0 h 2417938"/>
              <a:gd name="connsiteX22" fmla="*/ 12188952 w 12188952"/>
              <a:gd name="connsiteY22" fmla="*/ 23422 h 2417938"/>
              <a:gd name="connsiteX23" fmla="*/ 12188952 w 12188952"/>
              <a:gd name="connsiteY23" fmla="*/ 376820 h 2417938"/>
              <a:gd name="connsiteX24" fmla="*/ 12188952 w 12188952"/>
              <a:gd name="connsiteY24" fmla="*/ 2057544 h 2417938"/>
              <a:gd name="connsiteX25" fmla="*/ 12188952 w 12188952"/>
              <a:gd name="connsiteY25" fmla="*/ 2402228 h 2417938"/>
              <a:gd name="connsiteX26" fmla="*/ 11945363 w 12188952"/>
              <a:gd name="connsiteY26" fmla="*/ 2417938 h 2417938"/>
              <a:gd name="connsiteX27" fmla="*/ 11273168 w 12188952"/>
              <a:gd name="connsiteY27" fmla="*/ 2251746 h 2417938"/>
              <a:gd name="connsiteX28" fmla="*/ 10953386 w 12188952"/>
              <a:gd name="connsiteY28" fmla="*/ 1603269 h 2417938"/>
              <a:gd name="connsiteX29" fmla="*/ 11331904 w 12188952"/>
              <a:gd name="connsiteY29" fmla="*/ 1603269 h 2417938"/>
              <a:gd name="connsiteX30" fmla="*/ 11521163 w 12188952"/>
              <a:gd name="connsiteY30" fmla="*/ 1981275 h 2417938"/>
              <a:gd name="connsiteX31" fmla="*/ 11945363 w 12188952"/>
              <a:gd name="connsiteY31" fmla="*/ 2082294 h 2417938"/>
              <a:gd name="connsiteX32" fmla="*/ 12188952 w 12188952"/>
              <a:gd name="connsiteY32" fmla="*/ 2057544 h 2417938"/>
              <a:gd name="connsiteX33" fmla="*/ 2128928 w 12188952"/>
              <a:gd name="connsiteY33" fmla="*/ 45621 h 2417938"/>
              <a:gd name="connsiteX34" fmla="*/ 1747147 w 12188952"/>
              <a:gd name="connsiteY34" fmla="*/ 45621 h 2417938"/>
              <a:gd name="connsiteX35" fmla="*/ 1747147 w 12188952"/>
              <a:gd name="connsiteY35" fmla="*/ 2372317 h 2417938"/>
              <a:gd name="connsiteX36" fmla="*/ 2128928 w 12188952"/>
              <a:gd name="connsiteY36" fmla="*/ 2372317 h 2417938"/>
              <a:gd name="connsiteX37" fmla="*/ 2128928 w 12188952"/>
              <a:gd name="connsiteY37" fmla="*/ 1342575 h 2417938"/>
              <a:gd name="connsiteX38" fmla="*/ 3310164 w 12188952"/>
              <a:gd name="connsiteY38" fmla="*/ 1342575 h 2417938"/>
              <a:gd name="connsiteX39" fmla="*/ 3310164 w 12188952"/>
              <a:gd name="connsiteY39" fmla="*/ 2372317 h 2417938"/>
              <a:gd name="connsiteX40" fmla="*/ 3691945 w 12188952"/>
              <a:gd name="connsiteY40" fmla="*/ 2372317 h 2417938"/>
              <a:gd name="connsiteX41" fmla="*/ 3691945 w 12188952"/>
              <a:gd name="connsiteY41" fmla="*/ 45621 h 2417938"/>
              <a:gd name="connsiteX42" fmla="*/ 3310164 w 12188952"/>
              <a:gd name="connsiteY42" fmla="*/ 45621 h 2417938"/>
              <a:gd name="connsiteX43" fmla="*/ 3310164 w 12188952"/>
              <a:gd name="connsiteY43" fmla="*/ 1016707 h 2417938"/>
              <a:gd name="connsiteX44" fmla="*/ 2128928 w 12188952"/>
              <a:gd name="connsiteY44" fmla="*/ 1016707 h 2417938"/>
              <a:gd name="connsiteX45" fmla="*/ 2128928 w 12188952"/>
              <a:gd name="connsiteY45" fmla="*/ 45621 h 2417938"/>
              <a:gd name="connsiteX46" fmla="*/ 4812262 w 12188952"/>
              <a:gd name="connsiteY46" fmla="*/ 45621 h 2417938"/>
              <a:gd name="connsiteX47" fmla="*/ 5246252 w 12188952"/>
              <a:gd name="connsiteY47" fmla="*/ 45621 h 2417938"/>
              <a:gd name="connsiteX48" fmla="*/ 6137074 w 12188952"/>
              <a:gd name="connsiteY48" fmla="*/ 2372317 h 2417938"/>
              <a:gd name="connsiteX49" fmla="*/ 5729189 w 12188952"/>
              <a:gd name="connsiteY49" fmla="*/ 2372317 h 2417938"/>
              <a:gd name="connsiteX50" fmla="*/ 5517088 w 12188952"/>
              <a:gd name="connsiteY50" fmla="*/ 1789014 h 2417938"/>
              <a:gd name="connsiteX51" fmla="*/ 4541426 w 12188952"/>
              <a:gd name="connsiteY51" fmla="*/ 1789014 h 2417938"/>
              <a:gd name="connsiteX52" fmla="*/ 4329325 w 12188952"/>
              <a:gd name="connsiteY52" fmla="*/ 2372317 h 2417938"/>
              <a:gd name="connsiteX53" fmla="*/ 3921440 w 12188952"/>
              <a:gd name="connsiteY53" fmla="*/ 2372317 h 2417938"/>
              <a:gd name="connsiteX54" fmla="*/ 4812262 w 12188952"/>
              <a:gd name="connsiteY54" fmla="*/ 45621 h 2417938"/>
              <a:gd name="connsiteX55" fmla="*/ 4655634 w 12188952"/>
              <a:gd name="connsiteY55" fmla="*/ 1476181 h 2417938"/>
              <a:gd name="connsiteX56" fmla="*/ 5402880 w 12188952"/>
              <a:gd name="connsiteY56" fmla="*/ 1476181 h 2417938"/>
              <a:gd name="connsiteX57" fmla="*/ 5037415 w 12188952"/>
              <a:gd name="connsiteY57" fmla="*/ 456215 h 2417938"/>
              <a:gd name="connsiteX58" fmla="*/ 5024362 w 12188952"/>
              <a:gd name="connsiteY58" fmla="*/ 456215 h 2417938"/>
              <a:gd name="connsiteX59" fmla="*/ 4655634 w 12188952"/>
              <a:gd name="connsiteY59" fmla="*/ 1476181 h 2417938"/>
              <a:gd name="connsiteX60" fmla="*/ 6746318 w 12188952"/>
              <a:gd name="connsiteY60" fmla="*/ 45621 h 2417938"/>
              <a:gd name="connsiteX61" fmla="*/ 6364538 w 12188952"/>
              <a:gd name="connsiteY61" fmla="*/ 45621 h 2417938"/>
              <a:gd name="connsiteX62" fmla="*/ 6364538 w 12188952"/>
              <a:gd name="connsiteY62" fmla="*/ 2372317 h 2417938"/>
              <a:gd name="connsiteX63" fmla="*/ 6746318 w 12188952"/>
              <a:gd name="connsiteY63" fmla="*/ 2372317 h 2417938"/>
              <a:gd name="connsiteX64" fmla="*/ 6746318 w 12188952"/>
              <a:gd name="connsiteY64" fmla="*/ 671287 h 2417938"/>
              <a:gd name="connsiteX65" fmla="*/ 6759371 w 12188952"/>
              <a:gd name="connsiteY65" fmla="*/ 671287 h 2417938"/>
              <a:gd name="connsiteX66" fmla="*/ 7924292 w 12188952"/>
              <a:gd name="connsiteY66" fmla="*/ 2372317 h 2417938"/>
              <a:gd name="connsiteX67" fmla="*/ 8296283 w 12188952"/>
              <a:gd name="connsiteY67" fmla="*/ 2372317 h 2417938"/>
              <a:gd name="connsiteX68" fmla="*/ 8296283 w 12188952"/>
              <a:gd name="connsiteY68" fmla="*/ 45621 h 2417938"/>
              <a:gd name="connsiteX69" fmla="*/ 7911240 w 12188952"/>
              <a:gd name="connsiteY69" fmla="*/ 45621 h 2417938"/>
              <a:gd name="connsiteX70" fmla="*/ 7911240 w 12188952"/>
              <a:gd name="connsiteY70" fmla="*/ 1723840 h 2417938"/>
              <a:gd name="connsiteX71" fmla="*/ 7898187 w 12188952"/>
              <a:gd name="connsiteY71" fmla="*/ 1723840 h 2417938"/>
              <a:gd name="connsiteX72" fmla="*/ 6746318 w 12188952"/>
              <a:gd name="connsiteY72" fmla="*/ 45621 h 2417938"/>
              <a:gd name="connsiteX73" fmla="*/ 10219624 w 12188952"/>
              <a:gd name="connsiteY73" fmla="*/ 45621 h 2417938"/>
              <a:gd name="connsiteX74" fmla="*/ 10702560 w 12188952"/>
              <a:gd name="connsiteY74" fmla="*/ 45621 h 2417938"/>
              <a:gd name="connsiteX75" fmla="*/ 9677952 w 12188952"/>
              <a:gd name="connsiteY75" fmla="*/ 1042777 h 2417938"/>
              <a:gd name="connsiteX76" fmla="*/ 10855925 w 12188952"/>
              <a:gd name="connsiteY76" fmla="*/ 2372317 h 2417938"/>
              <a:gd name="connsiteX77" fmla="*/ 10340358 w 12188952"/>
              <a:gd name="connsiteY77" fmla="*/ 2372317 h 2417938"/>
              <a:gd name="connsiteX78" fmla="*/ 9420168 w 12188952"/>
              <a:gd name="connsiteY78" fmla="*/ 1293695 h 2417938"/>
              <a:gd name="connsiteX79" fmla="*/ 9136280 w 12188952"/>
              <a:gd name="connsiteY79" fmla="*/ 1570682 h 2417938"/>
              <a:gd name="connsiteX80" fmla="*/ 9136280 w 12188952"/>
              <a:gd name="connsiteY80" fmla="*/ 2372317 h 2417938"/>
              <a:gd name="connsiteX81" fmla="*/ 8754499 w 12188952"/>
              <a:gd name="connsiteY81" fmla="*/ 2372317 h 2417938"/>
              <a:gd name="connsiteX82" fmla="*/ 8754499 w 12188952"/>
              <a:gd name="connsiteY82" fmla="*/ 45621 h 2417938"/>
              <a:gd name="connsiteX83" fmla="*/ 9136280 w 12188952"/>
              <a:gd name="connsiteY83" fmla="*/ 45621 h 2417938"/>
              <a:gd name="connsiteX84" fmla="*/ 9136280 w 12188952"/>
              <a:gd name="connsiteY84" fmla="*/ 1143796 h 2417938"/>
              <a:gd name="connsiteX85" fmla="*/ 10219624 w 12188952"/>
              <a:gd name="connsiteY85" fmla="*/ 45621 h 241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12188952" h="2417938">
                <a:moveTo>
                  <a:pt x="0" y="371489"/>
                </a:moveTo>
                <a:lnTo>
                  <a:pt x="0" y="45621"/>
                </a:lnTo>
                <a:lnTo>
                  <a:pt x="1469023" y="45621"/>
                </a:lnTo>
                <a:lnTo>
                  <a:pt x="1469023" y="371489"/>
                </a:lnTo>
                <a:lnTo>
                  <a:pt x="705461" y="371489"/>
                </a:lnTo>
                <a:lnTo>
                  <a:pt x="705461" y="2372317"/>
                </a:lnTo>
                <a:lnTo>
                  <a:pt x="323680" y="2372317"/>
                </a:lnTo>
                <a:lnTo>
                  <a:pt x="323680" y="371489"/>
                </a:lnTo>
                <a:lnTo>
                  <a:pt x="0" y="371489"/>
                </a:lnTo>
                <a:close/>
                <a:moveTo>
                  <a:pt x="12188952" y="376820"/>
                </a:moveTo>
                <a:cubicBezTo>
                  <a:pt x="12109939" y="344221"/>
                  <a:pt x="12008352" y="329126"/>
                  <a:pt x="11886628" y="329126"/>
                </a:cubicBezTo>
                <a:cubicBezTo>
                  <a:pt x="11739789" y="329126"/>
                  <a:pt x="11628844" y="348678"/>
                  <a:pt x="11550530" y="391041"/>
                </a:cubicBezTo>
                <a:cubicBezTo>
                  <a:pt x="11452638" y="439921"/>
                  <a:pt x="11406954" y="521388"/>
                  <a:pt x="11406954" y="632183"/>
                </a:cubicBezTo>
                <a:cubicBezTo>
                  <a:pt x="11406954" y="729944"/>
                  <a:pt x="11459164" y="811410"/>
                  <a:pt x="11570109" y="870067"/>
                </a:cubicBezTo>
                <a:cubicBezTo>
                  <a:pt x="11619055" y="896136"/>
                  <a:pt x="11752841" y="945016"/>
                  <a:pt x="11968205" y="1013448"/>
                </a:cubicBezTo>
                <a:cubicBezTo>
                  <a:pt x="12049249" y="1038483"/>
                  <a:pt x="12122827" y="1062236"/>
                  <a:pt x="12188952" y="1084597"/>
                </a:cubicBezTo>
                <a:lnTo>
                  <a:pt x="12188952" y="1436176"/>
                </a:lnTo>
                <a:cubicBezTo>
                  <a:pt x="12111247" y="1408382"/>
                  <a:pt x="11991161" y="1369304"/>
                  <a:pt x="11827892" y="1319764"/>
                </a:cubicBezTo>
                <a:cubicBezTo>
                  <a:pt x="11540741" y="1228521"/>
                  <a:pt x="11361272" y="1163348"/>
                  <a:pt x="11292746" y="1124243"/>
                </a:cubicBezTo>
                <a:cubicBezTo>
                  <a:pt x="11113277" y="1016707"/>
                  <a:pt x="11025174" y="860291"/>
                  <a:pt x="11025174" y="654994"/>
                </a:cubicBezTo>
                <a:cubicBezTo>
                  <a:pt x="11025174" y="449697"/>
                  <a:pt x="11110014" y="286764"/>
                  <a:pt x="11286220" y="169451"/>
                </a:cubicBezTo>
                <a:cubicBezTo>
                  <a:pt x="11449362" y="55398"/>
                  <a:pt x="11654949" y="0"/>
                  <a:pt x="11906207" y="0"/>
                </a:cubicBezTo>
                <a:cubicBezTo>
                  <a:pt x="12008720" y="0"/>
                  <a:pt x="12103032" y="7751"/>
                  <a:pt x="12188952" y="23422"/>
                </a:cubicBezTo>
                <a:lnTo>
                  <a:pt x="12188952" y="376820"/>
                </a:lnTo>
                <a:close/>
                <a:moveTo>
                  <a:pt x="12188952" y="2057544"/>
                </a:moveTo>
                <a:lnTo>
                  <a:pt x="12188952" y="2402228"/>
                </a:lnTo>
                <a:cubicBezTo>
                  <a:pt x="12113380" y="2412651"/>
                  <a:pt x="12032159" y="2417938"/>
                  <a:pt x="11945363" y="2417938"/>
                </a:cubicBezTo>
                <a:cubicBezTo>
                  <a:pt x="11658212" y="2417938"/>
                  <a:pt x="11433059" y="2362541"/>
                  <a:pt x="11273168" y="2251746"/>
                </a:cubicBezTo>
                <a:cubicBezTo>
                  <a:pt x="11077383" y="2114881"/>
                  <a:pt x="10969689" y="1899808"/>
                  <a:pt x="10953386" y="1603269"/>
                </a:cubicBezTo>
                <a:lnTo>
                  <a:pt x="11331904" y="1603269"/>
                </a:lnTo>
                <a:cubicBezTo>
                  <a:pt x="11358008" y="1779238"/>
                  <a:pt x="11420007" y="1906326"/>
                  <a:pt x="11521163" y="1981275"/>
                </a:cubicBezTo>
                <a:cubicBezTo>
                  <a:pt x="11612529" y="2046449"/>
                  <a:pt x="11752841" y="2082294"/>
                  <a:pt x="11945363" y="2082294"/>
                </a:cubicBezTo>
                <a:cubicBezTo>
                  <a:pt x="12036260" y="2082294"/>
                  <a:pt x="12117787" y="2073875"/>
                  <a:pt x="12188952" y="2057544"/>
                </a:cubicBezTo>
                <a:close/>
                <a:moveTo>
                  <a:pt x="2128928" y="45621"/>
                </a:moveTo>
                <a:lnTo>
                  <a:pt x="1747147" y="45621"/>
                </a:lnTo>
                <a:lnTo>
                  <a:pt x="1747147" y="2372317"/>
                </a:lnTo>
                <a:lnTo>
                  <a:pt x="2128928" y="2372317"/>
                </a:lnTo>
                <a:lnTo>
                  <a:pt x="2128928" y="1342575"/>
                </a:lnTo>
                <a:lnTo>
                  <a:pt x="3310164" y="1342575"/>
                </a:lnTo>
                <a:lnTo>
                  <a:pt x="3310164" y="2372317"/>
                </a:lnTo>
                <a:lnTo>
                  <a:pt x="3691945" y="2372317"/>
                </a:lnTo>
                <a:lnTo>
                  <a:pt x="3691945" y="45621"/>
                </a:lnTo>
                <a:lnTo>
                  <a:pt x="3310164" y="45621"/>
                </a:lnTo>
                <a:lnTo>
                  <a:pt x="3310164" y="1016707"/>
                </a:lnTo>
                <a:lnTo>
                  <a:pt x="2128928" y="1016707"/>
                </a:lnTo>
                <a:lnTo>
                  <a:pt x="2128928" y="45621"/>
                </a:lnTo>
                <a:close/>
                <a:moveTo>
                  <a:pt x="4812262" y="45621"/>
                </a:moveTo>
                <a:lnTo>
                  <a:pt x="5246252" y="45621"/>
                </a:lnTo>
                <a:lnTo>
                  <a:pt x="6137074" y="2372317"/>
                </a:lnTo>
                <a:lnTo>
                  <a:pt x="5729189" y="2372317"/>
                </a:lnTo>
                <a:lnTo>
                  <a:pt x="5517088" y="1789014"/>
                </a:lnTo>
                <a:lnTo>
                  <a:pt x="4541426" y="1789014"/>
                </a:lnTo>
                <a:lnTo>
                  <a:pt x="4329325" y="2372317"/>
                </a:lnTo>
                <a:lnTo>
                  <a:pt x="3921440" y="2372317"/>
                </a:lnTo>
                <a:lnTo>
                  <a:pt x="4812262" y="45621"/>
                </a:lnTo>
                <a:close/>
                <a:moveTo>
                  <a:pt x="4655634" y="1476181"/>
                </a:moveTo>
                <a:lnTo>
                  <a:pt x="5402880" y="1476181"/>
                </a:lnTo>
                <a:lnTo>
                  <a:pt x="5037415" y="456215"/>
                </a:lnTo>
                <a:lnTo>
                  <a:pt x="5024362" y="456215"/>
                </a:lnTo>
                <a:lnTo>
                  <a:pt x="4655634" y="1476181"/>
                </a:lnTo>
                <a:close/>
                <a:moveTo>
                  <a:pt x="6746318" y="45621"/>
                </a:moveTo>
                <a:lnTo>
                  <a:pt x="6364538" y="45621"/>
                </a:lnTo>
                <a:lnTo>
                  <a:pt x="6364538" y="2372317"/>
                </a:lnTo>
                <a:lnTo>
                  <a:pt x="6746318" y="2372317"/>
                </a:lnTo>
                <a:lnTo>
                  <a:pt x="6746318" y="671287"/>
                </a:lnTo>
                <a:lnTo>
                  <a:pt x="6759371" y="671287"/>
                </a:lnTo>
                <a:lnTo>
                  <a:pt x="7924292" y="2372317"/>
                </a:lnTo>
                <a:lnTo>
                  <a:pt x="8296283" y="2372317"/>
                </a:lnTo>
                <a:lnTo>
                  <a:pt x="8296283" y="45621"/>
                </a:lnTo>
                <a:lnTo>
                  <a:pt x="7911240" y="45621"/>
                </a:lnTo>
                <a:lnTo>
                  <a:pt x="7911240" y="1723840"/>
                </a:lnTo>
                <a:lnTo>
                  <a:pt x="7898187" y="1723840"/>
                </a:lnTo>
                <a:lnTo>
                  <a:pt x="6746318" y="45621"/>
                </a:lnTo>
                <a:close/>
                <a:moveTo>
                  <a:pt x="10219624" y="45621"/>
                </a:moveTo>
                <a:lnTo>
                  <a:pt x="10702560" y="45621"/>
                </a:lnTo>
                <a:lnTo>
                  <a:pt x="9677952" y="1042777"/>
                </a:lnTo>
                <a:lnTo>
                  <a:pt x="10855925" y="2372317"/>
                </a:lnTo>
                <a:lnTo>
                  <a:pt x="10340358" y="2372317"/>
                </a:lnTo>
                <a:lnTo>
                  <a:pt x="9420168" y="1293695"/>
                </a:lnTo>
                <a:lnTo>
                  <a:pt x="9136280" y="1570682"/>
                </a:lnTo>
                <a:lnTo>
                  <a:pt x="9136280" y="2372317"/>
                </a:lnTo>
                <a:lnTo>
                  <a:pt x="8754499" y="2372317"/>
                </a:lnTo>
                <a:lnTo>
                  <a:pt x="8754499" y="45621"/>
                </a:lnTo>
                <a:lnTo>
                  <a:pt x="9136280" y="45621"/>
                </a:lnTo>
                <a:lnTo>
                  <a:pt x="9136280" y="1143796"/>
                </a:lnTo>
                <a:lnTo>
                  <a:pt x="10219624" y="45621"/>
                </a:lnTo>
                <a:close/>
              </a:path>
            </a:pathLst>
          </a:custGeom>
          <a:solidFill>
            <a:schemeClr val="accent4">
              <a:alpha val="12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标题 1"/>
          <p:cNvSpPr>
            <a:spLocks noGrp="1"/>
          </p:cNvSpPr>
          <p:nvPr>
            <p:ph type="title"/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0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ustom layout - 1"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Picture 2"/>
          <p:cNvPicPr>
            <a:picLocks noChangeAspect="1"/>
          </p:cNvPicPr>
          <p:nvPr/>
        </p:nvPicPr>
        <p:blipFill>
          <a:blip r:embed="rId2"/>
          <a:srcRect t="5741"/>
          <a:stretch>
            <a:fillRect/>
          </a:stretch>
        </p:blipFill>
        <p:spPr>
          <a:xfrm>
            <a:off x="-6639" y="0"/>
            <a:ext cx="12205279" cy="6505811"/>
          </a:xfrm>
          <a:prstGeom prst="roundRect">
            <a:avLst>
              <a:gd name="adj" fmla="val 0"/>
            </a:avLst>
          </a:prstGeom>
          <a:ln w="12700">
            <a:noFill/>
            <a:prstDash val="solid"/>
          </a:ln>
        </p:spPr>
      </p:pic>
      <p:sp>
        <p:nvSpPr>
          <p:cNvPr id="155" name="AutoShape 3"/>
          <p:cNvSpPr/>
          <p:nvPr/>
        </p:nvSpPr>
        <p:spPr>
          <a:xfrm>
            <a:off x="0" y="6326859"/>
            <a:ext cx="8812221" cy="531141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6" name="AutoShape 4"/>
          <p:cNvSpPr/>
          <p:nvPr/>
        </p:nvSpPr>
        <p:spPr>
          <a:xfrm>
            <a:off x="665034" y="6459080"/>
            <a:ext cx="47498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</a:rPr>
              <a:t>Your Neighbourhood Auto Care Expert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</a:endParaRPr>
          </a:p>
        </p:txBody>
      </p:sp>
      <p:pic>
        <p:nvPicPr>
          <p:cNvPr id="157" name="Picture 5"/>
          <p:cNvPicPr>
            <a:picLocks noChangeAspect="1"/>
          </p:cNvPicPr>
          <p:nvPr/>
        </p:nvPicPr>
        <p:blipFill>
          <a:blip r:embed="rId3"/>
          <a:srcRect t="34862" b="34862"/>
          <a:stretch>
            <a:fillRect/>
          </a:stretch>
        </p:blipFill>
        <p:spPr>
          <a:xfrm>
            <a:off x="665034" y="651515"/>
            <a:ext cx="3830070" cy="1159551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158" name="AutoShape 6"/>
          <p:cNvSpPr/>
          <p:nvPr/>
        </p:nvSpPr>
        <p:spPr>
          <a:xfrm>
            <a:off x="8249792" y="6326859"/>
            <a:ext cx="2762864" cy="531141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9" name="AutoShape 7"/>
          <p:cNvSpPr/>
          <p:nvPr/>
        </p:nvSpPr>
        <p:spPr>
          <a:xfrm>
            <a:off x="8588375" y="6326859"/>
            <a:ext cx="3603625" cy="531141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AutoShape 8"/>
          <p:cNvSpPr/>
          <p:nvPr/>
        </p:nvSpPr>
        <p:spPr>
          <a:xfrm>
            <a:off x="8936037" y="6459080"/>
            <a:ext cx="2908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  <a:hlinkClick r:id="rId4" tooltip="https://www.servauto.com.my/"/>
              </a:rPr>
              <a:t>www.servauto.com.my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  <a:hlinkClick r:id="rId4" tooltip="https://www.servauto.com.my/"/>
            </a:endParaRPr>
          </a:p>
        </p:txBody>
      </p:sp>
      <p:sp>
        <p:nvSpPr>
          <p:cNvPr id="161" name="AutoShape 9"/>
          <p:cNvSpPr/>
          <p:nvPr>
            <p:ph type="body" sz="quarter" idx="1"/>
          </p:nvPr>
        </p:nvSpPr>
        <p:spPr>
          <a:xfrm>
            <a:off x="665034" y="2203868"/>
            <a:ext cx="5092700" cy="1701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08000"/>
              </a:lnSpc>
              <a:defRPr sz="5200" b="0" i="0" u="none" strike="noStrike" spc="0">
                <a:solidFill>
                  <a:srgbClr val="005AA9">
                    <a:alpha val="100000"/>
                  </a:srgbClr>
                </a:solidFill>
                <a:latin typeface="Inter 18pt ExtraBold"/>
              </a:defRPr>
            </a:lvl1pPr>
          </a:lstStyle>
          <a:p>
            <a:pPr algn="l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ustom layout - 2"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AutoShape 2"/>
          <p:cNvSpPr/>
          <p:nvPr/>
        </p:nvSpPr>
        <p:spPr>
          <a:xfrm>
            <a:off x="0" y="0"/>
            <a:ext cx="8812221" cy="752382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4" name="AutoShape 3"/>
          <p:cNvSpPr/>
          <p:nvPr/>
        </p:nvSpPr>
        <p:spPr>
          <a:xfrm>
            <a:off x="8249792" y="0"/>
            <a:ext cx="2762864" cy="752382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5" name="AutoShape 4"/>
          <p:cNvSpPr/>
          <p:nvPr/>
        </p:nvSpPr>
        <p:spPr>
          <a:xfrm>
            <a:off x="8588375" y="0"/>
            <a:ext cx="3603625" cy="752382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6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85691"/>
            <a:ext cx="2056810" cy="355600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167" name="AutoShape 6"/>
          <p:cNvSpPr/>
          <p:nvPr>
            <p:ph type="body" sz="quarter" idx="2"/>
          </p:nvPr>
        </p:nvSpPr>
        <p:spPr>
          <a:xfrm>
            <a:off x="665034" y="109491"/>
            <a:ext cx="6502400" cy="533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2800" b="1" i="0" u="none" strike="noStrike" spc="0">
                <a:solidFill>
                  <a:srgbClr val="FFFFFF">
                    <a:alpha val="100000"/>
                  </a:srgbClr>
                </a:solidFill>
                <a:latin typeface="Inter 18pt SemiBold"/>
              </a:defRPr>
            </a:lvl1pPr>
          </a:lstStyle>
          <a:p>
            <a:pPr algn="l"/>
          </a:p>
        </p:txBody>
      </p:sp>
      <p:sp>
        <p:nvSpPr>
          <p:cNvPr id="168" name="AutoShape 7"/>
          <p:cNvSpPr/>
          <p:nvPr>
            <p:ph type="body" sz="quarter" idx="3"/>
          </p:nvPr>
        </p:nvSpPr>
        <p:spPr>
          <a:xfrm>
            <a:off x="665034" y="1044754"/>
            <a:ext cx="7520490" cy="8509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4500" b="1" i="0" u="none" strike="noStrike" spc="0">
                <a:solidFill>
                  <a:srgbClr val="005AA9">
                    <a:alpha val="100000"/>
                  </a:srgbClr>
                </a:solidFill>
                <a:latin typeface="Inter 18pt Medium"/>
              </a:defRPr>
            </a:lvl1pPr>
          </a:lstStyle>
          <a:p>
            <a:pPr algn="l"/>
          </a:p>
        </p:txBody>
      </p:sp>
      <p:sp>
        <p:nvSpPr>
          <p:cNvPr id="169" name="AutoShape 8"/>
          <p:cNvSpPr/>
          <p:nvPr>
            <p:ph type="body" sz="quarter" idx="4"/>
          </p:nvPr>
        </p:nvSpPr>
        <p:spPr>
          <a:xfrm>
            <a:off x="665034" y="2136019"/>
            <a:ext cx="6934200" cy="5842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3100" b="0" i="0" u="none" strike="noStrike" spc="0">
                <a:solidFill>
                  <a:srgbClr val="005AA9">
                    <a:alpha val="100000"/>
                  </a:srgbClr>
                </a:solidFill>
                <a:latin typeface="Inter 18pt Medium"/>
              </a:defRPr>
            </a:lvl1pPr>
          </a:lstStyle>
          <a:p>
            <a:pPr algn="l"/>
          </a:p>
        </p:txBody>
      </p:sp>
      <p:sp>
        <p:nvSpPr>
          <p:cNvPr id="170" name="AutoShape 9"/>
          <p:cNvSpPr/>
          <p:nvPr>
            <p:ph type="body" sz="quarter" idx="5"/>
          </p:nvPr>
        </p:nvSpPr>
        <p:spPr>
          <a:xfrm>
            <a:off x="665034" y="3012591"/>
            <a:ext cx="3603625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wrap="square" lIns="0" tIns="0" rIns="0" bIns="0" anchor="t"/>
          <a:lstStyle>
            <a:lvl1pPr algn="l">
              <a:lnSpc>
                <a:spcPct val="125000"/>
              </a:lnSpc>
              <a:defRPr sz="1700" b="0" i="0" u="none" strike="noStrike" spc="0">
                <a:solidFill>
                  <a:srgbClr val="1F2329">
                    <a:alpha val="100000"/>
                  </a:srgbClr>
                </a:solidFill>
                <a:latin typeface="Inter"/>
              </a:defRPr>
            </a:lvl1pPr>
          </a:lstStyle>
          <a:p>
            <a:pPr algn="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hyperlink" Target="https://www.servauto.com.my/" TargetMode="Externa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5F522-6256-461E-A79F-4037A6D0C8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A564D-84E6-4D0E-9D2B-1519760DAFC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"/>
          <p:cNvSpPr/>
          <p:nvPr userDrawn="1"/>
        </p:nvSpPr>
        <p:spPr>
          <a:xfrm>
            <a:off x="10641527" y="727732"/>
            <a:ext cx="736416" cy="177800"/>
          </a:xfrm>
          <a:prstGeom prst="rect">
            <a:avLst/>
          </a:prstGeo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3"/>
          <p:cNvSpPr/>
          <p:nvPr userDrawn="1"/>
        </p:nvSpPr>
        <p:spPr>
          <a:xfrm>
            <a:off x="10641527" y="727732"/>
            <a:ext cx="177756" cy="1778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4"/>
          <p:cNvSpPr/>
          <p:nvPr userDrawn="1"/>
        </p:nvSpPr>
        <p:spPr>
          <a:xfrm>
            <a:off x="10920858" y="727732"/>
            <a:ext cx="177756" cy="1778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5"/>
          <p:cNvSpPr/>
          <p:nvPr userDrawn="1"/>
        </p:nvSpPr>
        <p:spPr>
          <a:xfrm>
            <a:off x="11200188" y="727732"/>
            <a:ext cx="177756" cy="1778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2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3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4" name="日期占位符 3"/>
          <p:cNvSpPr>
            <a:spLocks noGrp="1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7" name="KSO_TEMPLATE" hidden="1"/>
          <p:cNvSpPr/>
          <p:nvPr userDrawn="1"/>
        </p:nvSpPr>
        <p:spPr>
          <a:xfrm flipH="1"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2"/>
          <p:cNvSpPr/>
          <p:nvPr userDrawn="1"/>
        </p:nvSpPr>
        <p:spPr>
          <a:xfrm>
            <a:off x="10641527" y="727732"/>
            <a:ext cx="736416" cy="177800"/>
          </a:xfrm>
          <a:prstGeom prst="rect">
            <a:avLst/>
          </a:prstGeo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3"/>
          <p:cNvSpPr/>
          <p:nvPr userDrawn="1"/>
        </p:nvSpPr>
        <p:spPr>
          <a:xfrm>
            <a:off x="10641527" y="727732"/>
            <a:ext cx="177756" cy="1778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4"/>
          <p:cNvSpPr/>
          <p:nvPr userDrawn="1"/>
        </p:nvSpPr>
        <p:spPr>
          <a:xfrm>
            <a:off x="10920858" y="727732"/>
            <a:ext cx="177756" cy="1778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5"/>
          <p:cNvSpPr/>
          <p:nvPr userDrawn="1"/>
        </p:nvSpPr>
        <p:spPr>
          <a:xfrm>
            <a:off x="11200188" y="727732"/>
            <a:ext cx="177756" cy="1778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3" name="标题占位符 1"/>
          <p:cNvSpPr>
            <a:spLocks noGrp="1"/>
          </p:cNvSpPr>
          <p:nvPr>
            <p:ph type="title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4" name="文本占位符 2"/>
          <p:cNvSpPr>
            <a:spLocks noGrp="1"/>
          </p:cNvSpPr>
          <p:nvPr>
            <p:ph type="body" idx="1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5" name="日期占位符 3"/>
          <p:cNvSpPr>
            <a:spLocks noGrp="1"/>
          </p:cNvSpPr>
          <p:nvPr>
            <p:ph type="dt" sz="half" idx="2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2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8" name="KSO_TEMPLATE" hidden="1"/>
          <p:cNvSpPr/>
          <p:nvPr userDrawn="1"/>
        </p:nvSpPr>
        <p:spPr>
          <a:xfrm flipH="1"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8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6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4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ct val="0"/>
        </a:spcBef>
        <a:buFont typeface="Arial" panose="020B0604020202020204" pitchFamily="34" charset="0"/>
        <a:buChar char="•"/>
        <a:defRPr sz="1200" kern="1200">
          <a:solidFill>
            <a:schemeClr val="accent4"/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1"/>
          <p:cNvSpPr/>
          <p:nvPr/>
        </p:nvSpPr>
        <p:spPr>
          <a:xfrm>
            <a:off x="0" y="6326859"/>
            <a:ext cx="8812221" cy="531141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" name="AutoShape 2"/>
          <p:cNvSpPr/>
          <p:nvPr/>
        </p:nvSpPr>
        <p:spPr>
          <a:xfrm>
            <a:off x="665034" y="6459080"/>
            <a:ext cx="47498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</a:rPr>
              <a:t>Your Neighbourhood Auto Care Expert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</a:endParaRPr>
          </a:p>
        </p:txBody>
      </p:sp>
      <p:sp>
        <p:nvSpPr>
          <p:cNvPr id="32" name="AutoShape 3"/>
          <p:cNvSpPr/>
          <p:nvPr/>
        </p:nvSpPr>
        <p:spPr>
          <a:xfrm>
            <a:off x="8249792" y="6326859"/>
            <a:ext cx="2762864" cy="531141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" name="AutoShape 4"/>
          <p:cNvSpPr/>
          <p:nvPr/>
        </p:nvSpPr>
        <p:spPr>
          <a:xfrm>
            <a:off x="8588375" y="6326859"/>
            <a:ext cx="3603625" cy="531141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" name="AutoShape 6"/>
          <p:cNvSpPr/>
          <p:nvPr/>
        </p:nvSpPr>
        <p:spPr>
          <a:xfrm>
            <a:off x="8936037" y="6459080"/>
            <a:ext cx="2908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0" i="0" u="none" strike="noStrike" kern="0">
                <a:solidFill>
                  <a:srgbClr val="FFFFFF"/>
                </a:solidFill>
                <a:latin typeface="Inter 18pt SemiBold"/>
                <a:ea typeface="Inter 18pt SemiBold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700" b="0" i="0" u="none" strike="noStrike" kern="0">
              <a:solidFill>
                <a:srgbClr val="FFFFFF"/>
              </a:solidFill>
              <a:latin typeface="Inter 18pt SemiBold"/>
              <a:ea typeface="Inter 18pt SemiBold"/>
              <a:cs typeface="Inter 18pt SemiBold"/>
              <a:sym typeface="Inter 18pt SemiBold"/>
              <a:hlinkClick r:id="rId3" tooltip="https://www.servauto.com.my/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hyperlink" Target="../media/image4.png" TargetMode="Externa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3.xml"/><Relationship Id="rId5" Type="http://schemas.openxmlformats.org/officeDocument/2006/relationships/hyperlink" Target="../media/image4.png" TargetMode="External"/><Relationship Id="rId4" Type="http://schemas.openxmlformats.org/officeDocument/2006/relationships/image" Target="../media/image4.pn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3.xml"/><Relationship Id="rId6" Type="http://schemas.openxmlformats.org/officeDocument/2006/relationships/hyperlink" Target="../media/image4.png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11.jpe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hyperlink" Target="../media/image4.png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hyperlink" Target="../media/image4.png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hyperlink" Target="../media/image4.png" TargetMode="External"/><Relationship Id="rId2" Type="http://schemas.openxmlformats.org/officeDocument/2006/relationships/image" Target="../media/image4.png"/><Relationship Id="rId1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3.xml"/><Relationship Id="rId5" Type="http://schemas.openxmlformats.org/officeDocument/2006/relationships/hyperlink" Target="../media/image4.png" TargetMode="External"/><Relationship Id="rId4" Type="http://schemas.openxmlformats.org/officeDocument/2006/relationships/image" Target="../media/image4.png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" name="Text Placeholder 1"/>
          <p:cNvSpPr>
            <a:spLocks noGrp="1"/>
          </p:cNvSpPr>
          <p:nvPr>
            <p:ph type="body" sz="quarter" idx="1"/>
          </p:nvPr>
        </p:nvSpPr>
        <p:spPr>
          <a:xfrm>
            <a:off x="667512" y="2084831"/>
            <a:ext cx="7315200" cy="3017520"/>
          </a:xfrm>
        </p:spPr>
        <p:txBody>
          <a:bodyPr wrap="square"/>
          <a:lstStyle/>
          <a:p>
            <a:pPr>
              <a:lnSpc>
                <a:spcPts val="51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店店长工作内容讲解</a:t>
            </a:r>
            <a:endParaRPr lang="en-US" sz="4000" b="1"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ts val="3250"/>
              </a:lnSpc>
              <a:spcBef>
                <a:spcPts val="1430"/>
              </a:spcBef>
              <a:spcAft>
                <a:spcPts val="0"/>
              </a:spcAft>
            </a:pPr>
            <a:r>
              <a:rPr lang="zh-CN" sz="20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Store Manager Role Briefing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ts val="3250"/>
              </a:lnSpc>
              <a:spcBef>
                <a:spcPts val="1430"/>
              </a:spcBef>
              <a:spcAft>
                <a:spcPts val="0"/>
              </a:spcAft>
            </a:pPr>
            <a:r>
              <a:rPr lang="zh-CN" sz="2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专题一：运营标准化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ts val="3250"/>
              </a:lnSpc>
              <a:spcBef>
                <a:spcPts val="1430"/>
              </a:spcBef>
              <a:spcAft>
                <a:spcPts val="0"/>
              </a:spcAft>
            </a:pPr>
            <a:r>
              <a:rPr lang="zh-CN" sz="15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1: Standardized Operations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ts val="3250"/>
              </a:lnSpc>
              <a:spcBef>
                <a:spcPts val="1430"/>
              </a:spcBef>
              <a:spcAft>
                <a:spcPts val="0"/>
              </a:spcAft>
            </a:pPr>
            <a:r>
              <a:rPr lang="zh-CN" sz="13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适用对象：店长（岗前 / 在岗培训）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ts val="3250"/>
              </a:lnSpc>
              <a:spcBef>
                <a:spcPts val="1430"/>
              </a:spcBef>
              <a:spcAft>
                <a:spcPts val="0"/>
              </a:spcAft>
            </a:pPr>
            <a:r>
              <a:rPr lang="zh-CN" sz="11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Audience: Store managers (pre-service &amp; in-service training)</a:t>
            </a:r>
            <a:endParaRPr lang="zh-CN" sz="2600">
              <a:solidFill>
                <a:srgbClr val="6E8299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0" name="标题"/>
          <p:cNvSpPr>
            <a:spLocks noGrp="1"/>
          </p:cNvSpPr>
          <p:nvPr>
            <p:ph type="title"/>
          </p:nvPr>
        </p:nvSpPr>
        <p:spPr>
          <a:xfrm>
            <a:off x="5760720" y="3054096"/>
            <a:ext cx="6035040" cy="2926080"/>
          </a:xfrm>
        </p:spPr>
        <p:txBody>
          <a:bodyPr wrap="square" anchor="t">
            <a:normAutofit/>
          </a:bodyPr>
          <a:lstStyle/>
          <a:p>
            <a:pPr>
              <a:lnSpc>
                <a:spcPts val="537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Standardized Operations</a:t>
            </a:r>
            <a:endParaRPr lang="en-US" altLang="en-US" sz="4200"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ts val="3750"/>
              </a:lnSpc>
              <a:spcBef>
                <a:spcPts val="400"/>
              </a:spcBef>
              <a:spcAft>
                <a:spcPts val="0"/>
              </a:spcAft>
            </a:pPr>
            <a:r>
              <a:rPr lang="zh-CN" altLang="en-US" sz="19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运营标准化</a:t>
            </a:r>
            <a:endParaRPr lang="zh-CN" altLang="en-US" sz="3000">
              <a:solidFill>
                <a:srgbClr val="6E8299"/>
              </a:solidFill>
            </a:endParaRPr>
          </a:p>
          <a:p>
            <a:pPr>
              <a:lnSpc>
                <a:spcPts val="3750"/>
              </a:lnSpc>
              <a:spcBef>
                <a:spcPts val="700"/>
              </a:spcBef>
              <a:spcAft>
                <a:spcPts val="0"/>
              </a:spcAft>
            </a:pPr>
            <a:r>
              <a:rPr lang="zh-CN" altLang="en-US" sz="14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让服务质量变成门店能力</a:t>
            </a:r>
            <a:endParaRPr lang="zh-CN" altLang="en-US" sz="3000">
              <a:solidFill>
                <a:srgbClr val="6E8299"/>
              </a:solidFill>
            </a:endParaRPr>
          </a:p>
          <a:p>
            <a:pPr>
              <a:lnSpc>
                <a:spcPts val="3750"/>
              </a:lnSpc>
              <a:spcBef>
                <a:spcPts val="200"/>
              </a:spcBef>
              <a:spcAft>
                <a:spcPts val="0"/>
              </a:spcAft>
            </a:pPr>
            <a:r>
              <a:rPr lang="zh-CN" altLang="en-US" sz="10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Turn service quality into store capability</a:t>
            </a:r>
            <a:endParaRPr lang="zh-CN" altLang="en-US" sz="3000">
              <a:solidFill>
                <a:srgbClr val="6E8299"/>
              </a:solidFill>
            </a:endParaRPr>
          </a:p>
        </p:txBody>
      </p:sp>
      <p:sp>
        <p:nvSpPr>
          <p:cNvPr id="521" name="节编号"/>
          <p:cNvSpPr>
            <a:spLocks noGrp="1"/>
          </p:cNvSpPr>
          <p:nvPr>
            <p:ph type="body" sz="quarter" idx="13"/>
          </p:nvPr>
        </p:nvSpPr>
        <p:spPr>
          <a:xfrm>
            <a:off x="6236360" y="2183765"/>
            <a:ext cx="4544200" cy="1005840"/>
          </a:xfrm>
        </p:spPr>
        <p:txBody>
          <a:bodyPr wrap="square">
            <a:normAutofit/>
          </a:bodyPr>
          <a:lstStyle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zh-CN" altLang="en-US"/>
          </a:p>
        </p:txBody>
      </p:sp>
      <p:sp>
        <p:nvSpPr>
          <p:cNvPr id="522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23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24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25" name="Picture 5"/>
          <p:cNvPicPr>
            <a:picLocks noChangeAspect="1"/>
          </p:cNvPicPr>
          <p:nvPr/>
        </p:nvPicPr>
        <p:blipFill>
          <a:blip r:embed="rId1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526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27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528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29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30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2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2" tooltip="https://www.servauto.com.my/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3" name="图片 9" descr="/data/temp/3368e2b7-a9fe-11f0-b8a9-86e63497536f.jpg@base@tag=imgScale&amp;m=1&amp;w=662&amp;h=706&amp;q=953368e2b7-a9fe-11f0-b8a9-86e63497536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73936"/>
            <a:ext cx="3227832" cy="2011680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64" name="矩形 10"/>
          <p:cNvSpPr/>
          <p:nvPr/>
        </p:nvSpPr>
        <p:spPr>
          <a:xfrm>
            <a:off x="640080" y="4407408"/>
            <a:ext cx="3227832" cy="12252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50" b="0" kern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拆目标、看进度、做纠偏；对月度收入与毛利达成负责。</a:t>
            </a:r>
            <a:endParaRPr lang="en-US" altLang="en-US" sz="1200" ker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85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Break down targets, track progress, correct gaps; own monthly revenue and margin.</a:t>
            </a:r>
            <a:endParaRPr lang="zh-CN" altLang="en-US" sz="850" kern="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65" name="矩形 12"/>
          <p:cNvSpPr/>
          <p:nvPr/>
        </p:nvSpPr>
        <p:spPr>
          <a:xfrm>
            <a:off x="640080" y="3877056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4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Business Owner</a:t>
            </a:r>
            <a:endParaRPr lang="en-US" altLang="en-US" sz="120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11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经营负责人</a:t>
            </a:r>
            <a:endParaRPr lang="zh-CN" altLang="en-US" sz="85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66" name="图片 13" descr="/data/temp/3368e345-a9fe-11f0-b8a9-86e63497536f.jpg@base@tag=imgScale&amp;m=1&amp;w=662&amp;h=706&amp;q=953368e345-a9fe-11f0-b8a9-86e63497536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73936"/>
            <a:ext cx="3227832" cy="2011680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67" name="矩形 14"/>
          <p:cNvSpPr/>
          <p:nvPr/>
        </p:nvSpPr>
        <p:spPr>
          <a:xfrm>
            <a:off x="4480560" y="4407408"/>
            <a:ext cx="3227832" cy="12252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50" b="0" kern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接待、检测、报价、施工、交车、回访六环节标准化，对 SOP 执行率负责。</a:t>
            </a:r>
            <a:endParaRPr lang="en-US" altLang="en-US" sz="1200" ker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85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Standardize the six steps; own SOP compliance.</a:t>
            </a:r>
            <a:endParaRPr lang="zh-CN" altLang="en-US" sz="850" kern="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68" name="矩形 15"/>
          <p:cNvSpPr/>
          <p:nvPr/>
        </p:nvSpPr>
        <p:spPr>
          <a:xfrm>
            <a:off x="4480560" y="3877056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4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Operations Owner</a:t>
            </a:r>
            <a:endParaRPr lang="en-US" altLang="en-US" sz="120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11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现场标准负责人</a:t>
            </a:r>
            <a:endParaRPr lang="zh-CN" altLang="en-US" sz="85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69" name="图片 16" descr="/data/temp/3368e549-a9fe-11f0-b8a9-86e63497536f.jpg@base@tag=imgScale&amp;m=1&amp;w=662&amp;h=706&amp;q=953368e549-a9fe-11f0-b8a9-86e63497536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773936"/>
            <a:ext cx="3227832" cy="2011680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70" name="矩形 20"/>
          <p:cNvSpPr/>
          <p:nvPr/>
        </p:nvSpPr>
        <p:spPr>
          <a:xfrm>
            <a:off x="8321040" y="4407408"/>
            <a:ext cx="3227832" cy="12252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50" b="0" kern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招聘、训练、例会、复盘；对人员稳定性与新人达标周期负责。</a:t>
            </a:r>
            <a:endParaRPr lang="en-US" altLang="en-US" sz="1200" ker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85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Hiring, training, meetings, reviews; own staff stability and onboarding speed.</a:t>
            </a:r>
            <a:endParaRPr lang="zh-CN" altLang="en-US" sz="850" kern="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71" name="矩形 21"/>
          <p:cNvSpPr/>
          <p:nvPr/>
        </p:nvSpPr>
        <p:spPr>
          <a:xfrm>
            <a:off x="8321040" y="3877056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4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Team Owner</a:t>
            </a:r>
            <a:endParaRPr lang="en-US" altLang="en-US" sz="120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11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团队负责人</a:t>
            </a:r>
            <a:endParaRPr lang="zh-CN" altLang="en-US" sz="85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75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6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7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8" name="Picture 5"/>
          <p:cNvPicPr>
            <a:picLocks noChangeAspect="1"/>
          </p:cNvPicPr>
          <p:nvPr/>
        </p:nvPicPr>
        <p:blipFill>
          <a:blip r:embed="rId4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179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0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181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2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3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5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5" tooltip="https://www.servauto.com.my/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667512" y="82296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自营店长工作内容讲解 | Store Manager Role Briefing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612648" y="6035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Store Manager Owns Store Results</a:t>
            </a:r>
            <a:endParaRPr sz="26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612648" y="108813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店长是门店结果的第一负责人</a:t>
            </a:r>
            <a:endParaRPr sz="18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7" name="Rectangle 186"/>
          <p:cNvSpPr/>
          <p:nvPr/>
        </p:nvSpPr>
        <p:spPr>
          <a:xfrm>
            <a:off x="612648" y="1700784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612648" y="5760720"/>
            <a:ext cx="10972800" cy="566928"/>
          </a:xfrm>
          <a:prstGeom prst="roundRect">
            <a:avLst>
              <a:gd name="adj" fmla="val 10000"/>
            </a:avLst>
          </a:prstGeom>
          <a:solidFill>
            <a:srgbClr val="FD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12648" y="5760720"/>
            <a:ext cx="50292" cy="566928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813816" y="5824728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三项职责同步考核：只做业绩不管标准，或只守标准不管结果，都不合格。</a:t>
            </a:r>
            <a:endParaRPr sz="11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All three are assessed together: results without standards, or standards without results, both fail.</a:t>
            </a:r>
            <a:endParaRPr sz="9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: 圆角 2"/>
          <p:cNvSpPr/>
          <p:nvPr/>
        </p:nvSpPr>
        <p:spPr>
          <a:xfrm>
            <a:off x="692467" y="2924057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8"/>
          <p:cNvSpPr/>
          <p:nvPr/>
        </p:nvSpPr>
        <p:spPr>
          <a:xfrm>
            <a:off x="764540" y="4827270"/>
            <a:ext cx="2383790" cy="161861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话术、检测项目、施工节点、交车检查、回访规则</a:t>
            </a:r>
            <a:r>
              <a:rPr lang="zh-CN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（跟随</a:t>
            </a:r>
            <a:r>
              <a:rPr lang="en-US" altLang="zh-CN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sop</a:t>
            </a:r>
            <a:r>
              <a:rPr lang="zh-CN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190"/>
              </a:lnSpc>
              <a:spcBef>
                <a:spcPts val="520"/>
              </a:spcBef>
              <a:spcAft>
                <a:spcPts val="0"/>
              </a:spcAft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Scripts, inspection items, service checkpoints, handover checks, follow-up </a:t>
            </a:r>
            <a:r>
              <a:rPr lang="en-US" altLang="zh-CN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sop</a:t>
            </a: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7" name="矩形 9"/>
          <p:cNvSpPr/>
          <p:nvPr/>
        </p:nvSpPr>
        <p:spPr>
          <a:xfrm>
            <a:off x="764265" y="3785615"/>
            <a:ext cx="2239693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2305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Define (manager-led)</a:t>
            </a:r>
            <a:endParaRPr kumimoji="1" lang="en-US" altLang="en-US" sz="18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625"/>
              </a:lnSpc>
              <a:spcBef>
                <a:spcPts val="715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定义标准（店长主导）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18" name="图片 17" descr="/data/temp/336c6cc7-a9fe-11f0-a9b7-3692c9aabca4.jpg@base@tag=imgScale&amp;m=1&amp;w=514&amp;h=514&amp;q=95336c6cc7-a9fe-11f0-a9b7-3692c9aabca4"/>
          <p:cNvPicPr>
            <a:picLocks noChangeAspect="1"/>
          </p:cNvPicPr>
          <p:nvPr/>
        </p:nvPicPr>
        <p:blipFill>
          <a:blip r:embed="rId1"/>
          <a:srcRect l="16678" r="16678"/>
          <a:stretch>
            <a:fillRect/>
          </a:stretch>
        </p:blipFill>
        <p:spPr>
          <a:xfrm>
            <a:off x="958053" y="1964007"/>
            <a:ext cx="1851479" cy="1852114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19" name="矩形: 圆角 1"/>
          <p:cNvSpPr/>
          <p:nvPr/>
        </p:nvSpPr>
        <p:spPr>
          <a:xfrm>
            <a:off x="3498277" y="2924057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23"/>
          <p:cNvSpPr/>
          <p:nvPr/>
        </p:nvSpPr>
        <p:spPr>
          <a:xfrm>
            <a:off x="3570709" y="4854941"/>
            <a:ext cx="2239692" cy="161893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新人带教、班前演练、现场示范、岗位认证后方可独立上岗。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190"/>
              </a:lnSpc>
              <a:spcBef>
                <a:spcPts val="520"/>
              </a:spcBef>
              <a:spcAft>
                <a:spcPts val="0"/>
              </a:spcAft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Onboarding, pre-shift drills, live demonstration; no solo work before certification.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21" name="矩形 24"/>
          <p:cNvSpPr/>
          <p:nvPr/>
        </p:nvSpPr>
        <p:spPr>
          <a:xfrm>
            <a:off x="3570074" y="3785615"/>
            <a:ext cx="2239693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2305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Train (weekly)</a:t>
            </a:r>
            <a:endParaRPr kumimoji="1" lang="en-US" altLang="en-US" sz="18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625"/>
              </a:lnSpc>
              <a:spcBef>
                <a:spcPts val="715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训练动作（每周 1 次）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22" name="图片 25" descr="/data/temp/336c6d5c-a9fe-11f0-a9b7-3692c9aabca4.jpg@base@tag=imgScale&amp;m=1&amp;w=514&amp;h=514&amp;q=95336c6d5c-a9fe-11f0-a9b7-3692c9aabca4"/>
          <p:cNvPicPr>
            <a:picLocks noChangeAspect="1"/>
          </p:cNvPicPr>
          <p:nvPr/>
        </p:nvPicPr>
        <p:blipFill>
          <a:blip r:embed="rId2"/>
          <a:srcRect l="16635" r="16635"/>
          <a:stretch>
            <a:fillRect/>
          </a:stretch>
        </p:blipFill>
        <p:spPr>
          <a:xfrm>
            <a:off x="3764499" y="1964007"/>
            <a:ext cx="1851479" cy="1852114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23" name="矩形: 圆角 3"/>
          <p:cNvSpPr/>
          <p:nvPr/>
        </p:nvSpPr>
        <p:spPr>
          <a:xfrm>
            <a:off x="6304087" y="2924692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7"/>
          <p:cNvSpPr/>
          <p:nvPr/>
        </p:nvSpPr>
        <p:spPr>
          <a:xfrm>
            <a:off x="6375884" y="4827636"/>
            <a:ext cx="2239692" cy="16170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质检抽查留痕、系统记录完整、异常当日登记。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190"/>
              </a:lnSpc>
              <a:spcBef>
                <a:spcPts val="520"/>
              </a:spcBef>
              <a:spcAft>
                <a:spcPts val="0"/>
              </a:spcAft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QC sampling leaves records, system entries complete, issues logged same day.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25" name="矩形 28"/>
          <p:cNvSpPr/>
          <p:nvPr/>
        </p:nvSpPr>
        <p:spPr>
          <a:xfrm>
            <a:off x="6375884" y="3785615"/>
            <a:ext cx="2239692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2305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Check (daily + weekly sampling)</a:t>
            </a:r>
            <a:endParaRPr kumimoji="1" lang="en-US" altLang="en-US" sz="18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625"/>
              </a:lnSpc>
              <a:spcBef>
                <a:spcPts val="715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检查执行（每日 + 每周抽查）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26" name="图片 29" descr="/data/temp/336c6cab-a9fe-11f0-a9b7-3692c9aabca4.jpg@base@tag=imgScale&amp;m=1&amp;w=514&amp;h=514&amp;q=95336c6cab-a9fe-11f0-a9b7-3692c9aabca4"/>
          <p:cNvPicPr>
            <a:picLocks noChangeAspect="1"/>
          </p:cNvPicPr>
          <p:nvPr/>
        </p:nvPicPr>
        <p:blipFill>
          <a:blip r:embed="rId3"/>
          <a:srcRect l="16678" r="16678"/>
          <a:stretch>
            <a:fillRect/>
          </a:stretch>
        </p:blipFill>
        <p:spPr>
          <a:xfrm>
            <a:off x="6569673" y="1964643"/>
            <a:ext cx="1851479" cy="1852114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27" name="矩形: 圆角 3"/>
          <p:cNvSpPr/>
          <p:nvPr/>
        </p:nvSpPr>
        <p:spPr>
          <a:xfrm>
            <a:off x="9109897" y="2924692"/>
            <a:ext cx="2383286" cy="1773328"/>
          </a:xfrm>
          <a:prstGeom prst="roundRect">
            <a:avLst>
              <a:gd name="adj" fmla="val 576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31"/>
          <p:cNvSpPr/>
          <p:nvPr/>
        </p:nvSpPr>
        <p:spPr>
          <a:xfrm>
            <a:off x="9181694" y="4827636"/>
            <a:ext cx="2239692" cy="16170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73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问题归因、责任到人、SOP 更新、例会同步到每位员工。</a:t>
            </a:r>
            <a:endParaRPr lang="en-US" altLang="en-US" sz="135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190"/>
              </a:lnSpc>
              <a:spcBef>
                <a:spcPts val="520"/>
              </a:spcBef>
              <a:spcAft>
                <a:spcPts val="0"/>
              </a:spcAft>
            </a:pPr>
            <a:r>
              <a:rPr lang="zh-CN" altLang="en-US" sz="8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Root cause, named owner, SOP update, briefed to every staff member.</a:t>
            </a:r>
            <a:endParaRPr lang="zh-CN" altLang="en-US" sz="95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29" name="矩形 32"/>
          <p:cNvSpPr/>
          <p:nvPr/>
        </p:nvSpPr>
        <p:spPr>
          <a:xfrm>
            <a:off x="9181694" y="3785615"/>
            <a:ext cx="2239693" cy="9144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2305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en-US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Improve (weekly meeting)</a:t>
            </a:r>
            <a:endParaRPr kumimoji="1" lang="en-US" altLang="en-US" sz="18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625"/>
              </a:lnSpc>
              <a:spcBef>
                <a:spcPts val="715"/>
              </a:spcBef>
              <a:spcAft>
                <a:spcPts val="0"/>
              </a:spcAft>
            </a:pPr>
            <a:r>
              <a:rPr kumimoji="1" lang="zh-CN" altLang="en-US" sz="1050" b="0">
                <a:solidFill>
                  <a:srgbClr val="D6E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复盘优化（每周 1 次例会）</a:t>
            </a:r>
            <a:endParaRPr kumimoji="1" lang="zh-CN" altLang="en-US" sz="1300">
              <a:solidFill>
                <a:srgbClr val="6E8299"/>
              </a:solidFill>
              <a:latin typeface="+mn-ea"/>
              <a:cs typeface="+mn-ea"/>
            </a:endParaRPr>
          </a:p>
        </p:txBody>
      </p:sp>
      <p:pic>
        <p:nvPicPr>
          <p:cNvPr id="30" name="图片 33" descr="/data/temp/336c6bee-a9fe-11f0-a9b7-3692c9aabca4.jpg@base@tag=imgScale&amp;m=1&amp;w=514&amp;h=514&amp;q=95336c6bee-a9fe-11f0-a9b7-3692c9aabca4"/>
          <p:cNvPicPr>
            <a:picLocks noChangeAspect="1"/>
          </p:cNvPicPr>
          <p:nvPr/>
        </p:nvPicPr>
        <p:blipFill>
          <a:blip r:embed="rId4"/>
          <a:srcRect l="17" r="17"/>
          <a:stretch>
            <a:fillRect/>
          </a:stretch>
        </p:blipFill>
        <p:spPr>
          <a:xfrm>
            <a:off x="9375483" y="1964643"/>
            <a:ext cx="1851479" cy="1852114"/>
          </a:xfrm>
          <a:custGeom>
            <a:avLst/>
            <a:gdLst>
              <a:gd name="connsiteX0" fmla="*/ 128742 w 2232000"/>
              <a:gd name="connsiteY0" fmla="*/ 0 h 2232000"/>
              <a:gd name="connsiteX1" fmla="*/ 2103258 w 2232000"/>
              <a:gd name="connsiteY1" fmla="*/ 0 h 2232000"/>
              <a:gd name="connsiteX2" fmla="*/ 2232000 w 2232000"/>
              <a:gd name="connsiteY2" fmla="*/ 128742 h 2232000"/>
              <a:gd name="connsiteX3" fmla="*/ 2232000 w 2232000"/>
              <a:gd name="connsiteY3" fmla="*/ 2103258 h 2232000"/>
              <a:gd name="connsiteX4" fmla="*/ 2103258 w 2232000"/>
              <a:gd name="connsiteY4" fmla="*/ 2232000 h 2232000"/>
              <a:gd name="connsiteX5" fmla="*/ 128742 w 2232000"/>
              <a:gd name="connsiteY5" fmla="*/ 2232000 h 2232000"/>
              <a:gd name="connsiteX6" fmla="*/ 0 w 2232000"/>
              <a:gd name="connsiteY6" fmla="*/ 2103258 h 2232000"/>
              <a:gd name="connsiteX7" fmla="*/ 0 w 2232000"/>
              <a:gd name="connsiteY7" fmla="*/ 128742 h 2232000"/>
              <a:gd name="connsiteX8" fmla="*/ 128742 w 2232000"/>
              <a:gd name="connsiteY8" fmla="*/ 0 h 22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32000" h="2232000">
                <a:moveTo>
                  <a:pt x="128742" y="0"/>
                </a:moveTo>
                <a:lnTo>
                  <a:pt x="2103258" y="0"/>
                </a:lnTo>
                <a:cubicBezTo>
                  <a:pt x="2174360" y="0"/>
                  <a:pt x="2232000" y="57640"/>
                  <a:pt x="2232000" y="128742"/>
                </a:cubicBezTo>
                <a:lnTo>
                  <a:pt x="2232000" y="2103258"/>
                </a:lnTo>
                <a:cubicBezTo>
                  <a:pt x="2232000" y="2174360"/>
                  <a:pt x="2174360" y="2232000"/>
                  <a:pt x="2103258" y="2232000"/>
                </a:cubicBezTo>
                <a:lnTo>
                  <a:pt x="128742" y="2232000"/>
                </a:lnTo>
                <a:cubicBezTo>
                  <a:pt x="57640" y="2232000"/>
                  <a:pt x="0" y="2174360"/>
                  <a:pt x="0" y="2103258"/>
                </a:cubicBezTo>
                <a:lnTo>
                  <a:pt x="0" y="128742"/>
                </a:lnTo>
                <a:cubicBezTo>
                  <a:pt x="0" y="57640"/>
                  <a:pt x="57640" y="0"/>
                  <a:pt x="128742" y="0"/>
                </a:cubicBezTo>
                <a:close/>
              </a:path>
            </a:pathLst>
          </a:custGeom>
          <a:ln>
            <a:solidFill>
              <a:schemeClr val="accent1"/>
            </a:solidFill>
          </a:ln>
        </p:spPr>
      </p:pic>
      <p:sp>
        <p:nvSpPr>
          <p:cNvPr id="31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4" name="Picture 5"/>
          <p:cNvPicPr>
            <a:picLocks noChangeAspect="1"/>
          </p:cNvPicPr>
          <p:nvPr/>
        </p:nvPicPr>
        <p:blipFill>
          <a:blip r:embed="rId5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35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6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37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8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6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6" tooltip="https://www.servauto.com.my/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7512" y="82296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自营店长工作内容讲解 | Store Manager Role Briefing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2648" y="6035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Four Closed-Loop Actions of Standardization</a:t>
            </a:r>
            <a:endParaRPr sz="26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2648" y="108813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运营标准化的四个闭环动作</a:t>
            </a:r>
            <a:endParaRPr sz="18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12648" y="1700784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1"/>
          <a:srcRect l="13078" r="13157"/>
          <a:stretch>
            <a:fillRect/>
          </a:stretch>
        </p:blipFill>
        <p:spPr>
          <a:xfrm>
            <a:off x="8244205" y="1773936"/>
            <a:ext cx="3358515" cy="4407408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工位只留当日必用工具，多余物品当日清出。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Keep only today's required tools; clear everything else the same day.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839772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Sort (SEIRI)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整理 SEIRI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373014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点检结果挂钩班组，连续 2 周不合格进入辅导。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Results tied to the team; two consecutive failing weeks trigger coaching.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4473244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每日开店前、闭店后各 1 次 5S 点检并拍照留痕。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5S check twice daily - before opening and after closing - with photo records.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3573475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施工区每车清场，地面无油污、无零件遗留。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Clean the bay after every vehicle; no oil stains or left-over parts.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2673705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工具定位划线，30 秒内可取可归位。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Marked positions; any tool reachable and returnable within 30 seconds.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3639312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Shine (SEISO)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清扫 SEISO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2739542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Set in order (SEITON)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整顿 SEITON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4539081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Standardize (SEIKETSU)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清洁 SEIKETSU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438851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Sustain (SHITSUKE)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素养 SHITSUKE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自营店长工作内容讲解 | Store Manager Role Briefing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2648" y="6035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5S Is the Foundation of Shop-Floor Standardization</a:t>
            </a:r>
            <a:endParaRPr sz="26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2648" y="108813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5S 是现场标准化的地基</a:t>
            </a:r>
            <a:endParaRPr sz="18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12648" y="1700784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1"/>
          <a:srcRect l="13078" r="13157"/>
          <a:stretch>
            <a:fillRect/>
          </a:stretch>
        </p:blipFill>
        <p:spPr>
          <a:xfrm>
            <a:off x="8244205" y="1773936"/>
            <a:ext cx="3358515" cy="4407408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658368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1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主动迎接、确认需求、客户信息登记完整。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Greet, confirm needs, complete customer record.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792224"/>
            <a:ext cx="2743200" cy="6217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Arrival (advisor, within 3 min)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到店（服务顾问，3 分钟内）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522975"/>
            <a:ext cx="4142232" cy="658368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1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确认满意度、记录问题、引导线上评价。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Confirm satisfaction, log issues, invite an online review.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4773168"/>
            <a:ext cx="4142232" cy="658368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1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项目逐项复核、使用提醒、下次保养时间确认。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Recheck every item, usage reminders, confirm next service date.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4023360"/>
            <a:ext cx="4142232" cy="658368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1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进度同步、质检节点自检、异常立即上报。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Progress updates, self-check at QC points, escalate at once.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3273552"/>
            <a:ext cx="4142232" cy="658368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1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方案清楚、价格逐项解释、客户书面确认。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Clear options, itemized pricing, written approval.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4041648"/>
            <a:ext cx="2743200" cy="6217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Service (technician, to promised hours)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施工（技师，按承诺工时）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3291840"/>
            <a:ext cx="2743200" cy="6217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Quotation (advisor, within 15 min of inspection)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报价（服务顾问，检测后 15 分钟内）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4791456"/>
            <a:ext cx="2743200" cy="6217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Handover (manager or advisor, same day)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交车（店长或顾问，当日）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541263"/>
            <a:ext cx="2743200" cy="6217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Follow-up (advisor, within 48 h of handover)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回访（服务顾问，交车后 48 小时内）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自营店长工作内容讲解 | Store Manager Role Briefing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2648" y="603504"/>
            <a:ext cx="10972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Must </a:t>
            </a:r>
            <a:r>
              <a:rPr sz="26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Touchpoints: Who Does What, and by When</a:t>
            </a:r>
            <a:endParaRPr sz="26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2648" y="1088136"/>
            <a:ext cx="109728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客户体验</a:t>
            </a:r>
            <a:r>
              <a:rPr lang="zh-CN" sz="1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必须环节</a:t>
            </a:r>
            <a:r>
              <a:rPr sz="1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：谁做、多久做完</a:t>
            </a:r>
            <a:endParaRPr sz="18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12648" y="1700784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圆角矩形 35"/>
          <p:cNvSpPr/>
          <p:nvPr/>
        </p:nvSpPr>
        <p:spPr>
          <a:xfrm>
            <a:off x="603504" y="2542032"/>
            <a:ext cx="2743200" cy="6217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7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Inspection (technician, within 30 min)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检测（技师，30 分钟内）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圆角矩形 6"/>
          <p:cNvSpPr/>
          <p:nvPr/>
        </p:nvSpPr>
        <p:spPr>
          <a:xfrm>
            <a:off x="3474720" y="2523744"/>
            <a:ext cx="4142232" cy="658368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1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透明检查、问题分级、关键部位拍照留痕。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Transparent check, grade issues, photo key findings.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" name="图片 3" descr="/data/temp/31c83b1c-a9fe-11f0-88da-76af0e732785.jpg@base@tag=imgScale&amp;m=1&amp;w=932&amp;h=1264&amp;q=9531c83b1c-a9fe-11f0-88da-76af0e732785"/>
          <p:cNvPicPr>
            <a:picLocks noChangeAspect="1"/>
          </p:cNvPicPr>
          <p:nvPr/>
        </p:nvPicPr>
        <p:blipFill>
          <a:blip r:embed="rId1"/>
          <a:srcRect l="13078" r="13157"/>
          <a:stretch>
            <a:fillRect/>
          </a:stretch>
        </p:blipFill>
        <p:spPr>
          <a:xfrm>
            <a:off x="8244205" y="1773936"/>
            <a:ext cx="3358515" cy="4407408"/>
          </a:xfrm>
          <a:prstGeom prst="round1Rect">
            <a:avLst>
              <a:gd name="adj" fmla="val 39814"/>
            </a:avLst>
          </a:prstGeom>
          <a:solidFill>
            <a:schemeClr val="accent1">
              <a:alpha val="15000"/>
            </a:schemeClr>
          </a:solidFill>
          <a:ln w="9525" cap="flat" cmpd="sng" algn="ctr">
            <a:solidFill>
              <a:schemeClr val="accent1">
                <a:lumMod val="10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203200" dist="38100" dir="2700000" algn="tl" rotWithShape="0">
              <a:schemeClr val="accent1">
                <a:alpha val="60000"/>
              </a:schemeClr>
            </a:outerShdw>
          </a:effectLst>
        </p:spPr>
      </p:pic>
      <p:sp>
        <p:nvSpPr>
          <p:cNvPr id="69" name="圆角矩形 6"/>
          <p:cNvSpPr/>
          <p:nvPr/>
        </p:nvSpPr>
        <p:spPr>
          <a:xfrm>
            <a:off x="3474720" y="1773936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月度抽查 ≥ 90%，低于线进入次月重点辅导。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Monthly sampling &gt;= 90%; below the line triggers next-month coaching.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0" name="圆角矩形 35"/>
          <p:cNvSpPr/>
          <p:nvPr/>
        </p:nvSpPr>
        <p:spPr>
          <a:xfrm>
            <a:off x="603504" y="1839772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SOP compliance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SOP 执行率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1" name="圆角矩形 1"/>
          <p:cNvSpPr/>
          <p:nvPr/>
        </p:nvSpPr>
        <p:spPr>
          <a:xfrm>
            <a:off x="3474720" y="5373014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每日 2 次，月度不合格次数 ≤ 3 次。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Twice daily; no more than 3 failing checks per month.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2" name="圆角矩形 4"/>
          <p:cNvSpPr/>
          <p:nvPr/>
        </p:nvSpPr>
        <p:spPr>
          <a:xfrm>
            <a:off x="3474720" y="4473244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按承诺时间交车 ≥ 90%，延误需当天向客户说明。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&gt;= 90% delivered at the promised time; delays explained the same day.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3" name="圆角矩形 8"/>
          <p:cNvSpPr/>
          <p:nvPr/>
        </p:nvSpPr>
        <p:spPr>
          <a:xfrm>
            <a:off x="3474720" y="3573475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差评当日响应、3 个工作日内闭环，评分不低于 4.5 分。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Bad reviews answered same day, closed within 3 working days, rating &gt;= 4.5.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4" name="圆角矩形 9"/>
          <p:cNvSpPr/>
          <p:nvPr/>
        </p:nvSpPr>
        <p:spPr>
          <a:xfrm>
            <a:off x="3474720" y="2673705"/>
            <a:ext cx="4142232" cy="808329"/>
          </a:xfrm>
          <a:prstGeom prst="roundRect">
            <a:avLst>
              <a:gd name="adj" fmla="val 50000"/>
            </a:avLst>
          </a:prstGeom>
          <a:solidFill>
            <a:srgbClr val="EBF0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09728" tIns="0" rIns="109728" bIns="0" numCol="1" spcCol="0" rtlCol="0" fromWordArt="0" anchor="ctr" anchorCtr="0" forceAA="0" compatLnSpc="1">
            <a:noAutofit/>
          </a:bodyPr>
          <a:lstStyle/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en-US" sz="1200" b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一次交付合格 ≥ 95%，返工率环比不上升。</a:t>
            </a:r>
            <a:endParaRPr lang="en-US" altLang="en-US" sz="160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indent="0" algn="l" fontAlgn="auto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95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First-time-right &gt;= 95%; rework rate must not rise month on month.</a:t>
            </a:r>
            <a:endParaRPr lang="zh-CN" altLang="en-US" sz="1150">
              <a:solidFill>
                <a:srgbClr val="6E8299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圆角矩形 35"/>
          <p:cNvSpPr/>
          <p:nvPr/>
        </p:nvSpPr>
        <p:spPr>
          <a:xfrm>
            <a:off x="603504" y="3639312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Customer reviews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客户评价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6" name="圆角矩形 35"/>
          <p:cNvSpPr/>
          <p:nvPr/>
        </p:nvSpPr>
        <p:spPr>
          <a:xfrm>
            <a:off x="603504" y="2739542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QC pass rate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质检合格率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7" name="圆角矩形 35"/>
          <p:cNvSpPr/>
          <p:nvPr/>
        </p:nvSpPr>
        <p:spPr>
          <a:xfrm>
            <a:off x="603504" y="4539081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On-time handover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交车准时率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8" name="圆角矩形 35"/>
          <p:cNvSpPr/>
          <p:nvPr/>
        </p:nvSpPr>
        <p:spPr>
          <a:xfrm>
            <a:off x="603504" y="5438851"/>
            <a:ext cx="2743200" cy="67665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304" tIns="0" rIns="146304" bIns="0" rtlCol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5S checks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5S 点检</a:t>
            </a:r>
            <a:endParaRPr lang="zh-CN" altLang="en-US" sz="950">
              <a:solidFill>
                <a:schemeClr val="lt1">
                  <a:lumMod val="10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9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2" name="Picture 5"/>
          <p:cNvPicPr>
            <a:picLocks noChangeAspect="1"/>
          </p:cNvPicPr>
          <p:nvPr/>
        </p:nvPicPr>
        <p:blipFill>
          <a:blip r:embed="rId2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83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85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3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3" tooltip="https://www.servauto.com.my/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" y="82296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自营店长工作内容讲解 | Store Manager Role Briefing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12648" y="6035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Five Measurable Checks for Standardization</a:t>
            </a:r>
            <a:endParaRPr sz="26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12648" y="108813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标准化落地的五条量化检验线</a:t>
            </a:r>
            <a:endParaRPr sz="18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12648" y="1700784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3" name="图片 9" descr="/data/temp/3368e2b7-a9fe-11f0-b8a9-86e63497536f.jpg@base@tag=imgScale&amp;m=1&amp;w=662&amp;h=706&amp;q=953368e2b7-a9fe-11f0-b8a9-86e63497536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73936"/>
            <a:ext cx="3227832" cy="2011680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64" name="矩形 10"/>
          <p:cNvSpPr/>
          <p:nvPr/>
        </p:nvSpPr>
        <p:spPr>
          <a:xfrm>
            <a:off x="640080" y="4407408"/>
            <a:ext cx="3227832" cy="12252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ker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各岗位执行</a:t>
            </a:r>
            <a:r>
              <a:rPr lang="en-US" altLang="zh-CN" sz="1200" ker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sop</a:t>
            </a:r>
            <a:r>
              <a:rPr lang="zh-CN" altLang="en-US" sz="1200" ker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跟话术</a:t>
            </a:r>
            <a:endParaRPr lang="en-US" altLang="en-US" sz="1200" ker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en-US" altLang="zh-CN" sz="1200" ker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微软雅黑" panose="020B0503020204020204" charset="-122"/>
              </a:rPr>
              <a:t>SOP &amp; Talk Tracks for Each Position</a:t>
            </a:r>
            <a:endParaRPr lang="en-US" altLang="zh-CN" sz="1200" ker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65" name="矩形 12"/>
          <p:cNvSpPr/>
          <p:nvPr/>
        </p:nvSpPr>
        <p:spPr>
          <a:xfrm>
            <a:off x="640080" y="3877056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4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One booklet per role</a:t>
            </a:r>
            <a:endParaRPr lang="en-US" altLang="en-US" sz="120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11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一岗一册</a:t>
            </a:r>
            <a:endParaRPr lang="zh-CN" altLang="en-US" sz="85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66" name="图片 13" descr="/data/temp/3368e345-a9fe-11f0-b8a9-86e63497536f.jpg@base@tag=imgScale&amp;m=1&amp;w=662&amp;h=706&amp;q=953368e345-a9fe-11f0-b8a9-86e63497536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73936"/>
            <a:ext cx="3227832" cy="2011680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67" name="矩形 14"/>
          <p:cNvSpPr/>
          <p:nvPr/>
        </p:nvSpPr>
        <p:spPr>
          <a:xfrm>
            <a:off x="4480560" y="4407408"/>
            <a:ext cx="3227832" cy="12252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50" b="0" kern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排定本周 1 次班前演练，并指定带教责任人。</a:t>
            </a:r>
            <a:endParaRPr lang="en-US" altLang="en-US" sz="1200" ker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85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Schedule one pre-shift drill this week and name the coaching owner.</a:t>
            </a:r>
            <a:endParaRPr lang="zh-CN" altLang="en-US" sz="850" kern="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68" name="矩形 15"/>
          <p:cNvSpPr/>
          <p:nvPr/>
        </p:nvSpPr>
        <p:spPr>
          <a:xfrm>
            <a:off x="4480560" y="3877056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4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Pre-shift drill</a:t>
            </a:r>
            <a:endParaRPr lang="en-US" altLang="en-US" sz="120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11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班前演练</a:t>
            </a:r>
            <a:endParaRPr lang="zh-CN" altLang="en-US" sz="85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69" name="图片 16" descr="/data/temp/3368e549-a9fe-11f0-b8a9-86e63497536f.jpg@base@tag=imgScale&amp;m=1&amp;w=662&amp;h=706&amp;q=953368e549-a9fe-11f0-b8a9-86e63497536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773936"/>
            <a:ext cx="3227832" cy="2011680"/>
          </a:xfrm>
          <a:custGeom>
            <a:avLst/>
            <a:gdLst>
              <a:gd name="connsiteX0" fmla="*/ 1192796 w 2385858"/>
              <a:gd name="connsiteY0" fmla="*/ 1 h 2543816"/>
              <a:gd name="connsiteX1" fmla="*/ 1272318 w 2385858"/>
              <a:gd name="connsiteY1" fmla="*/ 19128 h 2543816"/>
              <a:gd name="connsiteX2" fmla="*/ 2287571 w 2385858"/>
              <a:gd name="connsiteY2" fmla="*/ 526755 h 2543816"/>
              <a:gd name="connsiteX3" fmla="*/ 2385858 w 2385858"/>
              <a:gd name="connsiteY3" fmla="*/ 685784 h 2543816"/>
              <a:gd name="connsiteX4" fmla="*/ 2385858 w 2385858"/>
              <a:gd name="connsiteY4" fmla="*/ 1858059 h 2543816"/>
              <a:gd name="connsiteX5" fmla="*/ 2287573 w 2385858"/>
              <a:gd name="connsiteY5" fmla="*/ 2017061 h 2543816"/>
              <a:gd name="connsiteX6" fmla="*/ 1272320 w 2385858"/>
              <a:gd name="connsiteY6" fmla="*/ 2524688 h 2543816"/>
              <a:gd name="connsiteX7" fmla="*/ 1113274 w 2385858"/>
              <a:gd name="connsiteY7" fmla="*/ 2524689 h 2543816"/>
              <a:gd name="connsiteX8" fmla="*/ 98021 w 2385858"/>
              <a:gd name="connsiteY8" fmla="*/ 2017062 h 2543816"/>
              <a:gd name="connsiteX9" fmla="*/ 6388 w 2385858"/>
              <a:gd name="connsiteY9" fmla="*/ 1907727 h 2543816"/>
              <a:gd name="connsiteX10" fmla="*/ 0 w 2385858"/>
              <a:gd name="connsiteY10" fmla="*/ 1860013 h 2543816"/>
              <a:gd name="connsiteX11" fmla="*/ 0 w 2385858"/>
              <a:gd name="connsiteY11" fmla="*/ 683779 h 2543816"/>
              <a:gd name="connsiteX12" fmla="*/ 6388 w 2385858"/>
              <a:gd name="connsiteY12" fmla="*/ 636070 h 2543816"/>
              <a:gd name="connsiteX13" fmla="*/ 98020 w 2385858"/>
              <a:gd name="connsiteY13" fmla="*/ 526756 h 2543816"/>
              <a:gd name="connsiteX14" fmla="*/ 1113272 w 2385858"/>
              <a:gd name="connsiteY14" fmla="*/ 19129 h 2543816"/>
              <a:gd name="connsiteX15" fmla="*/ 1192796 w 2385858"/>
              <a:gd name="connsiteY15" fmla="*/ 1 h 254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85858" h="2543816">
                <a:moveTo>
                  <a:pt x="1192796" y="1"/>
                </a:moveTo>
                <a:cubicBezTo>
                  <a:pt x="1219805" y="0"/>
                  <a:pt x="1246814" y="6376"/>
                  <a:pt x="1272318" y="19128"/>
                </a:cubicBezTo>
                <a:cubicBezTo>
                  <a:pt x="1323325" y="44631"/>
                  <a:pt x="2225671" y="495804"/>
                  <a:pt x="2287571" y="526755"/>
                </a:cubicBezTo>
                <a:cubicBezTo>
                  <a:pt x="2349472" y="557705"/>
                  <a:pt x="2385859" y="616577"/>
                  <a:pt x="2385858" y="685784"/>
                </a:cubicBezTo>
                <a:cubicBezTo>
                  <a:pt x="2385859" y="754990"/>
                  <a:pt x="2385859" y="1788853"/>
                  <a:pt x="2385858" y="1858059"/>
                </a:cubicBezTo>
                <a:cubicBezTo>
                  <a:pt x="2385859" y="1927266"/>
                  <a:pt x="2349475" y="1986111"/>
                  <a:pt x="2287573" y="2017061"/>
                </a:cubicBezTo>
                <a:cubicBezTo>
                  <a:pt x="2225674" y="2048011"/>
                  <a:pt x="1323328" y="2499184"/>
                  <a:pt x="1272320" y="2524688"/>
                </a:cubicBezTo>
                <a:cubicBezTo>
                  <a:pt x="1221314" y="2550192"/>
                  <a:pt x="1164282" y="2550193"/>
                  <a:pt x="1113274" y="2524689"/>
                </a:cubicBezTo>
                <a:cubicBezTo>
                  <a:pt x="1062268" y="2499185"/>
                  <a:pt x="159923" y="2048013"/>
                  <a:pt x="98021" y="2017062"/>
                </a:cubicBezTo>
                <a:cubicBezTo>
                  <a:pt x="51597" y="1993850"/>
                  <a:pt x="19524" y="1954932"/>
                  <a:pt x="6388" y="1907727"/>
                </a:cubicBezTo>
                <a:lnTo>
                  <a:pt x="0" y="1860013"/>
                </a:lnTo>
                <a:lnTo>
                  <a:pt x="0" y="683779"/>
                </a:lnTo>
                <a:lnTo>
                  <a:pt x="6388" y="636070"/>
                </a:lnTo>
                <a:cubicBezTo>
                  <a:pt x="19523" y="588872"/>
                  <a:pt x="51595" y="549969"/>
                  <a:pt x="98020" y="526756"/>
                </a:cubicBezTo>
                <a:cubicBezTo>
                  <a:pt x="159921" y="495805"/>
                  <a:pt x="1062266" y="44632"/>
                  <a:pt x="1113272" y="19129"/>
                </a:cubicBezTo>
                <a:cubicBezTo>
                  <a:pt x="1138777" y="6377"/>
                  <a:pt x="1165786" y="1"/>
                  <a:pt x="1192796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70" name="矩形 20"/>
          <p:cNvSpPr/>
          <p:nvPr/>
        </p:nvSpPr>
        <p:spPr>
          <a:xfrm>
            <a:off x="8321040" y="4407408"/>
            <a:ext cx="3227832" cy="122529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050" b="0" kern="0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启动每日 2 次 5S 点检与每周 1 次质检抽查。</a:t>
            </a:r>
            <a:endParaRPr lang="en-US" altLang="en-US" sz="1200" ker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85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Start 5S checks twice daily and QC sampling once a week.</a:t>
            </a:r>
            <a:endParaRPr lang="zh-CN" altLang="en-US" sz="850" kern="0">
              <a:solidFill>
                <a:srgbClr val="6E8299"/>
              </a:solidFill>
              <a:latin typeface="+mn-ea"/>
              <a:cs typeface="+mn-ea"/>
            </a:endParaRPr>
          </a:p>
        </p:txBody>
      </p:sp>
      <p:sp>
        <p:nvSpPr>
          <p:cNvPr id="171" name="矩形 21"/>
          <p:cNvSpPr/>
          <p:nvPr/>
        </p:nvSpPr>
        <p:spPr>
          <a:xfrm>
            <a:off x="8321040" y="3877056"/>
            <a:ext cx="3227832" cy="45720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400" b="1" kern="0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5S and QC sampling</a:t>
            </a:r>
            <a:endParaRPr lang="en-US" altLang="en-US" sz="1200" b="1" kern="0">
              <a:solidFill>
                <a:schemeClr val="accent1"/>
              </a:solidFill>
              <a:latin typeface="Arial" panose="020B0604020202020204"/>
              <a:ea typeface="微软雅黑" panose="020B0503020204020204" charset="-122"/>
            </a:endParaRPr>
          </a:p>
          <a:p>
            <a:pPr algn="ctr">
              <a:lnSpc>
                <a:spcPts val="1060"/>
              </a:lnSpc>
              <a:spcBef>
                <a:spcPts val="470"/>
              </a:spcBef>
              <a:spcAft>
                <a:spcPts val="0"/>
              </a:spcAft>
            </a:pPr>
            <a:r>
              <a:rPr lang="zh-CN" altLang="en-US" sz="1100" b="0" kern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5S 与质检</a:t>
            </a:r>
            <a:endParaRPr lang="zh-CN" altLang="en-US" sz="850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75" name="AutoShape 2"/>
          <p:cNvSpPr/>
          <p:nvPr/>
        </p:nvSpPr>
        <p:spPr>
          <a:xfrm>
            <a:off x="0" y="0"/>
            <a:ext cx="8812221" cy="56692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6" name="AutoShape 3"/>
          <p:cNvSpPr/>
          <p:nvPr/>
        </p:nvSpPr>
        <p:spPr>
          <a:xfrm>
            <a:off x="8249792" y="0"/>
            <a:ext cx="2762864" cy="56692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7" name="AutoShape 4"/>
          <p:cNvSpPr/>
          <p:nvPr/>
        </p:nvSpPr>
        <p:spPr>
          <a:xfrm>
            <a:off x="8588375" y="0"/>
            <a:ext cx="3603625" cy="56692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55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8" name="Picture 5"/>
          <p:cNvPicPr>
            <a:picLocks noChangeAspect="1"/>
          </p:cNvPicPr>
          <p:nvPr/>
        </p:nvPicPr>
        <p:blipFill>
          <a:blip r:embed="rId4"/>
          <a:srcRect t="36978" b="45732"/>
          <a:stretch>
            <a:fillRect/>
          </a:stretch>
        </p:blipFill>
        <p:spPr>
          <a:xfrm>
            <a:off x="9364524" y="139920"/>
            <a:ext cx="1549829" cy="26794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id="179" name="AutoShape 1"/>
          <p:cNvSpPr/>
          <p:nvPr/>
        </p:nvSpPr>
        <p:spPr>
          <a:xfrm>
            <a:off x="0" y="6473952"/>
            <a:ext cx="8812221" cy="384048"/>
          </a:xfrm>
          <a:prstGeom prst="roundRect">
            <a:avLst>
              <a:gd name="adj" fmla="val 0"/>
            </a:avLst>
          </a:prstGeom>
          <a:solidFill>
            <a:srgbClr val="ED1C2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0" name="AutoShape 2"/>
          <p:cNvSpPr/>
          <p:nvPr/>
        </p:nvSpPr>
        <p:spPr>
          <a:xfrm>
            <a:off x="665034" y="6569556"/>
            <a:ext cx="47498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</a:rPr>
              <a:t>Your Neighbourhood Auto Care Expert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</a:endParaRPr>
          </a:p>
        </p:txBody>
      </p:sp>
      <p:sp>
        <p:nvSpPr>
          <p:cNvPr id="181" name="AutoShape 3"/>
          <p:cNvSpPr/>
          <p:nvPr/>
        </p:nvSpPr>
        <p:spPr>
          <a:xfrm>
            <a:off x="8249792" y="6473952"/>
            <a:ext cx="2762864" cy="384048"/>
          </a:xfrm>
          <a:prstGeom prst="parallelogram">
            <a:avLst/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2" name="AutoShape 4"/>
          <p:cNvSpPr/>
          <p:nvPr/>
        </p:nvSpPr>
        <p:spPr>
          <a:xfrm>
            <a:off x="8588375" y="6473952"/>
            <a:ext cx="3603625" cy="384048"/>
          </a:xfrm>
          <a:prstGeom prst="roundRect">
            <a:avLst>
              <a:gd name="adj" fmla="val 0"/>
            </a:avLst>
          </a:prstGeom>
          <a:solidFill>
            <a:srgbClr val="005AA9">
              <a:alpha val="100000"/>
            </a:srgbClr>
          </a:solidFill>
          <a:ln w="25400">
            <a:noFill/>
            <a:prstDash val="solid"/>
          </a:ln>
        </p:spPr>
        <p:txBody>
          <a:bodyPr lIns="63500" tIns="63500" rIns="63500" bIns="635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sz="101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3" name="AutoShape 6"/>
          <p:cNvSpPr/>
          <p:nvPr/>
        </p:nvSpPr>
        <p:spPr>
          <a:xfrm>
            <a:off x="8936037" y="6569556"/>
            <a:ext cx="2908300" cy="1928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6350" rIns="0" bIns="0" rtlCol="0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30" b="0" i="0" u="none" strike="noStrike" ker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Inter 18pt SemiBold"/>
                <a:sym typeface="Inter 18pt SemiBold"/>
                <a:hlinkClick r:id="rId5" tooltip="https://www.servauto.com.my/"/>
              </a:rPr>
              <a:t>www.servauto.com.my</a:t>
            </a:r>
            <a:endParaRPr lang="en-US" sz="1230" b="0" i="0" u="none" strike="noStrike" ker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Inter 18pt SemiBold"/>
              <a:sym typeface="Inter 18pt SemiBold"/>
              <a:hlinkClick r:id="rId5" tooltip="https://www.servauto.com.my/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667512" y="82296"/>
            <a:ext cx="8229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ServAuto 自营店长工作内容讲解 | Store Manager Role Briefing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612648" y="603504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Standardized Operations: Define, Train, Then Check</a:t>
            </a:r>
            <a:endParaRPr sz="260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612648" y="108813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运营标准化：先定义，再训练，再检查</a:t>
            </a:r>
            <a:endParaRPr sz="18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612648" y="1399032"/>
            <a:ext cx="9144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D1C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本周落地动作  |  This week's actions</a:t>
            </a:r>
            <a:endParaRPr sz="1200" b="1">
              <a:solidFill>
                <a:srgbClr val="ED1C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8" name="Rectangle 187"/>
          <p:cNvSpPr/>
          <p:nvPr/>
        </p:nvSpPr>
        <p:spPr>
          <a:xfrm>
            <a:off x="612648" y="1700784"/>
            <a:ext cx="10972800" cy="29260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612648" y="5760720"/>
            <a:ext cx="10972800" cy="566928"/>
          </a:xfrm>
          <a:prstGeom prst="roundRect">
            <a:avLst>
              <a:gd name="adj" fmla="val 10000"/>
            </a:avLst>
          </a:prstGeom>
          <a:solidFill>
            <a:srgbClr val="FDEC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12648" y="5760720"/>
            <a:ext cx="50292" cy="566928"/>
          </a:xfrm>
          <a:prstGeom prst="rect">
            <a:avLst/>
          </a:prstGeom>
          <a:solidFill>
            <a:srgbClr val="ED1C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813816" y="5824728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B1D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标准写在纸上不会自动执行，只有被训练、被检查、被复盘，才会变成门店能力。</a:t>
            </a:r>
            <a:endParaRPr sz="1150" b="1">
              <a:solidFill>
                <a:srgbClr val="0B1D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6E82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Standards on paper do not execute themselves - only training, checking and review make them real.</a:t>
            </a:r>
            <a:endParaRPr sz="900" b="0">
              <a:solidFill>
                <a:srgbClr val="6E82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21">
      <a:dk1>
        <a:srgbClr val="1F2329"/>
      </a:dk1>
      <a:lt1>
        <a:srgbClr val="FFFFFF"/>
      </a:lt1>
      <a:dk2>
        <a:srgbClr val="1F2329"/>
      </a:dk2>
      <a:lt2>
        <a:srgbClr val="F1F5FA"/>
      </a:lt2>
      <a:accent1>
        <a:srgbClr val="005AA9"/>
      </a:accent1>
      <a:accent2>
        <a:srgbClr val="4A87C0"/>
      </a:accent2>
      <a:accent3>
        <a:srgbClr val="003A75"/>
      </a:accent3>
      <a:accent4>
        <a:srgbClr val="1F2329"/>
      </a:accent4>
      <a:accent5>
        <a:srgbClr val="002850"/>
      </a:accent5>
      <a:accent6>
        <a:srgbClr val="ED1C29"/>
      </a:accent6>
      <a:hlink>
        <a:srgbClr val="005AA9"/>
      </a:hlink>
      <a:folHlink>
        <a:srgbClr val="ED1C29"/>
      </a:folHlink>
    </a:clrScheme>
    <a:fontScheme name="自定义 8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21">
      <a:dk1>
        <a:srgbClr val="1F2329"/>
      </a:dk1>
      <a:lt1>
        <a:srgbClr val="FFFFFF"/>
      </a:lt1>
      <a:dk2>
        <a:srgbClr val="1F2329"/>
      </a:dk2>
      <a:lt2>
        <a:srgbClr val="F1F5FA"/>
      </a:lt2>
      <a:accent1>
        <a:srgbClr val="005AA9"/>
      </a:accent1>
      <a:accent2>
        <a:srgbClr val="4A87C0"/>
      </a:accent2>
      <a:accent3>
        <a:srgbClr val="003A75"/>
      </a:accent3>
      <a:accent4>
        <a:srgbClr val="1F2329"/>
      </a:accent4>
      <a:accent5>
        <a:srgbClr val="002850"/>
      </a:accent5>
      <a:accent6>
        <a:srgbClr val="ED1C29"/>
      </a:accent6>
      <a:hlink>
        <a:srgbClr val="005AA9"/>
      </a:hlink>
      <a:folHlink>
        <a:srgbClr val="ED1C29"/>
      </a:folHlink>
    </a:clrScheme>
    <a:fontScheme name="自定义 8">
      <a:majorFont>
        <a:latin typeface="微软雅黑"/>
        <a:ea typeface="微软雅黑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4663</Words>
  <Application>WPS 演示</Application>
  <PresentationFormat/>
  <Paragraphs>242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Arial</vt:lpstr>
      <vt:lpstr>Inter 18pt SemiBold</vt:lpstr>
      <vt:lpstr>Segoe Print</vt:lpstr>
      <vt:lpstr>Inter 18pt ExtraBold</vt:lpstr>
      <vt:lpstr>Inter 18pt Medium</vt:lpstr>
      <vt:lpstr>Inter</vt:lpstr>
      <vt:lpstr>微软雅黑</vt:lpstr>
      <vt:lpstr>Arial Unicode MS</vt:lpstr>
      <vt:lpstr>Office 主题</vt:lpstr>
      <vt:lpstr>Office 主题​​</vt:lpstr>
      <vt:lpstr>1_Office 主题​​</vt:lpstr>
      <vt:lpstr>自定义主题</vt:lpstr>
      <vt:lpstr>PowerPoint 演示文稿</vt:lpstr>
      <vt:lpstr>Turn service quality into store capability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房吉伟</cp:lastModifiedBy>
  <cp:revision>13</cp:revision>
  <dcterms:created xsi:type="dcterms:W3CDTF">2026-10-12T03:31:00Z</dcterms:created>
  <dcterms:modified xsi:type="dcterms:W3CDTF">2026-10-26T09:44:14Z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6b6e2dac51814862bae57b148d8df064_21</vt:lpwstr>
  </property>
  <property fmtid="{D5CDD505-2E9C-101B-9397-08002B2CF9AE}" pid="3" name="KSOProductBuildVer">
    <vt:lpwstr>2052-12.1.0.28505</vt:lpwstr>
  </property>
</Properties>
</file>